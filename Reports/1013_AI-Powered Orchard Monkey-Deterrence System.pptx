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1001" r:id="rId10"/>
    <p:sldId id="265" r:id="rId11"/>
    <p:sldId id="266" r:id="rId12"/>
    <p:sldId id="1002" r:id="rId13"/>
    <p:sldId id="267" r:id="rId14"/>
    <p:sldId id="268" r:id="rId15"/>
    <p:sldId id="264" r:id="rId16"/>
    <p:sldId id="269" r:id="rId17"/>
    <p:sldId id="1003" r:id="rId18"/>
    <p:sldId id="1004" r:id="rId19"/>
    <p:sldId id="270" r:id="rId20"/>
    <p:sldId id="271" r:id="rId21"/>
    <p:sldId id="1005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80" r:id="rId30"/>
    <p:sldId id="1007" r:id="rId31"/>
    <p:sldId id="1008" r:id="rId3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35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5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A92EF-22AA-4E0A-B375-7282B75F517B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B58FB3-2D60-4700-89FC-7932700E21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9698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5980C7-127B-2267-2F08-1E06F8A00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0DEBB7-0C2A-B3A2-99FD-FBC3B8302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2932705-62B4-7B7F-58C7-644944D7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FDF24-D297-4D2F-A849-51EC18D7C2BA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6B212E-38AE-D62F-7B6C-F1CA362C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7C56C6-F84B-5932-F461-D9C929F6B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B01ED-EB35-4AAE-8B96-A91232B77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0139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71BAA6-90F8-015B-50AD-36885620F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F40682-F475-CDD5-90FE-1D701E3B6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CE33D3-486C-723B-A339-75209449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FDF24-D297-4D2F-A849-51EC18D7C2BA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3ECCA2-81A7-5E4D-5B81-F94F08DBB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78D6A2-4E4A-0B6C-5624-E4732A947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B01ED-EB35-4AAE-8B96-A91232B77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8206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C285D8-8632-5F0E-D27D-460BECEA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E681C18-CD68-7704-8564-4251C8752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A4A7A1B-D12F-9888-8108-BDBAB8D6B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FDF24-D297-4D2F-A849-51EC18D7C2BA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917F86-8EC0-BAD6-A161-74CCDEEFB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795138-A7C9-8687-4A12-E2B57A942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B01ED-EB35-4AAE-8B96-A91232B77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680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13ABB5-67E7-74AF-C911-260FF18E7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21D4FC-B197-25BC-4246-21FD6448D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66AE32-07E1-5D1B-98B7-AF2C22DBA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C2AF02F-B8F5-6814-325B-C3F237002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FDF24-D297-4D2F-A849-51EC18D7C2BA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0DD59E1-14D8-044F-5F56-512D069B0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33172E2-F42B-ECF8-E5C3-7ED82E4C6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B01ED-EB35-4AAE-8B96-A91232B77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9280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B9538F-A4C3-03C2-1145-A595714C2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33FC4DA-32D8-5457-1FB9-2E6D78F75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01F13E8-D83F-D974-E269-3043DA711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5B6993B-663E-BF9A-7A1E-EDE2CED0B1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017E233-2CFA-3F0B-4A75-0A65AEE668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E63B720-3742-B1E7-F827-475BAD5BE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FDF24-D297-4D2F-A849-51EC18D7C2BA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A314359-3A40-604C-B27D-AA5BE6B31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3FC2789-EEC8-47F1-F676-29626919A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B01ED-EB35-4AAE-8B96-A91232B77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5536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B3A499-5444-D97E-BC6D-C5FA7A6AC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FACC53B-A062-BEA1-98F2-03FF087CD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FDF24-D297-4D2F-A849-51EC18D7C2BA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9319229-7C8A-8FEF-27BF-00A2AF1EA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168CE5E-F65D-BCE6-6E92-57B8C449A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B01ED-EB35-4AAE-8B96-A91232B77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5446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083D005-F6D3-3F9A-1F8A-03442C3AD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FDF24-D297-4D2F-A849-51EC18D7C2BA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C73F466-A6BB-AC47-8711-9ABD21D56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F29914-AC1C-BA67-007A-3B9536CB6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B01ED-EB35-4AAE-8B96-A91232B77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0545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83D35E-597A-DFA0-EE0B-F25C4C1C1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439BA9-4850-36FC-6310-BA0B49C9C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7A56AB9-C7DF-8948-E419-2793265EE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EC5D581-1521-B917-84D1-46FDF2B8B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FDF24-D297-4D2F-A849-51EC18D7C2BA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D2C9F1-03ED-6D31-D99F-1336A22FF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1FB90CB-E21D-36B7-3E16-3775FD57F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B01ED-EB35-4AAE-8B96-A91232B77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5518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9533AC-66B9-0E74-FAED-84737884D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4811DDE-B58F-9B78-8E32-CC94A65014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99B7DA8-207A-5511-35A1-1A6EDB89A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5279DE9-D265-664F-B083-52A894FDF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FDF24-D297-4D2F-A849-51EC18D7C2BA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7CE38B0-485C-D716-F0EC-E27E9DD93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7B5ACF6-A2FF-43B6-AE05-AB1DEB8F9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B01ED-EB35-4AAE-8B96-A91232B77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6973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19CEFC-DB83-6DDC-8F43-47DBEF932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8A653D1-80AC-FD30-C70D-B16D62019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3123B4-4A9B-AA93-D136-85F58B5E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FDF24-D297-4D2F-A849-51EC18D7C2BA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01934D6-4451-8BA5-EB57-A1D99EC35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6645D1-5BE0-F61D-7394-3942F44AB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B01ED-EB35-4AAE-8B96-A91232B77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7004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E5174AA-DB6D-A64B-E511-36AC048A63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8661E54-4827-4E0D-0822-D68415534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050754-79FE-9F23-EAB6-5FAC4C98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FDF24-D297-4D2F-A849-51EC18D7C2BA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AF17180-54B1-A282-9996-AD4F0CB86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7035E0-C425-035F-1028-9F71ACFA7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B01ED-EB35-4AAE-8B96-A91232B77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266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F5B9909-AF0D-8E8D-715B-681D98C04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F19FDFC-7CBB-BA19-46CF-D33D3155D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2049B8-28A9-7456-C331-9CB426A51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FDF24-D297-4D2F-A849-51EC18D7C2BA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8B8195-5745-9634-5BC7-555843554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8C7D3E-975A-3DB2-F2A0-A05CFE7DA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5B01ED-EB35-4AAE-8B96-A91232B77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9893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2604/cmc.2025.074911" TargetMode="External"/><Relationship Id="rId2" Type="http://schemas.openxmlformats.org/officeDocument/2006/relationships/hyperlink" Target="https://doi.org/10.3390/engproc2026134065" TargetMode="Externa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206.14651" TargetMode="External"/><Relationship Id="rId2" Type="http://schemas.openxmlformats.org/officeDocument/2006/relationships/hyperlink" Target="https://doi.org/10.3390/engproc2026134065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1613/jair.301" TargetMode="External"/><Relationship Id="rId4" Type="http://schemas.openxmlformats.org/officeDocument/2006/relationships/hyperlink" Target="https://doi.org/10.32604/cmc.2025.074911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1509.02971" TargetMode="External"/><Relationship Id="rId2" Type="http://schemas.openxmlformats.org/officeDocument/2006/relationships/hyperlink" Target="https://doi.org/10.3390/engproc2026134065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0002">
            <a:extLst>
              <a:ext uri="{FF2B5EF4-FFF2-40B4-BE49-F238E27FC236}">
                <a16:creationId xmlns:a16="http://schemas.microsoft.com/office/drawing/2014/main" id="{B4789E8A-42D0-1C2E-8D47-BB0A8E68192E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01</a:t>
            </a:r>
            <a:endParaRPr lang="zh-TW" altLang="en-US" sz="1275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" name="text_0003">
            <a:extLst>
              <a:ext uri="{FF2B5EF4-FFF2-40B4-BE49-F238E27FC236}">
                <a16:creationId xmlns:a16="http://schemas.microsoft.com/office/drawing/2014/main" id="{F1B721B7-2C85-BE94-78EB-A0755E98F382}"/>
              </a:ext>
            </a:extLst>
          </p:cNvPr>
          <p:cNvSpPr txBox="1"/>
          <p:nvPr/>
        </p:nvSpPr>
        <p:spPr>
          <a:xfrm>
            <a:off x="685800" y="1842565"/>
            <a:ext cx="108204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sz="44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 </a:t>
            </a:r>
            <a:r>
              <a:rPr lang="zh-TW" altLang="en-US" sz="44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果園防猴系統</a:t>
            </a:r>
          </a:p>
        </p:txBody>
      </p:sp>
      <p:sp>
        <p:nvSpPr>
          <p:cNvPr id="6" name="text_0005">
            <a:extLst>
              <a:ext uri="{FF2B5EF4-FFF2-40B4-BE49-F238E27FC236}">
                <a16:creationId xmlns:a16="http://schemas.microsoft.com/office/drawing/2014/main" id="{8A29C991-1AAB-FCA9-A08D-1E1E1AB62E1A}"/>
              </a:ext>
            </a:extLst>
          </p:cNvPr>
          <p:cNvSpPr txBox="1"/>
          <p:nvPr/>
        </p:nvSpPr>
        <p:spPr>
          <a:xfrm>
            <a:off x="685800" y="3963466"/>
            <a:ext cx="10820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演講日期：</a:t>
            </a:r>
            <a:r>
              <a:rPr lang="en-US" altLang="zh-TW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2026 </a:t>
            </a: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 </a:t>
            </a:r>
            <a:r>
              <a:rPr lang="en-US" altLang="zh-TW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 </a:t>
            </a: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月 </a:t>
            </a:r>
            <a:r>
              <a:rPr lang="en-US" altLang="zh-TW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13 </a:t>
            </a: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日</a:t>
            </a:r>
          </a:p>
        </p:txBody>
      </p:sp>
      <p:sp>
        <p:nvSpPr>
          <p:cNvPr id="7" name="text_0006">
            <a:extLst>
              <a:ext uri="{FF2B5EF4-FFF2-40B4-BE49-F238E27FC236}">
                <a16:creationId xmlns:a16="http://schemas.microsoft.com/office/drawing/2014/main" id="{32163BD4-5C04-7DB4-959D-D3E69535DB32}"/>
              </a:ext>
            </a:extLst>
          </p:cNvPr>
          <p:cNvSpPr txBox="1"/>
          <p:nvPr/>
        </p:nvSpPr>
        <p:spPr>
          <a:xfrm>
            <a:off x="685800" y="4673599"/>
            <a:ext cx="10820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講者：卓世明｜大同大學資訊工程學系副教授兼系主任</a:t>
            </a:r>
          </a:p>
        </p:txBody>
      </p:sp>
    </p:spTree>
    <p:extLst>
      <p:ext uri="{BB962C8B-B14F-4D97-AF65-F5344CB8AC3E}">
        <p14:creationId xmlns:p14="http://schemas.microsoft.com/office/powerpoint/2010/main" val="3729461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008">
            <a:extLst>
              <a:ext uri="{FF2B5EF4-FFF2-40B4-BE49-F238E27FC236}">
                <a16:creationId xmlns:a16="http://schemas.microsoft.com/office/drawing/2014/main" id="{703E6989-F4A1-374B-FB78-EB7E2CBC80D1}"/>
              </a:ext>
            </a:extLst>
          </p:cNvPr>
          <p:cNvSpPr txBox="1"/>
          <p:nvPr/>
        </p:nvSpPr>
        <p:spPr>
          <a:xfrm>
            <a:off x="685800" y="457199"/>
            <a:ext cx="10820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32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演講簡介</a:t>
            </a:r>
          </a:p>
        </p:txBody>
      </p:sp>
      <p:sp>
        <p:nvSpPr>
          <p:cNvPr id="3" name="text_0009">
            <a:extLst>
              <a:ext uri="{FF2B5EF4-FFF2-40B4-BE49-F238E27FC236}">
                <a16:creationId xmlns:a16="http://schemas.microsoft.com/office/drawing/2014/main" id="{A67C26B6-5662-47E6-C843-C4D1F7D49153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02</a:t>
            </a:r>
            <a:endParaRPr lang="zh-TW" altLang="en-US" sz="1275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" name="text_0010">
            <a:extLst>
              <a:ext uri="{FF2B5EF4-FFF2-40B4-BE49-F238E27FC236}">
                <a16:creationId xmlns:a16="http://schemas.microsoft.com/office/drawing/2014/main" id="{CB31D2CA-5B26-B7E1-45E8-D297506D5CB8}"/>
              </a:ext>
            </a:extLst>
          </p:cNvPr>
          <p:cNvSpPr txBox="1"/>
          <p:nvPr/>
        </p:nvSpPr>
        <p:spPr>
          <a:xfrm>
            <a:off x="685800" y="1816099"/>
            <a:ext cx="2235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1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實務問題</a:t>
            </a:r>
          </a:p>
        </p:txBody>
      </p:sp>
      <p:sp>
        <p:nvSpPr>
          <p:cNvPr id="5" name="text_0011">
            <a:extLst>
              <a:ext uri="{FF2B5EF4-FFF2-40B4-BE49-F238E27FC236}">
                <a16:creationId xmlns:a16="http://schemas.microsoft.com/office/drawing/2014/main" id="{8CA6F7D0-7964-25B2-CB90-0899D2EFDBCE}"/>
              </a:ext>
            </a:extLst>
          </p:cNvPr>
          <p:cNvSpPr txBox="1"/>
          <p:nvPr/>
        </p:nvSpPr>
        <p:spPr>
          <a:xfrm>
            <a:off x="3098800" y="1816099"/>
            <a:ext cx="8407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獼猴入侵果園，固定式驅趕容易被學習與適應，維護也需要人力。</a:t>
            </a:r>
          </a:p>
        </p:txBody>
      </p:sp>
      <p:sp>
        <p:nvSpPr>
          <p:cNvPr id="6" name="text_0012">
            <a:extLst>
              <a:ext uri="{FF2B5EF4-FFF2-40B4-BE49-F238E27FC236}">
                <a16:creationId xmlns:a16="http://schemas.microsoft.com/office/drawing/2014/main" id="{4120BEC8-5D89-6959-5ADD-4C37C01104EF}"/>
              </a:ext>
            </a:extLst>
          </p:cNvPr>
          <p:cNvSpPr txBox="1"/>
          <p:nvPr/>
        </p:nvSpPr>
        <p:spPr>
          <a:xfrm>
            <a:off x="685800" y="3225799"/>
            <a:ext cx="2235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100" b="1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研究主線</a:t>
            </a:r>
          </a:p>
        </p:txBody>
      </p:sp>
      <p:sp>
        <p:nvSpPr>
          <p:cNvPr id="7" name="text_0013">
            <a:extLst>
              <a:ext uri="{FF2B5EF4-FFF2-40B4-BE49-F238E27FC236}">
                <a16:creationId xmlns:a16="http://schemas.microsoft.com/office/drawing/2014/main" id="{18D7DCBA-C03E-B15C-99BA-B8DCB7C079B9}"/>
              </a:ext>
            </a:extLst>
          </p:cNvPr>
          <p:cNvSpPr txBox="1"/>
          <p:nvPr/>
        </p:nvSpPr>
        <p:spPr>
          <a:xfrm>
            <a:off x="3098800" y="3225799"/>
            <a:ext cx="8407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整合影像辨識、目標追蹤、雷射定位與策略回饋，建立可持續改進的閉迴路。</a:t>
            </a:r>
          </a:p>
        </p:txBody>
      </p:sp>
      <p:sp>
        <p:nvSpPr>
          <p:cNvPr id="8" name="text_0014">
            <a:extLst>
              <a:ext uri="{FF2B5EF4-FFF2-40B4-BE49-F238E27FC236}">
                <a16:creationId xmlns:a16="http://schemas.microsoft.com/office/drawing/2014/main" id="{1DB704C3-9428-11E8-02E0-286A547E89D4}"/>
              </a:ext>
            </a:extLst>
          </p:cNvPr>
          <p:cNvSpPr txBox="1"/>
          <p:nvPr/>
        </p:nvSpPr>
        <p:spPr>
          <a:xfrm>
            <a:off x="685800" y="4635499"/>
            <a:ext cx="2235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100" b="1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報告重點</a:t>
            </a:r>
          </a:p>
        </p:txBody>
      </p:sp>
      <p:sp>
        <p:nvSpPr>
          <p:cNvPr id="9" name="text_0015">
            <a:extLst>
              <a:ext uri="{FF2B5EF4-FFF2-40B4-BE49-F238E27FC236}">
                <a16:creationId xmlns:a16="http://schemas.microsoft.com/office/drawing/2014/main" id="{8EBB1067-A31E-BE9E-50D7-157B7B57EB97}"/>
              </a:ext>
            </a:extLst>
          </p:cNvPr>
          <p:cNvSpPr txBox="1"/>
          <p:nvPr/>
        </p:nvSpPr>
        <p:spPr>
          <a:xfrm>
            <a:off x="3098800" y="4635499"/>
            <a:ext cx="8407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說明技術如何串接、實驗證據能支持什麼，以及如何從系統限制發展下一個研究問題。</a:t>
            </a:r>
          </a:p>
        </p:txBody>
      </p:sp>
    </p:spTree>
    <p:extLst>
      <p:ext uri="{BB962C8B-B14F-4D97-AF65-F5344CB8AC3E}">
        <p14:creationId xmlns:p14="http://schemas.microsoft.com/office/powerpoint/2010/main" val="2960548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016">
            <a:extLst>
              <a:ext uri="{FF2B5EF4-FFF2-40B4-BE49-F238E27FC236}">
                <a16:creationId xmlns:a16="http://schemas.microsoft.com/office/drawing/2014/main" id="{882D8C0F-2319-8DBA-EB4E-EE41624D221B}"/>
              </a:ext>
            </a:extLst>
          </p:cNvPr>
          <p:cNvSpPr txBox="1"/>
          <p:nvPr/>
        </p:nvSpPr>
        <p:spPr>
          <a:xfrm>
            <a:off x="685800" y="457199"/>
            <a:ext cx="10820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32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三個研究階段</a:t>
            </a:r>
          </a:p>
        </p:txBody>
      </p:sp>
      <p:sp>
        <p:nvSpPr>
          <p:cNvPr id="3" name="text_0017">
            <a:extLst>
              <a:ext uri="{FF2B5EF4-FFF2-40B4-BE49-F238E27FC236}">
                <a16:creationId xmlns:a16="http://schemas.microsoft.com/office/drawing/2014/main" id="{14D0E544-2179-2FF8-AC82-FA91F4C09956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03</a:t>
            </a:r>
            <a:endParaRPr lang="zh-TW" altLang="en-US" sz="1275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" name="text_0018">
            <a:extLst>
              <a:ext uri="{FF2B5EF4-FFF2-40B4-BE49-F238E27FC236}">
                <a16:creationId xmlns:a16="http://schemas.microsoft.com/office/drawing/2014/main" id="{63426F96-814C-628D-D37D-716FCD2A2A19}"/>
              </a:ext>
            </a:extLst>
          </p:cNvPr>
          <p:cNvSpPr txBox="1"/>
          <p:nvPr/>
        </p:nvSpPr>
        <p:spPr>
          <a:xfrm>
            <a:off x="685800" y="1816099"/>
            <a:ext cx="2235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1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第一階段</a:t>
            </a:r>
          </a:p>
        </p:txBody>
      </p:sp>
      <p:sp>
        <p:nvSpPr>
          <p:cNvPr id="5" name="text_0019">
            <a:extLst>
              <a:ext uri="{FF2B5EF4-FFF2-40B4-BE49-F238E27FC236}">
                <a16:creationId xmlns:a16="http://schemas.microsoft.com/office/drawing/2014/main" id="{2483E09B-EE04-DA81-E47A-5B3E4C38559C}"/>
              </a:ext>
            </a:extLst>
          </p:cNvPr>
          <p:cNvSpPr txBox="1"/>
          <p:nvPr/>
        </p:nvSpPr>
        <p:spPr>
          <a:xfrm>
            <a:off x="3098800" y="1816099"/>
            <a:ext cx="8407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猴偶與模擬果園：先驗證辨識、定位與控制能否接通。</a:t>
            </a:r>
          </a:p>
        </p:txBody>
      </p:sp>
      <p:sp>
        <p:nvSpPr>
          <p:cNvPr id="6" name="text_0020">
            <a:extLst>
              <a:ext uri="{FF2B5EF4-FFF2-40B4-BE49-F238E27FC236}">
                <a16:creationId xmlns:a16="http://schemas.microsoft.com/office/drawing/2014/main" id="{6F59282B-CB16-1AD1-63D4-162C40F381EE}"/>
              </a:ext>
            </a:extLst>
          </p:cNvPr>
          <p:cNvSpPr txBox="1"/>
          <p:nvPr/>
        </p:nvSpPr>
        <p:spPr>
          <a:xfrm>
            <a:off x="685800" y="3225799"/>
            <a:ext cx="2235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100" b="1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第二階段</a:t>
            </a:r>
          </a:p>
        </p:txBody>
      </p:sp>
      <p:sp>
        <p:nvSpPr>
          <p:cNvPr id="7" name="text_0021">
            <a:extLst>
              <a:ext uri="{FF2B5EF4-FFF2-40B4-BE49-F238E27FC236}">
                <a16:creationId xmlns:a16="http://schemas.microsoft.com/office/drawing/2014/main" id="{C3AEFBBA-CE38-E6E5-F593-D6EC4AA05545}"/>
              </a:ext>
            </a:extLst>
          </p:cNvPr>
          <p:cNvSpPr txBox="1"/>
          <p:nvPr/>
        </p:nvSpPr>
        <p:spPr>
          <a:xfrm>
            <a:off x="3098800" y="3225799"/>
            <a:ext cx="8407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00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真實果園：處理多目標追蹤、模型擴充與習慣化，進行田野比較。</a:t>
            </a:r>
          </a:p>
        </p:txBody>
      </p:sp>
      <p:sp>
        <p:nvSpPr>
          <p:cNvPr id="8" name="text_0022">
            <a:extLst>
              <a:ext uri="{FF2B5EF4-FFF2-40B4-BE49-F238E27FC236}">
                <a16:creationId xmlns:a16="http://schemas.microsoft.com/office/drawing/2014/main" id="{C5B59F5A-C051-EE9A-6B1C-1D4A8CD38E91}"/>
              </a:ext>
            </a:extLst>
          </p:cNvPr>
          <p:cNvSpPr txBox="1"/>
          <p:nvPr/>
        </p:nvSpPr>
        <p:spPr>
          <a:xfrm>
            <a:off x="685800" y="4635499"/>
            <a:ext cx="2235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100" b="1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第三階段</a:t>
            </a:r>
          </a:p>
        </p:txBody>
      </p:sp>
      <p:sp>
        <p:nvSpPr>
          <p:cNvPr id="9" name="text_0023">
            <a:extLst>
              <a:ext uri="{FF2B5EF4-FFF2-40B4-BE49-F238E27FC236}">
                <a16:creationId xmlns:a16="http://schemas.microsoft.com/office/drawing/2014/main" id="{D9CF8F5F-8CE5-854B-7191-4A25C2EBC111}"/>
              </a:ext>
            </a:extLst>
          </p:cNvPr>
          <p:cNvSpPr txBox="1"/>
          <p:nvPr/>
        </p:nvSpPr>
        <p:spPr>
          <a:xfrm>
            <a:off x="3098800" y="4635499"/>
            <a:ext cx="8407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RGB</a:t>
            </a: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／熱影像與無人機協同：介紹進行中的方向。</a:t>
            </a:r>
          </a:p>
        </p:txBody>
      </p:sp>
    </p:spTree>
    <p:extLst>
      <p:ext uri="{BB962C8B-B14F-4D97-AF65-F5344CB8AC3E}">
        <p14:creationId xmlns:p14="http://schemas.microsoft.com/office/powerpoint/2010/main" val="2922361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024">
            <a:extLst>
              <a:ext uri="{FF2B5EF4-FFF2-40B4-BE49-F238E27FC236}">
                <a16:creationId xmlns:a16="http://schemas.microsoft.com/office/drawing/2014/main" id="{D04AA50C-29BB-D56E-860E-E9C51B3A7975}"/>
              </a:ext>
            </a:extLst>
          </p:cNvPr>
          <p:cNvSpPr txBox="1"/>
          <p:nvPr/>
        </p:nvSpPr>
        <p:spPr>
          <a:xfrm>
            <a:off x="685800" y="457199"/>
            <a:ext cx="10820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32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問題背景：農損與持續防護</a:t>
            </a:r>
          </a:p>
        </p:txBody>
      </p:sp>
      <p:sp>
        <p:nvSpPr>
          <p:cNvPr id="3" name="text_0025">
            <a:extLst>
              <a:ext uri="{FF2B5EF4-FFF2-40B4-BE49-F238E27FC236}">
                <a16:creationId xmlns:a16="http://schemas.microsoft.com/office/drawing/2014/main" id="{466A9565-BE9C-3A92-84B3-DF8249743037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04</a:t>
            </a:r>
            <a:endParaRPr lang="zh-TW" altLang="en-US" sz="1275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  <p:pic>
        <p:nvPicPr>
          <p:cNvPr id="5" name="source_problem_photo">
            <a:extLst>
              <a:ext uri="{FF2B5EF4-FFF2-40B4-BE49-F238E27FC236}">
                <a16:creationId xmlns:a16="http://schemas.microsoft.com/office/drawing/2014/main" id="{C6E98275-506A-5BFA-0948-F5982B7A161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191" y="1549400"/>
            <a:ext cx="4925219" cy="4318000"/>
          </a:xfrm>
          <a:prstGeom prst="rect">
            <a:avLst/>
          </a:prstGeom>
        </p:spPr>
      </p:pic>
      <p:sp>
        <p:nvSpPr>
          <p:cNvPr id="6" name="text_0026">
            <a:extLst>
              <a:ext uri="{FF2B5EF4-FFF2-40B4-BE49-F238E27FC236}">
                <a16:creationId xmlns:a16="http://schemas.microsoft.com/office/drawing/2014/main" id="{4063EB5D-C001-2DE6-2063-513D7B8DDF75}"/>
              </a:ext>
            </a:extLst>
          </p:cNvPr>
          <p:cNvSpPr txBox="1"/>
          <p:nvPr/>
        </p:nvSpPr>
        <p:spPr>
          <a:xfrm>
            <a:off x="6553200" y="2406650"/>
            <a:ext cx="4953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4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不只是吃果實</a:t>
            </a:r>
          </a:p>
        </p:txBody>
      </p:sp>
      <p:sp>
        <p:nvSpPr>
          <p:cNvPr id="7" name="text_0027">
            <a:extLst>
              <a:ext uri="{FF2B5EF4-FFF2-40B4-BE49-F238E27FC236}">
                <a16:creationId xmlns:a16="http://schemas.microsoft.com/office/drawing/2014/main" id="{42246523-BD60-AB24-228A-ACE9B0AB93BB}"/>
              </a:ext>
            </a:extLst>
          </p:cNvPr>
          <p:cNvSpPr txBox="1"/>
          <p:nvPr/>
        </p:nvSpPr>
        <p:spPr>
          <a:xfrm>
            <a:off x="6553200" y="2825750"/>
            <a:ext cx="49530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以果園案例說明，折枝、摘落與群體入侵，可能擴大作物損失。</a:t>
            </a:r>
          </a:p>
        </p:txBody>
      </p:sp>
      <p:sp>
        <p:nvSpPr>
          <p:cNvPr id="8" name="text_0028">
            <a:extLst>
              <a:ext uri="{FF2B5EF4-FFF2-40B4-BE49-F238E27FC236}">
                <a16:creationId xmlns:a16="http://schemas.microsoft.com/office/drawing/2014/main" id="{E5AA909E-8431-C10D-0785-AC6CD5C2EAFF}"/>
              </a:ext>
            </a:extLst>
          </p:cNvPr>
          <p:cNvSpPr txBox="1"/>
          <p:nvPr/>
        </p:nvSpPr>
        <p:spPr>
          <a:xfrm>
            <a:off x="6553200" y="4267200"/>
            <a:ext cx="4953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4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防護要持續</a:t>
            </a:r>
          </a:p>
        </p:txBody>
      </p:sp>
      <p:sp>
        <p:nvSpPr>
          <p:cNvPr id="9" name="text_0029">
            <a:extLst>
              <a:ext uri="{FF2B5EF4-FFF2-40B4-BE49-F238E27FC236}">
                <a16:creationId xmlns:a16="http://schemas.microsoft.com/office/drawing/2014/main" id="{817D1D41-0327-66F2-C2C3-2B367430A42E}"/>
              </a:ext>
            </a:extLst>
          </p:cNvPr>
          <p:cNvSpPr txBox="1"/>
          <p:nvPr/>
        </p:nvSpPr>
        <p:spPr>
          <a:xfrm>
            <a:off x="6553200" y="4686300"/>
            <a:ext cx="49530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採收期需要反覆監測，只在單次出現時成功偵測，並不足以證明整季有效。</a:t>
            </a:r>
          </a:p>
        </p:txBody>
      </p:sp>
      <p:sp>
        <p:nvSpPr>
          <p:cNvPr id="12" name="text_0032">
            <a:extLst>
              <a:ext uri="{FF2B5EF4-FFF2-40B4-BE49-F238E27FC236}">
                <a16:creationId xmlns:a16="http://schemas.microsoft.com/office/drawing/2014/main" id="{2A1ED958-1161-AC73-A7C9-562CBC983936}"/>
              </a:ext>
            </a:extLst>
          </p:cNvPr>
          <p:cNvSpPr txBox="1"/>
          <p:nvPr/>
        </p:nvSpPr>
        <p:spPr>
          <a:xfrm>
            <a:off x="685800" y="6019799"/>
            <a:ext cx="533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1600" dirty="0">
                <a:solidFill>
                  <a:srgbClr val="53627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演講展示的果園受損案例</a:t>
            </a:r>
          </a:p>
        </p:txBody>
      </p:sp>
    </p:spTree>
    <p:extLst>
      <p:ext uri="{BB962C8B-B14F-4D97-AF65-F5344CB8AC3E}">
        <p14:creationId xmlns:p14="http://schemas.microsoft.com/office/powerpoint/2010/main" val="2998855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033">
            <a:extLst>
              <a:ext uri="{FF2B5EF4-FFF2-40B4-BE49-F238E27FC236}">
                <a16:creationId xmlns:a16="http://schemas.microsoft.com/office/drawing/2014/main" id="{76453CE6-D0DC-7667-CAE2-013C8E71DC6C}"/>
              </a:ext>
            </a:extLst>
          </p:cNvPr>
          <p:cNvSpPr txBox="1"/>
          <p:nvPr/>
        </p:nvSpPr>
        <p:spPr>
          <a:xfrm>
            <a:off x="685800" y="457199"/>
            <a:ext cx="10820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32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傳統方法為何仍有侷限？</a:t>
            </a:r>
          </a:p>
        </p:txBody>
      </p:sp>
      <p:sp>
        <p:nvSpPr>
          <p:cNvPr id="3" name="text_0034">
            <a:extLst>
              <a:ext uri="{FF2B5EF4-FFF2-40B4-BE49-F238E27FC236}">
                <a16:creationId xmlns:a16="http://schemas.microsoft.com/office/drawing/2014/main" id="{3AA273C7-0AC9-AA9E-5476-2F3E2A811790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05</a:t>
            </a:r>
            <a:endParaRPr lang="zh-TW" altLang="en-US" sz="1275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B86D9E1-3026-34BB-FA70-2C29825D1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704445"/>
              </p:ext>
            </p:extLst>
          </p:nvPr>
        </p:nvGraphicFramePr>
        <p:xfrm>
          <a:off x="685800" y="1587500"/>
          <a:ext cx="108204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01999234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4199648034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3159211979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00" b="1" dirty="0">
                          <a:solidFill>
                            <a:srgbClr val="235DB5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方法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00" b="1">
                          <a:solidFill>
                            <a:srgbClr val="235DB5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可提供的防護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00" b="1">
                          <a:solidFill>
                            <a:srgbClr val="235DB5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演講指出的限制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53973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電圍網／圍籬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阻擋部分入侵路徑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00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建置、除草與維護成本高，且仍可能有破口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30255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防猴網／套袋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局部保護果實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需要人工安裝與定期檢查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69161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固定聲響／固定刺激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短期警示或驅趕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刺激可預測，動物可能逐漸適應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53652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00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誘捕籠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00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直接捕獲獼猴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00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法規限制，可能傷及動物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887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2928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036">
            <a:extLst>
              <a:ext uri="{FF2B5EF4-FFF2-40B4-BE49-F238E27FC236}">
                <a16:creationId xmlns:a16="http://schemas.microsoft.com/office/drawing/2014/main" id="{C69409E8-8579-AA66-6953-86316819EA50}"/>
              </a:ext>
            </a:extLst>
          </p:cNvPr>
          <p:cNvSpPr txBox="1"/>
          <p:nvPr/>
        </p:nvSpPr>
        <p:spPr>
          <a:xfrm>
            <a:off x="685800" y="457199"/>
            <a:ext cx="10820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32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閉迴路：從看見到行動</a:t>
            </a:r>
          </a:p>
        </p:txBody>
      </p:sp>
      <p:sp>
        <p:nvSpPr>
          <p:cNvPr id="3" name="text_0037">
            <a:extLst>
              <a:ext uri="{FF2B5EF4-FFF2-40B4-BE49-F238E27FC236}">
                <a16:creationId xmlns:a16="http://schemas.microsoft.com/office/drawing/2014/main" id="{FB40DB36-CA84-BCEA-6C08-2693398D434E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06</a:t>
            </a:r>
            <a:endParaRPr lang="zh-TW" altLang="en-US" sz="1275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" name="text_0038">
            <a:extLst>
              <a:ext uri="{FF2B5EF4-FFF2-40B4-BE49-F238E27FC236}">
                <a16:creationId xmlns:a16="http://schemas.microsoft.com/office/drawing/2014/main" id="{4F345574-CCC9-165F-4799-4010946936C2}"/>
              </a:ext>
            </a:extLst>
          </p:cNvPr>
          <p:cNvSpPr txBox="1"/>
          <p:nvPr/>
        </p:nvSpPr>
        <p:spPr>
          <a:xfrm>
            <a:off x="685800" y="2082799"/>
            <a:ext cx="23241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lang="zh-TW" altLang="en-US" sz="25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感知</a:t>
            </a:r>
          </a:p>
        </p:txBody>
      </p:sp>
      <p:sp>
        <p:nvSpPr>
          <p:cNvPr id="5" name="text_0039">
            <a:extLst>
              <a:ext uri="{FF2B5EF4-FFF2-40B4-BE49-F238E27FC236}">
                <a16:creationId xmlns:a16="http://schemas.microsoft.com/office/drawing/2014/main" id="{501AC6CE-51FF-FF10-2009-FEEC11CD3E14}"/>
              </a:ext>
            </a:extLst>
          </p:cNvPr>
          <p:cNvSpPr txBox="1"/>
          <p:nvPr/>
        </p:nvSpPr>
        <p:spPr>
          <a:xfrm>
            <a:off x="685800" y="2920999"/>
            <a:ext cx="23241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攝影機取得影像
辨識獼猴與光點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EF8EC5E2-78E9-6C19-00DF-49D1DA756EE2}"/>
              </a:ext>
            </a:extLst>
          </p:cNvPr>
          <p:cNvCxnSpPr/>
          <p:nvPr/>
        </p:nvCxnSpPr>
        <p:spPr>
          <a:xfrm>
            <a:off x="3124200" y="2590800"/>
            <a:ext cx="330200" cy="0"/>
          </a:xfrm>
          <a:prstGeom prst="line">
            <a:avLst/>
          </a:prstGeom>
          <a:ln w="28575">
            <a:solidFill>
              <a:srgbClr val="235DB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_0040">
            <a:extLst>
              <a:ext uri="{FF2B5EF4-FFF2-40B4-BE49-F238E27FC236}">
                <a16:creationId xmlns:a16="http://schemas.microsoft.com/office/drawing/2014/main" id="{8603424D-AD4E-E54E-3B33-D7C4D1473FF6}"/>
              </a:ext>
            </a:extLst>
          </p:cNvPr>
          <p:cNvSpPr txBox="1"/>
          <p:nvPr/>
        </p:nvSpPr>
        <p:spPr>
          <a:xfrm>
            <a:off x="3517900" y="2082799"/>
            <a:ext cx="23241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lang="zh-TW" altLang="en-US" sz="25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決策</a:t>
            </a:r>
          </a:p>
        </p:txBody>
      </p:sp>
      <p:sp>
        <p:nvSpPr>
          <p:cNvPr id="8" name="text_0041">
            <a:extLst>
              <a:ext uri="{FF2B5EF4-FFF2-40B4-BE49-F238E27FC236}">
                <a16:creationId xmlns:a16="http://schemas.microsoft.com/office/drawing/2014/main" id="{3DE16B39-34AA-83BF-3E77-588B6121CE10}"/>
              </a:ext>
            </a:extLst>
          </p:cNvPr>
          <p:cNvSpPr txBox="1"/>
          <p:nvPr/>
        </p:nvSpPr>
        <p:spPr>
          <a:xfrm>
            <a:off x="3517900" y="2920999"/>
            <a:ext cx="23241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lang="zh-TW" altLang="en-US" sz="200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確認目標位置
追蹤個體與狀態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526941D-6992-74A7-0F5A-6AE49AEA22BA}"/>
              </a:ext>
            </a:extLst>
          </p:cNvPr>
          <p:cNvCxnSpPr/>
          <p:nvPr/>
        </p:nvCxnSpPr>
        <p:spPr>
          <a:xfrm>
            <a:off x="5956300" y="2590800"/>
            <a:ext cx="330200" cy="0"/>
          </a:xfrm>
          <a:prstGeom prst="line">
            <a:avLst/>
          </a:prstGeom>
          <a:ln w="28575">
            <a:solidFill>
              <a:srgbClr val="235DB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_0042">
            <a:extLst>
              <a:ext uri="{FF2B5EF4-FFF2-40B4-BE49-F238E27FC236}">
                <a16:creationId xmlns:a16="http://schemas.microsoft.com/office/drawing/2014/main" id="{12DFBC6D-7CE1-3CC0-64DE-F0A5F07BB6AF}"/>
              </a:ext>
            </a:extLst>
          </p:cNvPr>
          <p:cNvSpPr txBox="1"/>
          <p:nvPr/>
        </p:nvSpPr>
        <p:spPr>
          <a:xfrm>
            <a:off x="6350000" y="2082799"/>
            <a:ext cx="23241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lang="zh-TW" altLang="en-US" sz="25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轉換</a:t>
            </a:r>
          </a:p>
        </p:txBody>
      </p:sp>
      <p:sp>
        <p:nvSpPr>
          <p:cNvPr id="11" name="text_0043">
            <a:extLst>
              <a:ext uri="{FF2B5EF4-FFF2-40B4-BE49-F238E27FC236}">
                <a16:creationId xmlns:a16="http://schemas.microsoft.com/office/drawing/2014/main" id="{982EB43B-B954-E8F4-3F4F-A31ECAD74071}"/>
              </a:ext>
            </a:extLst>
          </p:cNvPr>
          <p:cNvSpPr txBox="1"/>
          <p:nvPr/>
        </p:nvSpPr>
        <p:spPr>
          <a:xfrm>
            <a:off x="6350000" y="2920999"/>
            <a:ext cx="23241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座標換算</a:t>
            </a:r>
            <a:br>
              <a:rPr lang="en-US" altLang="zh-TW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雷射光角度</a:t>
            </a: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10A3F341-6481-5398-5850-CB395147A43D}"/>
              </a:ext>
            </a:extLst>
          </p:cNvPr>
          <p:cNvCxnSpPr/>
          <p:nvPr/>
        </p:nvCxnSpPr>
        <p:spPr>
          <a:xfrm>
            <a:off x="8788400" y="2590800"/>
            <a:ext cx="330200" cy="0"/>
          </a:xfrm>
          <a:prstGeom prst="line">
            <a:avLst/>
          </a:prstGeom>
          <a:ln w="28575">
            <a:solidFill>
              <a:srgbClr val="235DB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_0044">
            <a:extLst>
              <a:ext uri="{FF2B5EF4-FFF2-40B4-BE49-F238E27FC236}">
                <a16:creationId xmlns:a16="http://schemas.microsoft.com/office/drawing/2014/main" id="{988A046C-475D-96BD-5F19-30F5265969C8}"/>
              </a:ext>
            </a:extLst>
          </p:cNvPr>
          <p:cNvSpPr txBox="1"/>
          <p:nvPr/>
        </p:nvSpPr>
        <p:spPr>
          <a:xfrm>
            <a:off x="9182100" y="2082799"/>
            <a:ext cx="23241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lang="zh-TW" altLang="en-US" sz="25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行動</a:t>
            </a:r>
          </a:p>
        </p:txBody>
      </p:sp>
      <p:sp>
        <p:nvSpPr>
          <p:cNvPr id="14" name="text_0045">
            <a:extLst>
              <a:ext uri="{FF2B5EF4-FFF2-40B4-BE49-F238E27FC236}">
                <a16:creationId xmlns:a16="http://schemas.microsoft.com/office/drawing/2014/main" id="{9D989460-7724-3D74-809E-3C685695B6CE}"/>
              </a:ext>
            </a:extLst>
          </p:cNvPr>
          <p:cNvSpPr txBox="1"/>
          <p:nvPr/>
        </p:nvSpPr>
        <p:spPr>
          <a:xfrm>
            <a:off x="9182100" y="2920999"/>
            <a:ext cx="23241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下達執行指令</a:t>
            </a:r>
            <a:b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定點發射雷射光</a:t>
            </a: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C11945AA-3767-B00E-5D25-7C90735E98D2}"/>
              </a:ext>
            </a:extLst>
          </p:cNvPr>
          <p:cNvCxnSpPr/>
          <p:nvPr/>
        </p:nvCxnSpPr>
        <p:spPr>
          <a:xfrm>
            <a:off x="10337800" y="3948528"/>
            <a:ext cx="0" cy="431800"/>
          </a:xfrm>
          <a:prstGeom prst="line">
            <a:avLst/>
          </a:prstGeom>
          <a:ln w="28575">
            <a:solidFill>
              <a:srgbClr val="235D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B57E863C-C589-F231-5724-8B5C1428A740}"/>
              </a:ext>
            </a:extLst>
          </p:cNvPr>
          <p:cNvCxnSpPr/>
          <p:nvPr/>
        </p:nvCxnSpPr>
        <p:spPr>
          <a:xfrm flipH="1">
            <a:off x="1816100" y="4380328"/>
            <a:ext cx="8521700" cy="0"/>
          </a:xfrm>
          <a:prstGeom prst="line">
            <a:avLst/>
          </a:prstGeom>
          <a:ln w="28575">
            <a:solidFill>
              <a:srgbClr val="235D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2A1E6F70-CA3A-5F1A-1FD5-62B9345CB37A}"/>
              </a:ext>
            </a:extLst>
          </p:cNvPr>
          <p:cNvCxnSpPr/>
          <p:nvPr/>
        </p:nvCxnSpPr>
        <p:spPr>
          <a:xfrm flipV="1">
            <a:off x="1816100" y="3935828"/>
            <a:ext cx="0" cy="444500"/>
          </a:xfrm>
          <a:prstGeom prst="line">
            <a:avLst/>
          </a:prstGeom>
          <a:ln w="28575">
            <a:solidFill>
              <a:srgbClr val="235DB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4991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047">
            <a:extLst>
              <a:ext uri="{FF2B5EF4-FFF2-40B4-BE49-F238E27FC236}">
                <a16:creationId xmlns:a16="http://schemas.microsoft.com/office/drawing/2014/main" id="{C2EA4ADE-E99F-C78D-388B-DFA02319B78F}"/>
              </a:ext>
            </a:extLst>
          </p:cNvPr>
          <p:cNvSpPr txBox="1"/>
          <p:nvPr/>
        </p:nvSpPr>
        <p:spPr>
          <a:xfrm>
            <a:off x="685800" y="457199"/>
            <a:ext cx="10820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32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第一階段：先建立可控的原型</a:t>
            </a:r>
          </a:p>
        </p:txBody>
      </p:sp>
      <p:sp>
        <p:nvSpPr>
          <p:cNvPr id="3" name="text_0048">
            <a:extLst>
              <a:ext uri="{FF2B5EF4-FFF2-40B4-BE49-F238E27FC236}">
                <a16:creationId xmlns:a16="http://schemas.microsoft.com/office/drawing/2014/main" id="{DA451065-A3F3-86B5-12B4-419E5E5C8DFF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07</a:t>
            </a:r>
            <a:endParaRPr lang="zh-TW" altLang="en-US" sz="1275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  <p:pic>
        <p:nvPicPr>
          <p:cNvPr id="5" name="source_prototype_photo">
            <a:extLst>
              <a:ext uri="{FF2B5EF4-FFF2-40B4-BE49-F238E27FC236}">
                <a16:creationId xmlns:a16="http://schemas.microsoft.com/office/drawing/2014/main" id="{1BEBB96E-AD64-8497-A82F-E79B8DAF376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07" y="1549400"/>
            <a:ext cx="5150386" cy="4318000"/>
          </a:xfrm>
          <a:prstGeom prst="rect">
            <a:avLst/>
          </a:prstGeom>
        </p:spPr>
      </p:pic>
      <p:sp>
        <p:nvSpPr>
          <p:cNvPr id="6" name="text_0049">
            <a:extLst>
              <a:ext uri="{FF2B5EF4-FFF2-40B4-BE49-F238E27FC236}">
                <a16:creationId xmlns:a16="http://schemas.microsoft.com/office/drawing/2014/main" id="{69886A3D-FD22-02A2-4168-6DD7BF741816}"/>
              </a:ext>
            </a:extLst>
          </p:cNvPr>
          <p:cNvSpPr txBox="1"/>
          <p:nvPr/>
        </p:nvSpPr>
        <p:spPr>
          <a:xfrm>
            <a:off x="6553200" y="2270844"/>
            <a:ext cx="4953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4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實驗條件</a:t>
            </a:r>
          </a:p>
        </p:txBody>
      </p:sp>
      <p:sp>
        <p:nvSpPr>
          <p:cNvPr id="7" name="text_0050">
            <a:extLst>
              <a:ext uri="{FF2B5EF4-FFF2-40B4-BE49-F238E27FC236}">
                <a16:creationId xmlns:a16="http://schemas.microsoft.com/office/drawing/2014/main" id="{B8EB70CE-A776-F6BB-A032-E175131E5409}"/>
              </a:ext>
            </a:extLst>
          </p:cNvPr>
          <p:cNvSpPr txBox="1"/>
          <p:nvPr/>
        </p:nvSpPr>
        <p:spPr>
          <a:xfrm>
            <a:off x="6553200" y="2689944"/>
            <a:ext cx="49530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以猴偶與模擬果園取代難以隨時取得的真猴，先排除場域變因。</a:t>
            </a:r>
          </a:p>
        </p:txBody>
      </p:sp>
      <p:sp>
        <p:nvSpPr>
          <p:cNvPr id="8" name="text_0051">
            <a:extLst>
              <a:ext uri="{FF2B5EF4-FFF2-40B4-BE49-F238E27FC236}">
                <a16:creationId xmlns:a16="http://schemas.microsoft.com/office/drawing/2014/main" id="{9E6275B3-D673-8818-8605-944162DDA65D}"/>
              </a:ext>
            </a:extLst>
          </p:cNvPr>
          <p:cNvSpPr txBox="1"/>
          <p:nvPr/>
        </p:nvSpPr>
        <p:spPr>
          <a:xfrm>
            <a:off x="6553200" y="4267200"/>
            <a:ext cx="4953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400" b="1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系統組成</a:t>
            </a:r>
          </a:p>
        </p:txBody>
      </p:sp>
      <p:sp>
        <p:nvSpPr>
          <p:cNvPr id="9" name="text_0052">
            <a:extLst>
              <a:ext uri="{FF2B5EF4-FFF2-40B4-BE49-F238E27FC236}">
                <a16:creationId xmlns:a16="http://schemas.microsoft.com/office/drawing/2014/main" id="{D7D4A58F-6C44-2C24-854A-B8A8010AAA7A}"/>
              </a:ext>
            </a:extLst>
          </p:cNvPr>
          <p:cNvSpPr txBox="1"/>
          <p:nvPr/>
        </p:nvSpPr>
        <p:spPr>
          <a:xfrm>
            <a:off x="6553200" y="4686300"/>
            <a:ext cx="49530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IP </a:t>
            </a: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攝影機、</a:t>
            </a: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YOLOv5n</a:t>
            </a: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、伺服馬達與雷射；透過 </a:t>
            </a: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MQTT </a:t>
            </a: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傳送控制指令。</a:t>
            </a:r>
          </a:p>
        </p:txBody>
      </p:sp>
    </p:spTree>
    <p:extLst>
      <p:ext uri="{BB962C8B-B14F-4D97-AF65-F5344CB8AC3E}">
        <p14:creationId xmlns:p14="http://schemas.microsoft.com/office/powerpoint/2010/main" val="1408350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056">
            <a:extLst>
              <a:ext uri="{FF2B5EF4-FFF2-40B4-BE49-F238E27FC236}">
                <a16:creationId xmlns:a16="http://schemas.microsoft.com/office/drawing/2014/main" id="{1160B47C-0E01-CFF2-22AA-6895F035449F}"/>
              </a:ext>
            </a:extLst>
          </p:cNvPr>
          <p:cNvSpPr txBox="1"/>
          <p:nvPr/>
        </p:nvSpPr>
        <p:spPr>
          <a:xfrm>
            <a:off x="685800" y="457199"/>
            <a:ext cx="10820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32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影像資料：辨識目標與光點</a:t>
            </a:r>
          </a:p>
        </p:txBody>
      </p:sp>
      <p:sp>
        <p:nvSpPr>
          <p:cNvPr id="3" name="text_0057">
            <a:extLst>
              <a:ext uri="{FF2B5EF4-FFF2-40B4-BE49-F238E27FC236}">
                <a16:creationId xmlns:a16="http://schemas.microsoft.com/office/drawing/2014/main" id="{83B465E7-9862-5C29-6726-936EAD382AE6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 dirty="0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08</a:t>
            </a:r>
            <a:endParaRPr lang="zh-TW" altLang="en-US" sz="1275" dirty="0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  <p:pic>
        <p:nvPicPr>
          <p:cNvPr id="5" name="source_training_photo">
            <a:extLst>
              <a:ext uri="{FF2B5EF4-FFF2-40B4-BE49-F238E27FC236}">
                <a16:creationId xmlns:a16="http://schemas.microsoft.com/office/drawing/2014/main" id="{CE5EFF51-B027-EA96-F9DC-137BD74541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294082"/>
            <a:ext cx="5334000" cy="2828636"/>
          </a:xfrm>
          <a:prstGeom prst="rect">
            <a:avLst/>
          </a:prstGeom>
        </p:spPr>
      </p:pic>
      <p:sp>
        <p:nvSpPr>
          <p:cNvPr id="6" name="text_0058">
            <a:extLst>
              <a:ext uri="{FF2B5EF4-FFF2-40B4-BE49-F238E27FC236}">
                <a16:creationId xmlns:a16="http://schemas.microsoft.com/office/drawing/2014/main" id="{A2177448-6F40-BA95-C441-CEC8F4B6D08D}"/>
              </a:ext>
            </a:extLst>
          </p:cNvPr>
          <p:cNvSpPr txBox="1"/>
          <p:nvPr/>
        </p:nvSpPr>
        <p:spPr>
          <a:xfrm>
            <a:off x="6553200" y="1549399"/>
            <a:ext cx="4953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4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資料集</a:t>
            </a:r>
          </a:p>
        </p:txBody>
      </p:sp>
      <p:sp>
        <p:nvSpPr>
          <p:cNvPr id="7" name="text_0059">
            <a:extLst>
              <a:ext uri="{FF2B5EF4-FFF2-40B4-BE49-F238E27FC236}">
                <a16:creationId xmlns:a16="http://schemas.microsoft.com/office/drawing/2014/main" id="{E8CE3B3B-405F-9962-70E6-430D09697FD3}"/>
              </a:ext>
            </a:extLst>
          </p:cNvPr>
          <p:cNvSpPr txBox="1"/>
          <p:nvPr/>
        </p:nvSpPr>
        <p:spPr>
          <a:xfrm>
            <a:off x="6553200" y="1968499"/>
            <a:ext cx="49530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6,000 </a:t>
            </a: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張猴偶影像，涵蓋光照與遮擋變化，並使用影像增強。</a:t>
            </a:r>
          </a:p>
        </p:txBody>
      </p:sp>
      <p:sp>
        <p:nvSpPr>
          <p:cNvPr id="8" name="text_0060">
            <a:extLst>
              <a:ext uri="{FF2B5EF4-FFF2-40B4-BE49-F238E27FC236}">
                <a16:creationId xmlns:a16="http://schemas.microsoft.com/office/drawing/2014/main" id="{7CDDCC1D-3ACD-BD69-788E-CA1EF06281E9}"/>
              </a:ext>
            </a:extLst>
          </p:cNvPr>
          <p:cNvSpPr txBox="1"/>
          <p:nvPr/>
        </p:nvSpPr>
        <p:spPr>
          <a:xfrm>
            <a:off x="6553200" y="3060699"/>
            <a:ext cx="4953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sz="24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YOLOv5n </a:t>
            </a:r>
            <a:r>
              <a:rPr lang="zh-TW" altLang="en-US" sz="24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訓練與檢驗</a:t>
            </a:r>
          </a:p>
        </p:txBody>
      </p:sp>
      <p:sp>
        <p:nvSpPr>
          <p:cNvPr id="9" name="text_0061">
            <a:extLst>
              <a:ext uri="{FF2B5EF4-FFF2-40B4-BE49-F238E27FC236}">
                <a16:creationId xmlns:a16="http://schemas.microsoft.com/office/drawing/2014/main" id="{72BA576D-72BC-032F-7AB7-AE22688E0E04}"/>
              </a:ext>
            </a:extLst>
          </p:cNvPr>
          <p:cNvSpPr txBox="1"/>
          <p:nvPr/>
        </p:nvSpPr>
        <p:spPr>
          <a:xfrm>
            <a:off x="6553200" y="3479799"/>
            <a:ext cx="49530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投影片列出訓練／驗證／測試為 </a:t>
            </a: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70%</a:t>
            </a: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／</a:t>
            </a: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20%</a:t>
            </a: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／</a:t>
            </a: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10%</a:t>
            </a: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，其中測試資料用於檢查泛化。</a:t>
            </a:r>
          </a:p>
        </p:txBody>
      </p:sp>
      <p:sp>
        <p:nvSpPr>
          <p:cNvPr id="10" name="text_0062">
            <a:extLst>
              <a:ext uri="{FF2B5EF4-FFF2-40B4-BE49-F238E27FC236}">
                <a16:creationId xmlns:a16="http://schemas.microsoft.com/office/drawing/2014/main" id="{A058426C-BEBC-6DB3-C964-20F254735457}"/>
              </a:ext>
            </a:extLst>
          </p:cNvPr>
          <p:cNvSpPr txBox="1"/>
          <p:nvPr/>
        </p:nvSpPr>
        <p:spPr>
          <a:xfrm>
            <a:off x="6553200" y="4571999"/>
            <a:ext cx="4953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400" b="1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圖像判讀</a:t>
            </a:r>
          </a:p>
        </p:txBody>
      </p:sp>
      <p:sp>
        <p:nvSpPr>
          <p:cNvPr id="11" name="text_0063">
            <a:extLst>
              <a:ext uri="{FF2B5EF4-FFF2-40B4-BE49-F238E27FC236}">
                <a16:creationId xmlns:a16="http://schemas.microsoft.com/office/drawing/2014/main" id="{D6E0A9A8-9332-839B-0314-523758460A0E}"/>
              </a:ext>
            </a:extLst>
          </p:cNvPr>
          <p:cNvSpPr txBox="1"/>
          <p:nvPr/>
        </p:nvSpPr>
        <p:spPr>
          <a:xfrm>
            <a:off x="6553200" y="4991099"/>
            <a:ext cx="49530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框中的 </a:t>
            </a: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0.92</a:t>
            </a: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0.81 </a:t>
            </a: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是單次偵測的信心分數。</a:t>
            </a:r>
          </a:p>
        </p:txBody>
      </p:sp>
      <p:sp>
        <p:nvSpPr>
          <p:cNvPr id="12" name="text_0064">
            <a:extLst>
              <a:ext uri="{FF2B5EF4-FFF2-40B4-BE49-F238E27FC236}">
                <a16:creationId xmlns:a16="http://schemas.microsoft.com/office/drawing/2014/main" id="{4A453210-C83B-1708-1266-A3D58DF267D9}"/>
              </a:ext>
            </a:extLst>
          </p:cNvPr>
          <p:cNvSpPr txBox="1"/>
          <p:nvPr/>
        </p:nvSpPr>
        <p:spPr>
          <a:xfrm>
            <a:off x="685800" y="5314949"/>
            <a:ext cx="533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1600" dirty="0">
                <a:solidFill>
                  <a:srgbClr val="53627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猴偶與光點的偵測畫面</a:t>
            </a:r>
          </a:p>
        </p:txBody>
      </p:sp>
    </p:spTree>
    <p:extLst>
      <p:ext uri="{BB962C8B-B14F-4D97-AF65-F5344CB8AC3E}">
        <p14:creationId xmlns:p14="http://schemas.microsoft.com/office/powerpoint/2010/main" val="1016828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72568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874"/>
              </a:lnSpc>
              <a:spcAft>
                <a:spcPts val="0"/>
              </a:spcAft>
            </a:pPr>
            <a:r>
              <a:rPr lang="zh-TW" altLang="en-US" sz="3200" b="1" dirty="0">
                <a:solidFill>
                  <a:srgbClr val="172536"/>
                </a:solidFill>
                <a:latin typeface="Microsoft JhengHei"/>
                <a:ea typeface="Microsoft JhengHei"/>
              </a:rPr>
              <a:t>像素座標：像素座標轉換為角度</a:t>
            </a:r>
            <a:endParaRPr lang="zh-TW" sz="3200" dirty="0"/>
          </a:p>
        </p:txBody>
      </p:sp>
      <p:sp>
        <p:nvSpPr>
          <p:cNvPr id="4" name="text_4"/>
          <p:cNvSpPr txBox="1"/>
          <p:nvPr/>
        </p:nvSpPr>
        <p:spPr>
          <a:xfrm>
            <a:off x="685800" y="2187920"/>
            <a:ext cx="32385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829"/>
              </a:lnSpc>
              <a:spcAft>
                <a:spcPts val="0"/>
              </a:spcAft>
            </a:pPr>
            <a:r>
              <a:rPr lang="zh-TW" altLang="en-US" sz="2400" b="1" dirty="0">
                <a:solidFill>
                  <a:srgbClr val="235DB5"/>
                </a:solidFill>
                <a:latin typeface="Microsoft JhengHei"/>
                <a:ea typeface="Microsoft JhengHei"/>
              </a:rPr>
              <a:t>量測配對</a:t>
            </a:r>
            <a:endParaRPr lang="zh-TW" sz="2400" dirty="0"/>
          </a:p>
        </p:txBody>
      </p:sp>
      <p:sp>
        <p:nvSpPr>
          <p:cNvPr id="5" name="text_5"/>
          <p:cNvSpPr txBox="1"/>
          <p:nvPr/>
        </p:nvSpPr>
        <p:spPr>
          <a:xfrm>
            <a:off x="685800" y="2949920"/>
            <a:ext cx="3238500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轉動伺服馬達，記錄每個角</a:t>
            </a:r>
            <a:endParaRPr lang="zh-TW" sz="2000" dirty="0"/>
          </a:p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度對應的影像光點位置。</a:t>
            </a:r>
            <a:endParaRPr lang="zh-TW" sz="2000" dirty="0"/>
          </a:p>
        </p:txBody>
      </p:sp>
      <p:cxnSp>
        <p:nvCxnSpPr>
          <p:cNvPr id="6" name="line_6"/>
          <p:cNvCxnSpPr/>
          <p:nvPr/>
        </p:nvCxnSpPr>
        <p:spPr>
          <a:xfrm>
            <a:off x="3937000" y="2734020"/>
            <a:ext cx="3048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7" name="text_7"/>
          <p:cNvSpPr txBox="1"/>
          <p:nvPr/>
        </p:nvSpPr>
        <p:spPr>
          <a:xfrm>
            <a:off x="4368800" y="2187920"/>
            <a:ext cx="32385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829"/>
              </a:lnSpc>
              <a:spcAft>
                <a:spcPts val="0"/>
              </a:spcAft>
            </a:pPr>
            <a:r>
              <a:rPr lang="zh-TW" altLang="en-US" sz="2400" b="1" dirty="0">
                <a:solidFill>
                  <a:srgbClr val="235DB5"/>
                </a:solidFill>
                <a:latin typeface="Microsoft JhengHei"/>
                <a:ea typeface="Microsoft JhengHei"/>
              </a:rPr>
              <a:t>擬合關係</a:t>
            </a:r>
            <a:endParaRPr lang="zh-TW" sz="2400" dirty="0"/>
          </a:p>
        </p:txBody>
      </p:sp>
      <p:sp>
        <p:nvSpPr>
          <p:cNvPr id="8" name="text_8"/>
          <p:cNvSpPr txBox="1"/>
          <p:nvPr/>
        </p:nvSpPr>
        <p:spPr>
          <a:xfrm>
            <a:off x="4368800" y="2949920"/>
            <a:ext cx="3238500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以校正資料建立像素位置與</a:t>
            </a:r>
            <a:endParaRPr lang="zh-TW" sz="2000"/>
          </a:p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轉向角度的線性對應。</a:t>
            </a:r>
            <a:endParaRPr lang="zh-TW" sz="2000"/>
          </a:p>
        </p:txBody>
      </p:sp>
      <p:cxnSp>
        <p:nvCxnSpPr>
          <p:cNvPr id="9" name="line_9"/>
          <p:cNvCxnSpPr/>
          <p:nvPr/>
        </p:nvCxnSpPr>
        <p:spPr>
          <a:xfrm>
            <a:off x="7620000" y="2734020"/>
            <a:ext cx="3048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10" name="text_10"/>
          <p:cNvSpPr txBox="1"/>
          <p:nvPr/>
        </p:nvSpPr>
        <p:spPr>
          <a:xfrm>
            <a:off x="8051800" y="2187920"/>
            <a:ext cx="32385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829"/>
              </a:lnSpc>
              <a:spcAft>
                <a:spcPts val="0"/>
              </a:spcAft>
            </a:pPr>
            <a:r>
              <a:rPr lang="zh-TW" altLang="en-US" sz="2400" b="1">
                <a:solidFill>
                  <a:srgbClr val="235DB5"/>
                </a:solidFill>
                <a:latin typeface="Microsoft JhengHei"/>
                <a:ea typeface="Microsoft JhengHei"/>
              </a:rPr>
              <a:t>即時計算</a:t>
            </a:r>
            <a:endParaRPr lang="zh-TW" sz="2400"/>
          </a:p>
        </p:txBody>
      </p:sp>
      <p:sp>
        <p:nvSpPr>
          <p:cNvPr id="11" name="text_11"/>
          <p:cNvSpPr txBox="1"/>
          <p:nvPr/>
        </p:nvSpPr>
        <p:spPr>
          <a:xfrm>
            <a:off x="8051800" y="2949920"/>
            <a:ext cx="3238500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偵測目標中心後，代入關係</a:t>
            </a:r>
            <a:endParaRPr lang="zh-TW" sz="2000"/>
          </a:p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式，換算雷射轉向指令。</a:t>
            </a:r>
            <a:endParaRPr lang="zh-TW" sz="2000"/>
          </a:p>
        </p:txBody>
      </p:sp>
      <p:sp>
        <p:nvSpPr>
          <p:cNvPr id="14" name="text_0057">
            <a:extLst>
              <a:ext uri="{FF2B5EF4-FFF2-40B4-BE49-F238E27FC236}">
                <a16:creationId xmlns:a16="http://schemas.microsoft.com/office/drawing/2014/main" id="{CF9F5204-F4C0-DAA2-FD6B-9C42F2003FA1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 dirty="0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09</a:t>
            </a:r>
            <a:endParaRPr lang="zh-TW" altLang="en-US" sz="1275" dirty="0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074">
            <a:extLst>
              <a:ext uri="{FF2B5EF4-FFF2-40B4-BE49-F238E27FC236}">
                <a16:creationId xmlns:a16="http://schemas.microsoft.com/office/drawing/2014/main" id="{F8E2CBE4-6F59-9B57-73E5-AD809D51ECD1}"/>
              </a:ext>
            </a:extLst>
          </p:cNvPr>
          <p:cNvSpPr txBox="1"/>
          <p:nvPr/>
        </p:nvSpPr>
        <p:spPr>
          <a:xfrm>
            <a:off x="685800" y="457199"/>
            <a:ext cx="10820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32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第一階段結果：問題與限制</a:t>
            </a:r>
          </a:p>
        </p:txBody>
      </p:sp>
      <p:sp>
        <p:nvSpPr>
          <p:cNvPr id="3" name="text_0075">
            <a:extLst>
              <a:ext uri="{FF2B5EF4-FFF2-40B4-BE49-F238E27FC236}">
                <a16:creationId xmlns:a16="http://schemas.microsoft.com/office/drawing/2014/main" id="{D749C379-1282-463B-07A4-C338F4ECA1CC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 dirty="0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10</a:t>
            </a:r>
            <a:endParaRPr lang="zh-TW" altLang="en-US" sz="1275" dirty="0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295CBD1-ECFB-90F8-3C9F-ADE04F87F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653075"/>
              </p:ext>
            </p:extLst>
          </p:nvPr>
        </p:nvGraphicFramePr>
        <p:xfrm>
          <a:off x="685800" y="1587500"/>
          <a:ext cx="108204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3991786229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1708878142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85721789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975" b="1" dirty="0">
                          <a:solidFill>
                            <a:srgbClr val="235DB5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演講所列問題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975" b="1">
                          <a:solidFill>
                            <a:srgbClr val="235DB5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數值／條件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975" b="1" dirty="0">
                          <a:solidFill>
                            <a:srgbClr val="235DB5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如何解讀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05459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925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影像擷取頻率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925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 fps</a:t>
                      </a:r>
                      <a:r>
                        <a:rPr lang="zh-TW" altLang="en-US" sz="1925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，約每 </a:t>
                      </a:r>
                      <a:r>
                        <a:rPr lang="en-US" altLang="zh-TW" sz="1925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0.5 </a:t>
                      </a:r>
                      <a:r>
                        <a:rPr lang="zh-TW" altLang="en-US" sz="1925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秒一張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925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決定影像更新節奏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49175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925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偵測到人臉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925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21% </a:t>
                      </a:r>
                      <a:r>
                        <a:rPr lang="zh-TW" altLang="en-US" sz="1925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誤觸發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925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應只標註獼猴，人當作背景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47669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925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模型辨識表現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925" b="0" dirty="0" err="1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mAP</a:t>
                      </a:r>
                      <a:r>
                        <a:rPr lang="en-US" altLang="zh-TW" sz="1925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sz="1925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由 </a:t>
                      </a:r>
                      <a:r>
                        <a:rPr lang="en-US" altLang="zh-TW" sz="1925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0.94</a:t>
                      </a:r>
                      <a:r>
                        <a:rPr lang="zh-TW" altLang="en-US" sz="1925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降到 </a:t>
                      </a:r>
                      <a:r>
                        <a:rPr lang="en-US" altLang="zh-TW" sz="1925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0.61</a:t>
                      </a:r>
                      <a:endParaRPr lang="zh-TW" altLang="en-US" sz="1925" b="0" dirty="0">
                        <a:solidFill>
                          <a:srgbClr val="172536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925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夜間偵測所受之影響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23765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925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主要限制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925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人類誤判、夜間與多目標情境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925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成為下一階段的研究問題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829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3143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077">
            <a:extLst>
              <a:ext uri="{FF2B5EF4-FFF2-40B4-BE49-F238E27FC236}">
                <a16:creationId xmlns:a16="http://schemas.microsoft.com/office/drawing/2014/main" id="{59269FED-F084-A262-D82C-95AC824281E6}"/>
              </a:ext>
            </a:extLst>
          </p:cNvPr>
          <p:cNvSpPr txBox="1"/>
          <p:nvPr/>
        </p:nvSpPr>
        <p:spPr>
          <a:xfrm>
            <a:off x="685800" y="457199"/>
            <a:ext cx="10820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32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第二階段：進入真實果園</a:t>
            </a:r>
          </a:p>
        </p:txBody>
      </p:sp>
      <p:sp>
        <p:nvSpPr>
          <p:cNvPr id="3" name="text_0078">
            <a:extLst>
              <a:ext uri="{FF2B5EF4-FFF2-40B4-BE49-F238E27FC236}">
                <a16:creationId xmlns:a16="http://schemas.microsoft.com/office/drawing/2014/main" id="{5DBF0A74-050B-0DD8-DDE2-6B6D6607E31E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 dirty="0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11</a:t>
            </a:r>
            <a:endParaRPr lang="zh-TW" altLang="en-US" sz="1275" dirty="0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  <p:pic>
        <p:nvPicPr>
          <p:cNvPr id="5" name="source_field_photo">
            <a:extLst>
              <a:ext uri="{FF2B5EF4-FFF2-40B4-BE49-F238E27FC236}">
                <a16:creationId xmlns:a16="http://schemas.microsoft.com/office/drawing/2014/main" id="{DDE91EB9-8AAE-AD8D-4F8B-E6255CE5B7D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470368"/>
            <a:ext cx="10820400" cy="2456763"/>
          </a:xfrm>
          <a:prstGeom prst="rect">
            <a:avLst/>
          </a:prstGeom>
        </p:spPr>
      </p:pic>
      <p:sp>
        <p:nvSpPr>
          <p:cNvPr id="6" name="text_0079">
            <a:extLst>
              <a:ext uri="{FF2B5EF4-FFF2-40B4-BE49-F238E27FC236}">
                <a16:creationId xmlns:a16="http://schemas.microsoft.com/office/drawing/2014/main" id="{3CA34610-1AA3-950F-4577-C5106840C1EB}"/>
              </a:ext>
            </a:extLst>
          </p:cNvPr>
          <p:cNvSpPr txBox="1"/>
          <p:nvPr/>
        </p:nvSpPr>
        <p:spPr>
          <a:xfrm>
            <a:off x="685800" y="4229099"/>
            <a:ext cx="2032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0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場域與設備</a:t>
            </a:r>
          </a:p>
        </p:txBody>
      </p:sp>
      <p:sp>
        <p:nvSpPr>
          <p:cNvPr id="7" name="text_0080">
            <a:extLst>
              <a:ext uri="{FF2B5EF4-FFF2-40B4-BE49-F238E27FC236}">
                <a16:creationId xmlns:a16="http://schemas.microsoft.com/office/drawing/2014/main" id="{7EEA79DB-7FE6-DB52-5F9D-22B68E4BD456}"/>
              </a:ext>
            </a:extLst>
          </p:cNvPr>
          <p:cNvSpPr txBox="1"/>
          <p:nvPr/>
        </p:nvSpPr>
        <p:spPr>
          <a:xfrm>
            <a:off x="2844800" y="4229099"/>
            <a:ext cx="8661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19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宜蘭頭城果園，約五公頃；演講列出四組邊緣運算與驅離設備。</a:t>
            </a:r>
          </a:p>
        </p:txBody>
      </p:sp>
      <p:sp>
        <p:nvSpPr>
          <p:cNvPr id="8" name="text_0081">
            <a:extLst>
              <a:ext uri="{FF2B5EF4-FFF2-40B4-BE49-F238E27FC236}">
                <a16:creationId xmlns:a16="http://schemas.microsoft.com/office/drawing/2014/main" id="{5D76352B-89DB-F624-DDF0-602D7DFCDB60}"/>
              </a:ext>
            </a:extLst>
          </p:cNvPr>
          <p:cNvSpPr txBox="1"/>
          <p:nvPr/>
        </p:nvSpPr>
        <p:spPr>
          <a:xfrm>
            <a:off x="685800" y="4902199"/>
            <a:ext cx="2032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000" b="1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實驗時間</a:t>
            </a:r>
          </a:p>
        </p:txBody>
      </p:sp>
      <p:sp>
        <p:nvSpPr>
          <p:cNvPr id="9" name="text_0082">
            <a:extLst>
              <a:ext uri="{FF2B5EF4-FFF2-40B4-BE49-F238E27FC236}">
                <a16:creationId xmlns:a16="http://schemas.microsoft.com/office/drawing/2014/main" id="{F06720D6-0D11-5E6B-2032-7568FD915222}"/>
              </a:ext>
            </a:extLst>
          </p:cNvPr>
          <p:cNvSpPr txBox="1"/>
          <p:nvPr/>
        </p:nvSpPr>
        <p:spPr>
          <a:xfrm>
            <a:off x="2844800" y="4902199"/>
            <a:ext cx="8661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19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先進行 </a:t>
            </a:r>
            <a:r>
              <a:rPr lang="en-US" altLang="zh-TW" sz="19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7 </a:t>
            </a:r>
            <a:r>
              <a:rPr lang="zh-TW" altLang="en-US" sz="19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天基線觀察，只偵測、不驅離，再進行 </a:t>
            </a:r>
            <a:r>
              <a:rPr lang="en-US" altLang="zh-TW" sz="19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21 </a:t>
            </a:r>
            <a:r>
              <a:rPr lang="zh-TW" altLang="en-US" sz="19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天的策略比較。</a:t>
            </a:r>
          </a:p>
        </p:txBody>
      </p:sp>
      <p:sp>
        <p:nvSpPr>
          <p:cNvPr id="10" name="text_0083">
            <a:extLst>
              <a:ext uri="{FF2B5EF4-FFF2-40B4-BE49-F238E27FC236}">
                <a16:creationId xmlns:a16="http://schemas.microsoft.com/office/drawing/2014/main" id="{416625F1-1594-4518-052F-A52043AD2E37}"/>
              </a:ext>
            </a:extLst>
          </p:cNvPr>
          <p:cNvSpPr txBox="1"/>
          <p:nvPr/>
        </p:nvSpPr>
        <p:spPr>
          <a:xfrm>
            <a:off x="685800" y="5575299"/>
            <a:ext cx="2032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000" b="1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比較目的</a:t>
            </a:r>
          </a:p>
        </p:txBody>
      </p:sp>
      <p:sp>
        <p:nvSpPr>
          <p:cNvPr id="11" name="text_0084">
            <a:extLst>
              <a:ext uri="{FF2B5EF4-FFF2-40B4-BE49-F238E27FC236}">
                <a16:creationId xmlns:a16="http://schemas.microsoft.com/office/drawing/2014/main" id="{5E8FD651-5FC9-1638-7CF0-11DD76604C53}"/>
              </a:ext>
            </a:extLst>
          </p:cNvPr>
          <p:cNvSpPr txBox="1"/>
          <p:nvPr/>
        </p:nvSpPr>
        <p:spPr>
          <a:xfrm>
            <a:off x="2844800" y="5575299"/>
            <a:ext cx="8661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190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觀察入侵頻率與行為隨時間的變化，而非只展示一次成功驅趕。</a:t>
            </a:r>
          </a:p>
        </p:txBody>
      </p:sp>
    </p:spTree>
    <p:extLst>
      <p:ext uri="{BB962C8B-B14F-4D97-AF65-F5344CB8AC3E}">
        <p14:creationId xmlns:p14="http://schemas.microsoft.com/office/powerpoint/2010/main" val="3252310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874"/>
              </a:lnSpc>
              <a:spcAft>
                <a:spcPts val="0"/>
              </a:spcAft>
            </a:pPr>
            <a:r>
              <a:rPr lang="zh-TW" altLang="en-US" sz="3200" b="1" dirty="0">
                <a:solidFill>
                  <a:srgbClr val="172536"/>
                </a:solidFill>
                <a:latin typeface="Microsoft JhengHei"/>
                <a:ea typeface="Microsoft JhengHei"/>
              </a:rPr>
              <a:t>系統架構</a:t>
            </a:r>
            <a:r>
              <a:rPr lang="zh-TW" altLang="en-US" sz="3150" b="1" dirty="0">
                <a:solidFill>
                  <a:srgbClr val="172536"/>
                </a:solidFill>
                <a:latin typeface="Microsoft JhengHei"/>
                <a:ea typeface="Microsoft JhengHei"/>
              </a:rPr>
              <a:t>：邊緣反應與雲端優化</a:t>
            </a:r>
            <a:endParaRPr lang="zh-TW" sz="3150" dirty="0"/>
          </a:p>
        </p:txBody>
      </p:sp>
      <p:sp>
        <p:nvSpPr>
          <p:cNvPr id="4" name="text_4"/>
          <p:cNvSpPr txBox="1"/>
          <p:nvPr/>
        </p:nvSpPr>
        <p:spPr>
          <a:xfrm>
            <a:off x="685800" y="1689100"/>
            <a:ext cx="32385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 dirty="0">
                <a:solidFill>
                  <a:srgbClr val="235DB5"/>
                </a:solidFill>
                <a:latin typeface="Microsoft JhengHei"/>
                <a:ea typeface="Microsoft JhengHei"/>
              </a:rPr>
              <a:t>感知：偵測與追蹤</a:t>
            </a:r>
            <a:endParaRPr lang="zh-TW" sz="2300" dirty="0"/>
          </a:p>
        </p:txBody>
      </p:sp>
      <p:sp>
        <p:nvSpPr>
          <p:cNvPr id="5" name="text_5"/>
          <p:cNvSpPr txBox="1"/>
          <p:nvPr/>
        </p:nvSpPr>
        <p:spPr>
          <a:xfrm>
            <a:off x="685800" y="2451100"/>
            <a:ext cx="3238500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YOLOv12n：獼猴、光點</a:t>
            </a:r>
            <a:endParaRPr lang="zh-TW" sz="2000" dirty="0"/>
          </a:p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BoT-SORT：維持個體 ID</a:t>
            </a:r>
            <a:endParaRPr lang="zh-TW" sz="2000" dirty="0"/>
          </a:p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RGB、NIR、ToF 攝影機</a:t>
            </a:r>
            <a:endParaRPr lang="zh-TW" sz="2000" dirty="0"/>
          </a:p>
        </p:txBody>
      </p:sp>
      <p:cxnSp>
        <p:nvCxnSpPr>
          <p:cNvPr id="6" name="line_6"/>
          <p:cNvCxnSpPr/>
          <p:nvPr/>
        </p:nvCxnSpPr>
        <p:spPr>
          <a:xfrm>
            <a:off x="3937000" y="2235200"/>
            <a:ext cx="3048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7" name="text_7"/>
          <p:cNvSpPr txBox="1"/>
          <p:nvPr/>
        </p:nvSpPr>
        <p:spPr>
          <a:xfrm>
            <a:off x="4368800" y="1689100"/>
            <a:ext cx="32385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 dirty="0">
                <a:solidFill>
                  <a:srgbClr val="235DB5"/>
                </a:solidFill>
                <a:latin typeface="Microsoft JhengHei"/>
                <a:ea typeface="Microsoft JhengHei"/>
              </a:rPr>
              <a:t>決策：DDPG 強化學習</a:t>
            </a:r>
            <a:endParaRPr lang="zh-TW" sz="2300" dirty="0"/>
          </a:p>
        </p:txBody>
      </p:sp>
      <p:sp>
        <p:nvSpPr>
          <p:cNvPr id="8" name="text_8"/>
          <p:cNvSpPr txBox="1"/>
          <p:nvPr/>
        </p:nvSpPr>
        <p:spPr>
          <a:xfrm>
            <a:off x="4368800" y="2451100"/>
            <a:ext cx="3238500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依獼猴狀態選擇動作</a:t>
            </a:r>
            <a:endParaRPr lang="zh-TW" sz="2000" dirty="0"/>
          </a:p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以獎勵函數懲罰固定模式</a:t>
            </a:r>
            <a:endParaRPr lang="zh-TW" sz="2000" dirty="0"/>
          </a:p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目標：降低習慣化</a:t>
            </a:r>
            <a:endParaRPr lang="zh-TW" sz="2000" dirty="0"/>
          </a:p>
        </p:txBody>
      </p:sp>
      <p:cxnSp>
        <p:nvCxnSpPr>
          <p:cNvPr id="9" name="line_9"/>
          <p:cNvCxnSpPr/>
          <p:nvPr/>
        </p:nvCxnSpPr>
        <p:spPr>
          <a:xfrm>
            <a:off x="7620000" y="2235200"/>
            <a:ext cx="3048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10" name="text_10"/>
          <p:cNvSpPr txBox="1"/>
          <p:nvPr/>
        </p:nvSpPr>
        <p:spPr>
          <a:xfrm>
            <a:off x="8051800" y="1689100"/>
            <a:ext cx="32385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行動：校正與雷射</a:t>
            </a:r>
            <a:endParaRPr lang="zh-TW" sz="2300"/>
          </a:p>
        </p:txBody>
      </p:sp>
      <p:sp>
        <p:nvSpPr>
          <p:cNvPr id="11" name="text_11"/>
          <p:cNvSpPr txBox="1"/>
          <p:nvPr/>
        </p:nvSpPr>
        <p:spPr>
          <a:xfrm>
            <a:off x="8051800" y="2451100"/>
            <a:ext cx="3238500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二次多項式換算角度</a:t>
            </a:r>
            <a:endParaRPr lang="zh-TW" sz="2000"/>
          </a:p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多台雷射分工</a:t>
            </a:r>
            <a:endParaRPr lang="zh-TW" sz="2000"/>
          </a:p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雲台調整雷射方向</a:t>
            </a:r>
            <a:endParaRPr lang="zh-TW" sz="2000"/>
          </a:p>
        </p:txBody>
      </p:sp>
      <p:cxnSp>
        <p:nvCxnSpPr>
          <p:cNvPr id="12" name="line_12"/>
          <p:cNvCxnSpPr/>
          <p:nvPr/>
        </p:nvCxnSpPr>
        <p:spPr>
          <a:xfrm>
            <a:off x="685800" y="45085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13" name="text_13"/>
          <p:cNvSpPr txBox="1"/>
          <p:nvPr/>
        </p:nvSpPr>
        <p:spPr>
          <a:xfrm>
            <a:off x="685800" y="4749800"/>
            <a:ext cx="1905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邊緣端</a:t>
            </a:r>
            <a:endParaRPr lang="zh-TW" sz="2100"/>
          </a:p>
        </p:txBody>
      </p:sp>
      <p:sp>
        <p:nvSpPr>
          <p:cNvPr id="14" name="text_14"/>
          <p:cNvSpPr txBox="1"/>
          <p:nvPr/>
        </p:nvSpPr>
        <p:spPr>
          <a:xfrm>
            <a:off x="2781300" y="4749800"/>
            <a:ext cx="87249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Jetson 即時執行偵測、追蹤與 DDPG 決策。</a:t>
            </a:r>
            <a:endParaRPr lang="zh-TW" sz="2000" dirty="0"/>
          </a:p>
        </p:txBody>
      </p:sp>
      <p:sp>
        <p:nvSpPr>
          <p:cNvPr id="15" name="text_15"/>
          <p:cNvSpPr txBox="1"/>
          <p:nvPr/>
        </p:nvSpPr>
        <p:spPr>
          <a:xfrm>
            <a:off x="685800" y="5372100"/>
            <a:ext cx="1905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雲端</a:t>
            </a:r>
            <a:endParaRPr lang="zh-TW" sz="2100"/>
          </a:p>
        </p:txBody>
      </p:sp>
      <p:sp>
        <p:nvSpPr>
          <p:cNvPr id="16" name="text_16"/>
          <p:cNvSpPr txBox="1"/>
          <p:nvPr/>
        </p:nvSpPr>
        <p:spPr>
          <a:xfrm>
            <a:off x="2781300" y="5372100"/>
            <a:ext cx="8724900" cy="698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資料儲存、模型再訓練與網頁人機介面（Web HMI）。</a:t>
            </a:r>
            <a:endParaRPr lang="zh-TW" sz="2000" dirty="0"/>
          </a:p>
        </p:txBody>
      </p:sp>
      <p:sp>
        <p:nvSpPr>
          <p:cNvPr id="19" name="text_0078">
            <a:extLst>
              <a:ext uri="{FF2B5EF4-FFF2-40B4-BE49-F238E27FC236}">
                <a16:creationId xmlns:a16="http://schemas.microsoft.com/office/drawing/2014/main" id="{940A1955-55CD-9A67-E02A-F90CBED10159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 dirty="0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12</a:t>
            </a:r>
            <a:endParaRPr lang="zh-TW" altLang="en-US" sz="1275" dirty="0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874"/>
              </a:lnSpc>
              <a:spcAft>
                <a:spcPts val="0"/>
              </a:spcAft>
            </a:pPr>
            <a:r>
              <a:rPr lang="zh-TW" altLang="en-US" sz="3150" b="1" dirty="0">
                <a:solidFill>
                  <a:srgbClr val="172536"/>
                </a:solidFill>
                <a:latin typeface="Microsoft JhengHei"/>
                <a:ea typeface="Microsoft JhengHei"/>
              </a:rPr>
              <a:t>三</a:t>
            </a:r>
            <a:r>
              <a:rPr lang="zh-TW" altLang="en-US" sz="3200" b="1" dirty="0">
                <a:solidFill>
                  <a:srgbClr val="172536"/>
                </a:solidFill>
                <a:latin typeface="Microsoft JhengHei"/>
                <a:ea typeface="Microsoft JhengHei"/>
              </a:rPr>
              <a:t>階段</a:t>
            </a:r>
            <a:r>
              <a:rPr lang="zh-TW" altLang="en-US" sz="3150" b="1" dirty="0">
                <a:solidFill>
                  <a:srgbClr val="172536"/>
                </a:solidFill>
                <a:latin typeface="Microsoft JhengHei"/>
                <a:ea typeface="Microsoft JhengHei"/>
              </a:rPr>
              <a:t>訓練：少標註、可擴充、減少遺忘</a:t>
            </a:r>
            <a:endParaRPr lang="zh-TW" sz="3150" dirty="0"/>
          </a:p>
        </p:txBody>
      </p:sp>
      <p:sp>
        <p:nvSpPr>
          <p:cNvPr id="4" name="text_4"/>
          <p:cNvSpPr txBox="1"/>
          <p:nvPr/>
        </p:nvSpPr>
        <p:spPr>
          <a:xfrm>
            <a:off x="685800" y="2053876"/>
            <a:ext cx="3238500" cy="825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644"/>
              </a:lnSpc>
              <a:spcAft>
                <a:spcPts val="0"/>
              </a:spcAft>
            </a:pPr>
            <a:r>
              <a:rPr lang="zh-TW" altLang="en-US" sz="2400" b="1" dirty="0">
                <a:solidFill>
                  <a:srgbClr val="235DB5"/>
                </a:solidFill>
                <a:latin typeface="Microsoft JhengHei"/>
                <a:ea typeface="Microsoft JhengHei"/>
              </a:rPr>
              <a:t>Stage 1</a:t>
            </a:r>
            <a:endParaRPr lang="zh-TW" sz="2400" dirty="0"/>
          </a:p>
          <a:p>
            <a:pPr algn="l">
              <a:lnSpc>
                <a:spcPts val="2644"/>
              </a:lnSpc>
              <a:spcAft>
                <a:spcPts val="0"/>
              </a:spcAft>
            </a:pPr>
            <a:r>
              <a:rPr lang="zh-TW" altLang="en-US" sz="2400" b="1" dirty="0">
                <a:solidFill>
                  <a:srgbClr val="235DB5"/>
                </a:solidFill>
                <a:latin typeface="Microsoft JhengHei"/>
                <a:ea typeface="Microsoft JhengHei"/>
              </a:rPr>
              <a:t>監督式學習</a:t>
            </a:r>
            <a:endParaRPr lang="zh-TW" sz="2400" dirty="0"/>
          </a:p>
        </p:txBody>
      </p:sp>
      <p:sp>
        <p:nvSpPr>
          <p:cNvPr id="5" name="text_5"/>
          <p:cNvSpPr txBox="1"/>
          <p:nvPr/>
        </p:nvSpPr>
        <p:spPr>
          <a:xfrm>
            <a:off x="685800" y="3158776"/>
            <a:ext cx="3238500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僅標註獼猴；人、貓、狗等</a:t>
            </a:r>
            <a:endParaRPr lang="zh-TW" sz="2000" dirty="0"/>
          </a:p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非目標保留為背景。</a:t>
            </a:r>
            <a:endParaRPr lang="zh-TW" sz="2000" dirty="0"/>
          </a:p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加入約 10% 純背景影像，</a:t>
            </a:r>
            <a:endParaRPr lang="zh-TW" sz="2000" dirty="0"/>
          </a:p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建立教師模型。</a:t>
            </a:r>
            <a:endParaRPr lang="zh-TW" sz="2000" dirty="0"/>
          </a:p>
        </p:txBody>
      </p:sp>
      <p:cxnSp>
        <p:nvCxnSpPr>
          <p:cNvPr id="6" name="line_6"/>
          <p:cNvCxnSpPr/>
          <p:nvPr/>
        </p:nvCxnSpPr>
        <p:spPr>
          <a:xfrm>
            <a:off x="3937000" y="2599976"/>
            <a:ext cx="3048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7" name="text_7"/>
          <p:cNvSpPr txBox="1"/>
          <p:nvPr/>
        </p:nvSpPr>
        <p:spPr>
          <a:xfrm>
            <a:off x="4368800" y="2053876"/>
            <a:ext cx="3238500" cy="825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644"/>
              </a:lnSpc>
              <a:spcAft>
                <a:spcPts val="0"/>
              </a:spcAft>
            </a:pPr>
            <a:r>
              <a:rPr lang="zh-TW" altLang="en-US" sz="2400" b="1">
                <a:solidFill>
                  <a:srgbClr val="235DB5"/>
                </a:solidFill>
                <a:latin typeface="Microsoft JhengHei"/>
                <a:ea typeface="Microsoft JhengHei"/>
              </a:rPr>
              <a:t>Stage 2</a:t>
            </a:r>
            <a:endParaRPr lang="zh-TW" sz="2400"/>
          </a:p>
          <a:p>
            <a:pPr algn="l">
              <a:lnSpc>
                <a:spcPts val="2644"/>
              </a:lnSpc>
              <a:spcAft>
                <a:spcPts val="0"/>
              </a:spcAft>
            </a:pPr>
            <a:r>
              <a:rPr lang="zh-TW" altLang="en-US" sz="2400" b="1">
                <a:solidFill>
                  <a:srgbClr val="235DB5"/>
                </a:solidFill>
                <a:latin typeface="Microsoft JhengHei"/>
                <a:ea typeface="Microsoft JhengHei"/>
              </a:rPr>
              <a:t>半監督學習</a:t>
            </a:r>
            <a:endParaRPr lang="zh-TW" sz="2400"/>
          </a:p>
        </p:txBody>
      </p:sp>
      <p:sp>
        <p:nvSpPr>
          <p:cNvPr id="8" name="text_8"/>
          <p:cNvSpPr txBox="1"/>
          <p:nvPr/>
        </p:nvSpPr>
        <p:spPr>
          <a:xfrm>
            <a:off x="4368800" y="3158776"/>
            <a:ext cx="3238500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教師模型產生偽標籤，保留</a:t>
            </a:r>
            <a:endParaRPr lang="zh-TW" sz="2000"/>
          </a:p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信心分數至少 0.8 的預測，</a:t>
            </a:r>
            <a:endParaRPr lang="zh-TW" sz="2000"/>
          </a:p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再訓練學生模型。</a:t>
            </a:r>
            <a:endParaRPr lang="zh-TW" sz="2000"/>
          </a:p>
        </p:txBody>
      </p:sp>
      <p:cxnSp>
        <p:nvCxnSpPr>
          <p:cNvPr id="9" name="line_9"/>
          <p:cNvCxnSpPr/>
          <p:nvPr/>
        </p:nvCxnSpPr>
        <p:spPr>
          <a:xfrm>
            <a:off x="7620000" y="2599976"/>
            <a:ext cx="3048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10" name="text_10"/>
          <p:cNvSpPr txBox="1"/>
          <p:nvPr/>
        </p:nvSpPr>
        <p:spPr>
          <a:xfrm>
            <a:off x="8051800" y="2053876"/>
            <a:ext cx="3238500" cy="825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644"/>
              </a:lnSpc>
              <a:spcAft>
                <a:spcPts val="0"/>
              </a:spcAft>
            </a:pPr>
            <a:r>
              <a:rPr lang="zh-TW" altLang="en-US" sz="2400" b="1">
                <a:solidFill>
                  <a:srgbClr val="235DB5"/>
                </a:solidFill>
                <a:latin typeface="Microsoft JhengHei"/>
                <a:ea typeface="Microsoft JhengHei"/>
              </a:rPr>
              <a:t>Stage 3</a:t>
            </a:r>
            <a:endParaRPr lang="zh-TW" sz="2400"/>
          </a:p>
          <a:p>
            <a:pPr algn="l">
              <a:lnSpc>
                <a:spcPts val="2644"/>
              </a:lnSpc>
              <a:spcAft>
                <a:spcPts val="0"/>
              </a:spcAft>
            </a:pPr>
            <a:r>
              <a:rPr lang="zh-TW" altLang="en-US" sz="2400" b="1">
                <a:solidFill>
                  <a:srgbClr val="235DB5"/>
                </a:solidFill>
                <a:latin typeface="Microsoft JhengHei"/>
                <a:ea typeface="Microsoft JhengHei"/>
              </a:rPr>
              <a:t>增量微調</a:t>
            </a:r>
            <a:endParaRPr lang="zh-TW" sz="2400"/>
          </a:p>
        </p:txBody>
      </p:sp>
      <p:sp>
        <p:nvSpPr>
          <p:cNvPr id="11" name="text_11"/>
          <p:cNvSpPr txBox="1"/>
          <p:nvPr/>
        </p:nvSpPr>
        <p:spPr>
          <a:xfrm>
            <a:off x="8051800" y="3158776"/>
            <a:ext cx="3238500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新增雷射光點類別。</a:t>
            </a:r>
            <a:endParaRPr lang="zh-TW" sz="2000"/>
          </a:p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凍結前 10 層，以低學習率</a:t>
            </a:r>
            <a:endParaRPr lang="zh-TW" sz="2000"/>
          </a:p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微調偵測頭，減少舊類別遺</a:t>
            </a:r>
            <a:endParaRPr lang="zh-TW" sz="2000"/>
          </a:p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忘。</a:t>
            </a:r>
            <a:endParaRPr lang="zh-TW" sz="2000"/>
          </a:p>
        </p:txBody>
      </p:sp>
      <p:sp>
        <p:nvSpPr>
          <p:cNvPr id="15" name="text_0078">
            <a:extLst>
              <a:ext uri="{FF2B5EF4-FFF2-40B4-BE49-F238E27FC236}">
                <a16:creationId xmlns:a16="http://schemas.microsoft.com/office/drawing/2014/main" id="{52122F98-1CA8-46B8-C172-50652B208B95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 dirty="0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13</a:t>
            </a:r>
            <a:endParaRPr lang="zh-TW" altLang="en-US" sz="1275" dirty="0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094">
            <a:extLst>
              <a:ext uri="{FF2B5EF4-FFF2-40B4-BE49-F238E27FC236}">
                <a16:creationId xmlns:a16="http://schemas.microsoft.com/office/drawing/2014/main" id="{35FB3812-0932-5E3C-2D41-8D7ACB9E3543}"/>
              </a:ext>
            </a:extLst>
          </p:cNvPr>
          <p:cNvSpPr txBox="1"/>
          <p:nvPr/>
        </p:nvSpPr>
        <p:spPr>
          <a:xfrm>
            <a:off x="685800" y="457199"/>
            <a:ext cx="10820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32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多目標追蹤：持續辨認同一隻猴子</a:t>
            </a:r>
          </a:p>
        </p:txBody>
      </p:sp>
      <p:sp>
        <p:nvSpPr>
          <p:cNvPr id="3" name="text_0095">
            <a:extLst>
              <a:ext uri="{FF2B5EF4-FFF2-40B4-BE49-F238E27FC236}">
                <a16:creationId xmlns:a16="http://schemas.microsoft.com/office/drawing/2014/main" id="{AC89137F-0D01-DD95-D8D2-2D46D298AEBA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 dirty="0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14</a:t>
            </a:r>
            <a:endParaRPr lang="zh-TW" altLang="en-US" sz="1275" dirty="0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6" name="text_0096">
            <a:extLst>
              <a:ext uri="{FF2B5EF4-FFF2-40B4-BE49-F238E27FC236}">
                <a16:creationId xmlns:a16="http://schemas.microsoft.com/office/drawing/2014/main" id="{934400BC-F9B2-1B2A-935D-B6C75B7540DC}"/>
              </a:ext>
            </a:extLst>
          </p:cNvPr>
          <p:cNvSpPr txBox="1"/>
          <p:nvPr/>
        </p:nvSpPr>
        <p:spPr>
          <a:xfrm>
            <a:off x="685800" y="4952999"/>
            <a:ext cx="53340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dirty="0">
                <a:solidFill>
                  <a:srgbClr val="53627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原畫面：左為 </a:t>
            </a:r>
            <a:r>
              <a:rPr lang="en-US" altLang="zh-TW" dirty="0" err="1">
                <a:solidFill>
                  <a:srgbClr val="53627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BoT</a:t>
            </a:r>
            <a:r>
              <a:rPr lang="en-US" altLang="zh-TW" dirty="0">
                <a:solidFill>
                  <a:srgbClr val="53627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-SORT</a:t>
            </a:r>
            <a:r>
              <a:rPr lang="zh-TW" altLang="en-US" dirty="0">
                <a:solidFill>
                  <a:srgbClr val="53627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、右為 </a:t>
            </a:r>
            <a:r>
              <a:rPr lang="en-US" altLang="zh-TW" dirty="0" err="1">
                <a:solidFill>
                  <a:srgbClr val="53627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ByteTrack</a:t>
            </a:r>
            <a:r>
              <a:rPr lang="zh-TW" altLang="en-US" dirty="0">
                <a:solidFill>
                  <a:srgbClr val="53627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
上為場景 </a:t>
            </a:r>
            <a:r>
              <a:rPr lang="en-US" altLang="zh-TW" dirty="0">
                <a:solidFill>
                  <a:srgbClr val="53627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zh-TW" altLang="en-US" dirty="0">
                <a:solidFill>
                  <a:srgbClr val="53627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（植被密集）、下為場景 </a:t>
            </a:r>
            <a:r>
              <a:rPr lang="en-US" altLang="zh-TW" dirty="0">
                <a:solidFill>
                  <a:srgbClr val="53627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zh-TW" altLang="en-US" dirty="0">
                <a:solidFill>
                  <a:srgbClr val="53627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（較開闊）。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C432DB3-504D-1076-21C4-E09C15AFE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799289"/>
              </p:ext>
            </p:extLst>
          </p:nvPr>
        </p:nvGraphicFramePr>
        <p:xfrm>
          <a:off x="6400800" y="1727200"/>
          <a:ext cx="5105400" cy="2781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0">
                  <a:extLst>
                    <a:ext uri="{9D8B030D-6E8A-4147-A177-3AD203B41FA5}">
                      <a16:colId xmlns:a16="http://schemas.microsoft.com/office/drawing/2014/main" val="18742358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1118321911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87585607"/>
                    </a:ext>
                  </a:extLst>
                </a:gridCol>
              </a:tblGrid>
              <a:tr h="9271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b="1" dirty="0">
                          <a:solidFill>
                            <a:srgbClr val="235DB5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場景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800" b="1">
                          <a:solidFill>
                            <a:srgbClr val="235DB5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BoT-SORT</a:t>
                      </a:r>
                      <a:endParaRPr lang="zh-TW" altLang="en-US" sz="1800" b="1">
                        <a:solidFill>
                          <a:srgbClr val="235DB5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800" b="1">
                          <a:solidFill>
                            <a:srgbClr val="235DB5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ByteTrack</a:t>
                      </a:r>
                      <a:endParaRPr lang="zh-TW" altLang="en-US" sz="1800" b="1">
                        <a:solidFill>
                          <a:srgbClr val="235DB5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196013"/>
                  </a:ext>
                </a:extLst>
              </a:tr>
              <a:tr h="9271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場景 </a:t>
                      </a:r>
                      <a:r>
                        <a:rPr lang="en-US" altLang="zh-TW" sz="1800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  <a:r>
                        <a:rPr lang="zh-TW" altLang="en-US" sz="1800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：平均軌跡壽命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8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1.88 </a:t>
                      </a:r>
                      <a:r>
                        <a:rPr lang="zh-TW" altLang="en-US" sz="18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秒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8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0.81 </a:t>
                      </a:r>
                      <a:r>
                        <a:rPr lang="zh-TW" altLang="en-US" sz="18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秒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437995"/>
                  </a:ext>
                </a:extLst>
              </a:tr>
              <a:tr h="9271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場景 </a:t>
                      </a:r>
                      <a:r>
                        <a:rPr lang="en-US" altLang="zh-TW" sz="18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r>
                        <a:rPr lang="zh-TW" altLang="en-US" sz="18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：平均軌跡壽命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8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2.13 </a:t>
                      </a:r>
                      <a:r>
                        <a:rPr lang="zh-TW" altLang="en-US" sz="18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秒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800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1.54 </a:t>
                      </a:r>
                      <a:r>
                        <a:rPr lang="zh-TW" altLang="en-US" sz="1800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秒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4929425"/>
                  </a:ext>
                </a:extLst>
              </a:tr>
            </a:tbl>
          </a:graphicData>
        </a:graphic>
      </p:graphicFrame>
      <p:sp>
        <p:nvSpPr>
          <p:cNvPr id="8" name="text_0097">
            <a:extLst>
              <a:ext uri="{FF2B5EF4-FFF2-40B4-BE49-F238E27FC236}">
                <a16:creationId xmlns:a16="http://schemas.microsoft.com/office/drawing/2014/main" id="{8AFBCB6A-E8B6-C850-B4C4-2817407ADC78}"/>
              </a:ext>
            </a:extLst>
          </p:cNvPr>
          <p:cNvSpPr txBox="1"/>
          <p:nvPr/>
        </p:nvSpPr>
        <p:spPr>
          <a:xfrm>
            <a:off x="6400800" y="4851399"/>
            <a:ext cx="5105400" cy="1371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研究報告中的 </a:t>
            </a:r>
            <a:r>
              <a:rPr lang="en-US" altLang="zh-TW" sz="2000" dirty="0" err="1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BoT</a:t>
            </a:r>
            <a:r>
              <a:rPr lang="en-US" altLang="zh-TW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-SORT </a:t>
            </a: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軌跡較連續，有助於後續行為回饋。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4806582-019F-6D51-6F86-1BF5B50C8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6" y="1727200"/>
            <a:ext cx="5410205" cy="298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987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065">
            <a:extLst>
              <a:ext uri="{FF2B5EF4-FFF2-40B4-BE49-F238E27FC236}">
                <a16:creationId xmlns:a16="http://schemas.microsoft.com/office/drawing/2014/main" id="{7E405B8C-4E8C-B6CA-EFCE-DB0D08C651E4}"/>
              </a:ext>
            </a:extLst>
          </p:cNvPr>
          <p:cNvSpPr txBox="1"/>
          <p:nvPr/>
        </p:nvSpPr>
        <p:spPr>
          <a:xfrm>
            <a:off x="685800" y="457199"/>
            <a:ext cx="10820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315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定位校正：像素與控制角度的對應</a:t>
            </a:r>
          </a:p>
        </p:txBody>
      </p:sp>
      <p:sp>
        <p:nvSpPr>
          <p:cNvPr id="3" name="text_0066">
            <a:extLst>
              <a:ext uri="{FF2B5EF4-FFF2-40B4-BE49-F238E27FC236}">
                <a16:creationId xmlns:a16="http://schemas.microsoft.com/office/drawing/2014/main" id="{1F858A87-E21A-110C-1A8D-407D4689EF5F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 dirty="0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15</a:t>
            </a:r>
            <a:endParaRPr lang="zh-TW" altLang="en-US" sz="1275" dirty="0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  <p:pic>
        <p:nvPicPr>
          <p:cNvPr id="5" name="source_calibration_chart">
            <a:extLst>
              <a:ext uri="{FF2B5EF4-FFF2-40B4-BE49-F238E27FC236}">
                <a16:creationId xmlns:a16="http://schemas.microsoft.com/office/drawing/2014/main" id="{436E288D-0F13-6529-4015-DBD57736552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35" y="1549400"/>
            <a:ext cx="4902729" cy="4318000"/>
          </a:xfrm>
          <a:prstGeom prst="rect">
            <a:avLst/>
          </a:prstGeom>
        </p:spPr>
      </p:pic>
      <p:sp>
        <p:nvSpPr>
          <p:cNvPr id="6" name="text_0067">
            <a:extLst>
              <a:ext uri="{FF2B5EF4-FFF2-40B4-BE49-F238E27FC236}">
                <a16:creationId xmlns:a16="http://schemas.microsoft.com/office/drawing/2014/main" id="{50D66321-21E1-4306-5714-35DC514D8AE1}"/>
              </a:ext>
            </a:extLst>
          </p:cNvPr>
          <p:cNvSpPr txBox="1"/>
          <p:nvPr/>
        </p:nvSpPr>
        <p:spPr>
          <a:xfrm>
            <a:off x="6553200" y="2226075"/>
            <a:ext cx="4953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400" b="1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建立映射</a:t>
            </a:r>
          </a:p>
        </p:txBody>
      </p:sp>
      <p:sp>
        <p:nvSpPr>
          <p:cNvPr id="7" name="text_0068">
            <a:extLst>
              <a:ext uri="{FF2B5EF4-FFF2-40B4-BE49-F238E27FC236}">
                <a16:creationId xmlns:a16="http://schemas.microsoft.com/office/drawing/2014/main" id="{15CC438C-D11B-E3FE-7851-00332B60076D}"/>
              </a:ext>
            </a:extLst>
          </p:cNvPr>
          <p:cNvSpPr txBox="1"/>
          <p:nvPr/>
        </p:nvSpPr>
        <p:spPr>
          <a:xfrm>
            <a:off x="6553200" y="2645175"/>
            <a:ext cx="49530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量測光點位置與實體角度，擬合座標到控制角度的關係。</a:t>
            </a:r>
          </a:p>
        </p:txBody>
      </p:sp>
      <p:sp>
        <p:nvSpPr>
          <p:cNvPr id="8" name="text_0069">
            <a:extLst>
              <a:ext uri="{FF2B5EF4-FFF2-40B4-BE49-F238E27FC236}">
                <a16:creationId xmlns:a16="http://schemas.microsoft.com/office/drawing/2014/main" id="{28F1D96F-9158-6248-7850-787B90862562}"/>
              </a:ext>
            </a:extLst>
          </p:cNvPr>
          <p:cNvSpPr txBox="1"/>
          <p:nvPr/>
        </p:nvSpPr>
        <p:spPr>
          <a:xfrm>
            <a:off x="6553200" y="3949700"/>
            <a:ext cx="4953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4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像素 </a:t>
            </a:r>
            <a:r>
              <a:rPr lang="en-US" altLang="zh-TW" sz="24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RMSE </a:t>
            </a:r>
            <a:r>
              <a:rPr lang="zh-TW" altLang="en-US" sz="24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</a:p>
        </p:txBody>
      </p:sp>
      <p:sp>
        <p:nvSpPr>
          <p:cNvPr id="9" name="text_0070">
            <a:extLst>
              <a:ext uri="{FF2B5EF4-FFF2-40B4-BE49-F238E27FC236}">
                <a16:creationId xmlns:a16="http://schemas.microsoft.com/office/drawing/2014/main" id="{746E57BA-A4B1-07DD-095F-4F75ADB09A0C}"/>
              </a:ext>
            </a:extLst>
          </p:cNvPr>
          <p:cNvSpPr txBox="1"/>
          <p:nvPr/>
        </p:nvSpPr>
        <p:spPr>
          <a:xfrm>
            <a:off x="6553200" y="4368800"/>
            <a:ext cx="49530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研究使用二次多項式，校正點數 </a:t>
            </a: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</a:t>
            </a: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＝</a:t>
            </a: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50</a:t>
            </a: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／</a:t>
            </a: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100</a:t>
            </a: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／</a:t>
            </a: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181 </a:t>
            </a: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時，投影片列出 </a:t>
            </a: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RMSE</a:t>
            </a: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＝</a:t>
            </a: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1.8</a:t>
            </a: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／</a:t>
            </a: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1.4</a:t>
            </a: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／</a:t>
            </a: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1.2 </a:t>
            </a: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像素。</a:t>
            </a:r>
          </a:p>
        </p:txBody>
      </p:sp>
    </p:spTree>
    <p:extLst>
      <p:ext uri="{BB962C8B-B14F-4D97-AF65-F5344CB8AC3E}">
        <p14:creationId xmlns:p14="http://schemas.microsoft.com/office/powerpoint/2010/main" val="3694139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874"/>
              </a:lnSpc>
              <a:spcAft>
                <a:spcPts val="0"/>
              </a:spcAft>
            </a:pPr>
            <a:r>
              <a:rPr lang="zh-TW" altLang="en-US" sz="3200" b="1" dirty="0">
                <a:solidFill>
                  <a:srgbClr val="172536"/>
                </a:solidFill>
                <a:latin typeface="Microsoft JhengHei"/>
                <a:ea typeface="Microsoft JhengHei"/>
              </a:rPr>
              <a:t>強化式學習 DDPG：獎勵與懲罰的設計</a:t>
            </a:r>
            <a:endParaRPr lang="zh-TW" sz="3200" dirty="0"/>
          </a:p>
        </p:txBody>
      </p:sp>
      <p:sp>
        <p:nvSpPr>
          <p:cNvPr id="4" name="text_4"/>
          <p:cNvSpPr txBox="1"/>
          <p:nvPr/>
        </p:nvSpPr>
        <p:spPr>
          <a:xfrm>
            <a:off x="685800" y="1511300"/>
            <a:ext cx="108204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3075"/>
              </a:lnSpc>
              <a:spcAft>
                <a:spcPts val="0"/>
              </a:spcAft>
            </a:pPr>
            <a:r>
              <a:rPr lang="zh-TW" altLang="en-US" sz="2500" b="1" dirty="0">
                <a:solidFill>
                  <a:srgbClr val="235DB5"/>
                </a:solidFill>
                <a:latin typeface="Microsoft JhengHei"/>
                <a:ea typeface="Microsoft JhengHei"/>
              </a:rPr>
              <a:t>R = 1.0 × 驅離比率 + 0.5 × 安全比率 - 0.8 × 習慣化比率</a:t>
            </a:r>
            <a:endParaRPr lang="zh-TW" sz="2500" dirty="0"/>
          </a:p>
        </p:txBody>
      </p:sp>
      <p:sp>
        <p:nvSpPr>
          <p:cNvPr id="5" name="text_5"/>
          <p:cNvSpPr txBox="1"/>
          <p:nvPr/>
        </p:nvSpPr>
        <p:spPr>
          <a:xfrm>
            <a:off x="685800" y="2413000"/>
            <a:ext cx="32385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 dirty="0">
                <a:solidFill>
                  <a:srgbClr val="235DB5"/>
                </a:solidFill>
                <a:latin typeface="Microsoft JhengHei"/>
                <a:ea typeface="Microsoft JhengHei"/>
              </a:rPr>
              <a:t>驅離成效</a:t>
            </a:r>
            <a:endParaRPr lang="zh-TW" sz="2300" dirty="0"/>
          </a:p>
        </p:txBody>
      </p:sp>
      <p:sp>
        <p:nvSpPr>
          <p:cNvPr id="6" name="text_6"/>
          <p:cNvSpPr txBox="1"/>
          <p:nvPr/>
        </p:nvSpPr>
        <p:spPr>
          <a:xfrm>
            <a:off x="685800" y="2971800"/>
            <a:ext cx="32385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 dirty="0">
                <a:solidFill>
                  <a:srgbClr val="172536"/>
                </a:solidFill>
                <a:latin typeface="Microsoft JhengHei"/>
                <a:ea typeface="Microsoft JhengHei"/>
              </a:rPr>
              <a:t>權重 1.0</a:t>
            </a:r>
            <a:endParaRPr lang="zh-TW" sz="2100" dirty="0"/>
          </a:p>
        </p:txBody>
      </p:sp>
      <p:sp>
        <p:nvSpPr>
          <p:cNvPr id="7" name="text_7"/>
          <p:cNvSpPr txBox="1"/>
          <p:nvPr/>
        </p:nvSpPr>
        <p:spPr>
          <a:xfrm>
            <a:off x="685800" y="3543300"/>
            <a:ext cx="3238500" cy="88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離開或停留縮短：加分。</a:t>
            </a:r>
            <a:endParaRPr lang="zh-TW" sz="2000" dirty="0"/>
          </a:p>
        </p:txBody>
      </p:sp>
      <p:sp>
        <p:nvSpPr>
          <p:cNvPr id="8" name="text_8"/>
          <p:cNvSpPr txBox="1"/>
          <p:nvPr/>
        </p:nvSpPr>
        <p:spPr>
          <a:xfrm>
            <a:off x="4368800" y="2413000"/>
            <a:ext cx="32385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安全與能耗</a:t>
            </a:r>
            <a:endParaRPr lang="zh-TW" sz="2300"/>
          </a:p>
        </p:txBody>
      </p:sp>
      <p:sp>
        <p:nvSpPr>
          <p:cNvPr id="9" name="text_9"/>
          <p:cNvSpPr txBox="1"/>
          <p:nvPr/>
        </p:nvSpPr>
        <p:spPr>
          <a:xfrm>
            <a:off x="4368800" y="2971800"/>
            <a:ext cx="32385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172536"/>
                </a:solidFill>
                <a:latin typeface="Microsoft JhengHei"/>
                <a:ea typeface="Microsoft JhengHei"/>
              </a:rPr>
              <a:t>權重 0.5</a:t>
            </a:r>
            <a:endParaRPr lang="zh-TW" sz="2100"/>
          </a:p>
        </p:txBody>
      </p:sp>
      <p:sp>
        <p:nvSpPr>
          <p:cNvPr id="10" name="text_10"/>
          <p:cNvSpPr txBox="1"/>
          <p:nvPr/>
        </p:nvSpPr>
        <p:spPr>
          <a:xfrm>
            <a:off x="4368800" y="3543300"/>
            <a:ext cx="3238500" cy="88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低功率、間歇動作：加分。</a:t>
            </a:r>
            <a:endParaRPr lang="zh-TW" sz="2000"/>
          </a:p>
        </p:txBody>
      </p:sp>
      <p:sp>
        <p:nvSpPr>
          <p:cNvPr id="11" name="text_11"/>
          <p:cNvSpPr txBox="1"/>
          <p:nvPr/>
        </p:nvSpPr>
        <p:spPr>
          <a:xfrm>
            <a:off x="8051800" y="2413000"/>
            <a:ext cx="32385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習慣化懲罰</a:t>
            </a:r>
            <a:endParaRPr lang="zh-TW" sz="2300"/>
          </a:p>
        </p:txBody>
      </p:sp>
      <p:sp>
        <p:nvSpPr>
          <p:cNvPr id="12" name="text_12"/>
          <p:cNvSpPr txBox="1"/>
          <p:nvPr/>
        </p:nvSpPr>
        <p:spPr>
          <a:xfrm>
            <a:off x="8051800" y="2971800"/>
            <a:ext cx="32385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172536"/>
                </a:solidFill>
                <a:latin typeface="Microsoft JhengHei"/>
                <a:ea typeface="Microsoft JhengHei"/>
              </a:rPr>
              <a:t>權重 0.8</a:t>
            </a:r>
            <a:endParaRPr lang="zh-TW" sz="2100"/>
          </a:p>
        </p:txBody>
      </p:sp>
      <p:sp>
        <p:nvSpPr>
          <p:cNvPr id="13" name="text_13"/>
          <p:cNvSpPr txBox="1"/>
          <p:nvPr/>
        </p:nvSpPr>
        <p:spPr>
          <a:xfrm>
            <a:off x="8051800" y="3543300"/>
            <a:ext cx="3238500" cy="88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重複固定模式：扣分。</a:t>
            </a:r>
            <a:endParaRPr lang="zh-TW" sz="2000"/>
          </a:p>
        </p:txBody>
      </p:sp>
      <p:cxnSp>
        <p:nvCxnSpPr>
          <p:cNvPr id="14" name="line_14"/>
          <p:cNvCxnSpPr/>
          <p:nvPr/>
        </p:nvCxnSpPr>
        <p:spPr>
          <a:xfrm>
            <a:off x="685800" y="45085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15" name="text_15"/>
          <p:cNvSpPr txBox="1"/>
          <p:nvPr/>
        </p:nvSpPr>
        <p:spPr>
          <a:xfrm>
            <a:off x="685800" y="4699000"/>
            <a:ext cx="127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98"/>
              </a:lnSpc>
              <a:spcAft>
                <a:spcPts val="0"/>
              </a:spcAft>
            </a:pPr>
            <a:r>
              <a:rPr lang="zh-TW" altLang="en-US" sz="2000" b="1" dirty="0">
                <a:solidFill>
                  <a:srgbClr val="235DB5"/>
                </a:solidFill>
                <a:latin typeface="Microsoft JhengHei"/>
                <a:ea typeface="Microsoft JhengHei"/>
              </a:rPr>
              <a:t>觀察狀態</a:t>
            </a:r>
            <a:endParaRPr lang="zh-TW" sz="2000" dirty="0"/>
          </a:p>
        </p:txBody>
      </p:sp>
      <p:sp>
        <p:nvSpPr>
          <p:cNvPr id="16" name="text_16"/>
          <p:cNvSpPr txBox="1"/>
          <p:nvPr/>
        </p:nvSpPr>
        <p:spPr>
          <a:xfrm>
            <a:off x="2120900" y="4699000"/>
            <a:ext cx="93853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98"/>
              </a:lnSpc>
              <a:spcAft>
                <a:spcPts val="0"/>
              </a:spcAft>
            </a:pPr>
            <a:r>
              <a:rPr lang="zh-TW" altLang="en-US" b="0" dirty="0">
                <a:solidFill>
                  <a:srgbClr val="172536"/>
                </a:solidFill>
                <a:latin typeface="Microsoft JhengHei"/>
                <a:ea typeface="Microsoft JhengHei"/>
              </a:rPr>
              <a:t>軌跡、速度、與果園邊界的距離、群體密度。</a:t>
            </a:r>
            <a:endParaRPr lang="zh-TW" dirty="0"/>
          </a:p>
        </p:txBody>
      </p:sp>
      <p:sp>
        <p:nvSpPr>
          <p:cNvPr id="17" name="text_17"/>
          <p:cNvSpPr txBox="1"/>
          <p:nvPr/>
        </p:nvSpPr>
        <p:spPr>
          <a:xfrm>
            <a:off x="685800" y="5359400"/>
            <a:ext cx="127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98"/>
              </a:lnSpc>
              <a:spcAft>
                <a:spcPts val="0"/>
              </a:spcAft>
            </a:pPr>
            <a:r>
              <a:rPr lang="zh-TW" altLang="en-US" sz="2000" b="1">
                <a:solidFill>
                  <a:srgbClr val="235DB5"/>
                </a:solidFill>
                <a:latin typeface="Microsoft JhengHei"/>
                <a:ea typeface="Microsoft JhengHei"/>
              </a:rPr>
              <a:t>調整動作</a:t>
            </a:r>
            <a:endParaRPr lang="zh-TW" sz="2000"/>
          </a:p>
        </p:txBody>
      </p:sp>
      <p:sp>
        <p:nvSpPr>
          <p:cNvPr id="18" name="text_18"/>
          <p:cNvSpPr txBox="1"/>
          <p:nvPr/>
        </p:nvSpPr>
        <p:spPr>
          <a:xfrm>
            <a:off x="2120900" y="5359400"/>
            <a:ext cx="9385300" cy="698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98"/>
              </a:lnSpc>
              <a:spcAft>
                <a:spcPts val="0"/>
              </a:spcAft>
            </a:pPr>
            <a:r>
              <a:rPr lang="zh-TW" altLang="en-US" b="0">
                <a:solidFill>
                  <a:srgbClr val="172536"/>
                </a:solidFill>
                <a:latin typeface="Microsoft JhengHei"/>
                <a:ea typeface="Microsoft JhengHei"/>
              </a:rPr>
              <a:t>水平／垂直角度、功率、定點／隨機掃描／閃爍模式。</a:t>
            </a:r>
            <a:endParaRPr lang="zh-TW"/>
          </a:p>
        </p:txBody>
      </p:sp>
      <p:sp>
        <p:nvSpPr>
          <p:cNvPr id="20" name="text_0066">
            <a:extLst>
              <a:ext uri="{FF2B5EF4-FFF2-40B4-BE49-F238E27FC236}">
                <a16:creationId xmlns:a16="http://schemas.microsoft.com/office/drawing/2014/main" id="{F100932B-2A5C-120A-BCD4-339C110EE6E8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 dirty="0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16</a:t>
            </a:r>
            <a:endParaRPr lang="zh-TW" altLang="en-US" sz="1275" dirty="0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874"/>
              </a:lnSpc>
              <a:spcAft>
                <a:spcPts val="0"/>
              </a:spcAft>
            </a:pPr>
            <a:r>
              <a:rPr lang="zh-TW" altLang="en-US" sz="3200" b="1" dirty="0">
                <a:solidFill>
                  <a:srgbClr val="172536"/>
                </a:solidFill>
                <a:latin typeface="Microsoft JhengHei"/>
                <a:ea typeface="Microsoft JhengHei"/>
              </a:rPr>
              <a:t>技術說明：強化式學習如何學習決策？</a:t>
            </a:r>
            <a:endParaRPr lang="zh-TW" sz="3200" dirty="0"/>
          </a:p>
        </p:txBody>
      </p:sp>
      <p:sp>
        <p:nvSpPr>
          <p:cNvPr id="4" name="text_4"/>
          <p:cNvSpPr txBox="1"/>
          <p:nvPr/>
        </p:nvSpPr>
        <p:spPr>
          <a:xfrm>
            <a:off x="685800" y="1511300"/>
            <a:ext cx="108204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 dirty="0">
                <a:solidFill>
                  <a:srgbClr val="235DB5"/>
                </a:solidFill>
                <a:latin typeface="Microsoft JhengHei"/>
                <a:ea typeface="Microsoft JhengHei"/>
              </a:rPr>
              <a:t>透過與環境互動，學習能提高長期累積獎勵的策略。</a:t>
            </a:r>
            <a:endParaRPr lang="zh-TW" sz="2300" dirty="0"/>
          </a:p>
        </p:txBody>
      </p:sp>
      <p:sp>
        <p:nvSpPr>
          <p:cNvPr id="5" name="text_5"/>
          <p:cNvSpPr txBox="1"/>
          <p:nvPr/>
        </p:nvSpPr>
        <p:spPr>
          <a:xfrm>
            <a:off x="685800" y="2438400"/>
            <a:ext cx="2324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 dirty="0">
                <a:solidFill>
                  <a:srgbClr val="235DB5"/>
                </a:solidFill>
                <a:latin typeface="Microsoft JhengHei"/>
                <a:ea typeface="Microsoft JhengHei"/>
              </a:rPr>
              <a:t>狀態 s</a:t>
            </a:r>
            <a:endParaRPr lang="zh-TW" sz="2300" dirty="0"/>
          </a:p>
        </p:txBody>
      </p:sp>
      <p:sp>
        <p:nvSpPr>
          <p:cNvPr id="6" name="text_6"/>
          <p:cNvSpPr txBox="1"/>
          <p:nvPr/>
        </p:nvSpPr>
        <p:spPr>
          <a:xfrm>
            <a:off x="685800" y="3162300"/>
            <a:ext cx="2324100" cy="1257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398"/>
              </a:lnSpc>
              <a:spcAft>
                <a:spcPts val="0"/>
              </a:spcAft>
            </a:pPr>
            <a:r>
              <a:rPr lang="zh-TW" altLang="en-US" b="0" dirty="0">
                <a:solidFill>
                  <a:srgbClr val="172536"/>
                </a:solidFill>
                <a:latin typeface="Microsoft JhengHei"/>
                <a:ea typeface="Microsoft JhengHei"/>
              </a:rPr>
              <a:t>目前觀察到什麼？</a:t>
            </a:r>
            <a:endParaRPr lang="zh-TW" dirty="0"/>
          </a:p>
          <a:p>
            <a:pPr algn="ctr">
              <a:lnSpc>
                <a:spcPts val="2398"/>
              </a:lnSpc>
              <a:spcAft>
                <a:spcPts val="0"/>
              </a:spcAft>
            </a:pPr>
            <a:r>
              <a:rPr lang="zh-TW" altLang="en-US" b="0" dirty="0">
                <a:solidFill>
                  <a:srgbClr val="172536"/>
                </a:solidFill>
                <a:latin typeface="Microsoft JhengHei"/>
                <a:ea typeface="Microsoft JhengHei"/>
              </a:rPr>
              <a:t>例如位置、速度。</a:t>
            </a:r>
            <a:endParaRPr lang="zh-TW" dirty="0"/>
          </a:p>
        </p:txBody>
      </p:sp>
      <p:cxnSp>
        <p:nvCxnSpPr>
          <p:cNvPr id="7" name="line_7"/>
          <p:cNvCxnSpPr/>
          <p:nvPr/>
        </p:nvCxnSpPr>
        <p:spPr>
          <a:xfrm>
            <a:off x="3086100" y="2933700"/>
            <a:ext cx="3429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8" name="text_8"/>
          <p:cNvSpPr txBox="1"/>
          <p:nvPr/>
        </p:nvSpPr>
        <p:spPr>
          <a:xfrm>
            <a:off x="3517900" y="2438400"/>
            <a:ext cx="2324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策略 π</a:t>
            </a:r>
            <a:endParaRPr lang="zh-TW" sz="2300"/>
          </a:p>
        </p:txBody>
      </p:sp>
      <p:sp>
        <p:nvSpPr>
          <p:cNvPr id="9" name="text_9"/>
          <p:cNvSpPr txBox="1"/>
          <p:nvPr/>
        </p:nvSpPr>
        <p:spPr>
          <a:xfrm>
            <a:off x="3517900" y="3162300"/>
            <a:ext cx="2324100" cy="1257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398"/>
              </a:lnSpc>
              <a:spcAft>
                <a:spcPts val="0"/>
              </a:spcAft>
            </a:pPr>
            <a:r>
              <a:rPr lang="zh-TW" altLang="en-US" b="0" dirty="0">
                <a:solidFill>
                  <a:srgbClr val="172536"/>
                </a:solidFill>
                <a:latin typeface="Microsoft JhengHei"/>
                <a:ea typeface="Microsoft JhengHei"/>
              </a:rPr>
              <a:t>根據狀態選動作，</a:t>
            </a:r>
            <a:endParaRPr lang="zh-TW" dirty="0"/>
          </a:p>
          <a:p>
            <a:pPr algn="ctr">
              <a:lnSpc>
                <a:spcPts val="2398"/>
              </a:lnSpc>
              <a:spcAft>
                <a:spcPts val="0"/>
              </a:spcAft>
            </a:pPr>
            <a:r>
              <a:rPr lang="zh-TW" altLang="en-US" b="0" dirty="0">
                <a:solidFill>
                  <a:srgbClr val="172536"/>
                </a:solidFill>
                <a:latin typeface="Microsoft JhengHei"/>
                <a:ea typeface="Microsoft JhengHei"/>
              </a:rPr>
              <a:t>訓練時兼顧探索。</a:t>
            </a:r>
            <a:endParaRPr lang="zh-TW" dirty="0"/>
          </a:p>
        </p:txBody>
      </p:sp>
      <p:cxnSp>
        <p:nvCxnSpPr>
          <p:cNvPr id="10" name="line_10"/>
          <p:cNvCxnSpPr/>
          <p:nvPr/>
        </p:nvCxnSpPr>
        <p:spPr>
          <a:xfrm>
            <a:off x="5918200" y="2933700"/>
            <a:ext cx="3429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11" name="text_11"/>
          <p:cNvSpPr txBox="1"/>
          <p:nvPr/>
        </p:nvSpPr>
        <p:spPr>
          <a:xfrm>
            <a:off x="6350000" y="2438400"/>
            <a:ext cx="2324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動作 a</a:t>
            </a:r>
            <a:endParaRPr lang="zh-TW" sz="2300"/>
          </a:p>
        </p:txBody>
      </p:sp>
      <p:sp>
        <p:nvSpPr>
          <p:cNvPr id="12" name="text_12"/>
          <p:cNvSpPr txBox="1"/>
          <p:nvPr/>
        </p:nvSpPr>
        <p:spPr>
          <a:xfrm>
            <a:off x="6350000" y="3162300"/>
            <a:ext cx="2324100" cy="1257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398"/>
              </a:lnSpc>
              <a:spcAft>
                <a:spcPts val="0"/>
              </a:spcAft>
            </a:pPr>
            <a:r>
              <a:rPr lang="zh-TW" altLang="en-US" b="0">
                <a:solidFill>
                  <a:srgbClr val="172536"/>
                </a:solidFill>
                <a:latin typeface="Microsoft JhengHei"/>
                <a:ea typeface="Microsoft JhengHei"/>
              </a:rPr>
              <a:t>執行控制指令，</a:t>
            </a:r>
            <a:endParaRPr lang="zh-TW"/>
          </a:p>
          <a:p>
            <a:pPr algn="ctr">
              <a:lnSpc>
                <a:spcPts val="2398"/>
              </a:lnSpc>
              <a:spcAft>
                <a:spcPts val="0"/>
              </a:spcAft>
            </a:pPr>
            <a:r>
              <a:rPr lang="zh-TW" altLang="en-US" b="0">
                <a:solidFill>
                  <a:srgbClr val="172536"/>
                </a:solidFill>
                <a:latin typeface="Microsoft JhengHei"/>
                <a:ea typeface="Microsoft JhengHei"/>
              </a:rPr>
              <a:t>使環境產生變化。</a:t>
            </a:r>
            <a:endParaRPr lang="zh-TW"/>
          </a:p>
        </p:txBody>
      </p:sp>
      <p:cxnSp>
        <p:nvCxnSpPr>
          <p:cNvPr id="13" name="line_13"/>
          <p:cNvCxnSpPr/>
          <p:nvPr/>
        </p:nvCxnSpPr>
        <p:spPr>
          <a:xfrm>
            <a:off x="8750300" y="2933700"/>
            <a:ext cx="3429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14" name="text_14"/>
          <p:cNvSpPr txBox="1"/>
          <p:nvPr/>
        </p:nvSpPr>
        <p:spPr>
          <a:xfrm>
            <a:off x="9182100" y="2438400"/>
            <a:ext cx="2324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獎勵 r</a:t>
            </a:r>
            <a:endParaRPr lang="zh-TW" sz="2300"/>
          </a:p>
        </p:txBody>
      </p:sp>
      <p:sp>
        <p:nvSpPr>
          <p:cNvPr id="15" name="text_15"/>
          <p:cNvSpPr txBox="1"/>
          <p:nvPr/>
        </p:nvSpPr>
        <p:spPr>
          <a:xfrm>
            <a:off x="9182100" y="3162300"/>
            <a:ext cx="2324100" cy="1257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398"/>
              </a:lnSpc>
              <a:spcAft>
                <a:spcPts val="0"/>
              </a:spcAft>
            </a:pPr>
            <a:r>
              <a:rPr lang="zh-TW" altLang="en-US" b="0">
                <a:solidFill>
                  <a:srgbClr val="172536"/>
                </a:solidFill>
                <a:latin typeface="Microsoft JhengHei"/>
                <a:ea typeface="Microsoft JhengHei"/>
              </a:rPr>
              <a:t>觀察結果，取得</a:t>
            </a:r>
            <a:endParaRPr lang="zh-TW"/>
          </a:p>
          <a:p>
            <a:pPr algn="ctr">
              <a:lnSpc>
                <a:spcPts val="2398"/>
              </a:lnSpc>
              <a:spcAft>
                <a:spcPts val="0"/>
              </a:spcAft>
            </a:pPr>
            <a:r>
              <a:rPr lang="zh-TW" altLang="en-US" b="0">
                <a:solidFill>
                  <a:srgbClr val="172536"/>
                </a:solidFill>
                <a:latin typeface="Microsoft JhengHei"/>
                <a:ea typeface="Microsoft JhengHei"/>
              </a:rPr>
              <a:t>下一狀態與分數。</a:t>
            </a:r>
            <a:endParaRPr lang="zh-TW"/>
          </a:p>
        </p:txBody>
      </p:sp>
      <p:cxnSp>
        <p:nvCxnSpPr>
          <p:cNvPr id="16" name="line_16"/>
          <p:cNvCxnSpPr/>
          <p:nvPr/>
        </p:nvCxnSpPr>
        <p:spPr>
          <a:xfrm>
            <a:off x="10337800" y="4173712"/>
            <a:ext cx="0" cy="342900"/>
          </a:xfrm>
          <a:prstGeom prst="line">
            <a:avLst/>
          </a:prstGeom>
          <a:ln w="28575">
            <a:solidFill>
              <a:srgbClr val="235DB5"/>
            </a:solidFill>
          </a:ln>
        </p:spPr>
      </p:cxnSp>
      <p:cxnSp>
        <p:nvCxnSpPr>
          <p:cNvPr id="17" name="line_17"/>
          <p:cNvCxnSpPr/>
          <p:nvPr/>
        </p:nvCxnSpPr>
        <p:spPr>
          <a:xfrm flipH="1">
            <a:off x="1841500" y="4516612"/>
            <a:ext cx="8496300" cy="0"/>
          </a:xfrm>
          <a:prstGeom prst="line">
            <a:avLst/>
          </a:prstGeom>
          <a:ln w="28575">
            <a:solidFill>
              <a:srgbClr val="235DB5"/>
            </a:solidFill>
          </a:ln>
        </p:spPr>
      </p:cxnSp>
      <p:cxnSp>
        <p:nvCxnSpPr>
          <p:cNvPr id="18" name="line_18"/>
          <p:cNvCxnSpPr/>
          <p:nvPr/>
        </p:nvCxnSpPr>
        <p:spPr>
          <a:xfrm flipV="1">
            <a:off x="1841500" y="4173712"/>
            <a:ext cx="0" cy="34290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19" name="text_19"/>
          <p:cNvSpPr txBox="1"/>
          <p:nvPr/>
        </p:nvSpPr>
        <p:spPr>
          <a:xfrm>
            <a:off x="685800" y="51689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獎勵是訓練訊號，仍須以獨立的田野指標檢驗真正成效。</a:t>
            </a:r>
            <a:endParaRPr lang="zh-TW" sz="2000" dirty="0"/>
          </a:p>
        </p:txBody>
      </p:sp>
      <p:sp>
        <p:nvSpPr>
          <p:cNvPr id="20" name="text_0066">
            <a:extLst>
              <a:ext uri="{FF2B5EF4-FFF2-40B4-BE49-F238E27FC236}">
                <a16:creationId xmlns:a16="http://schemas.microsoft.com/office/drawing/2014/main" id="{7760B23C-1E70-29B5-6603-1D911FEE2C20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 dirty="0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17</a:t>
            </a:r>
            <a:endParaRPr lang="zh-TW" altLang="en-US" sz="1275" dirty="0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874"/>
              </a:lnSpc>
              <a:spcAft>
                <a:spcPts val="0"/>
              </a:spcAft>
            </a:pPr>
            <a:r>
              <a:rPr lang="zh-TW" altLang="en-US" sz="3200" b="1" dirty="0">
                <a:solidFill>
                  <a:srgbClr val="172536"/>
                </a:solidFill>
                <a:latin typeface="Microsoft JhengHei"/>
                <a:ea typeface="Microsoft JhengHei"/>
              </a:rPr>
              <a:t>技術說明：DDPG 的 Actor–Critic 機制</a:t>
            </a:r>
            <a:endParaRPr lang="zh-TW" sz="3200" dirty="0"/>
          </a:p>
        </p:txBody>
      </p:sp>
      <p:sp>
        <p:nvSpPr>
          <p:cNvPr id="4" name="text_4"/>
          <p:cNvSpPr txBox="1"/>
          <p:nvPr/>
        </p:nvSpPr>
        <p:spPr>
          <a:xfrm>
            <a:off x="685800" y="1511300"/>
            <a:ext cx="10820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 dirty="0">
                <a:solidFill>
                  <a:srgbClr val="235DB5"/>
                </a:solidFill>
                <a:latin typeface="Microsoft JhengHei"/>
                <a:ea typeface="Microsoft JhengHei"/>
              </a:rPr>
              <a:t>DDPG：深度確定性策略梯度，適用於連續動作控制。</a:t>
            </a:r>
            <a:endParaRPr lang="zh-TW" sz="2300" dirty="0"/>
          </a:p>
        </p:txBody>
      </p:sp>
      <p:sp>
        <p:nvSpPr>
          <p:cNvPr id="5" name="text_5"/>
          <p:cNvSpPr txBox="1"/>
          <p:nvPr/>
        </p:nvSpPr>
        <p:spPr>
          <a:xfrm>
            <a:off x="685800" y="2298700"/>
            <a:ext cx="4826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 dirty="0">
                <a:solidFill>
                  <a:srgbClr val="235DB5"/>
                </a:solidFill>
                <a:latin typeface="Microsoft JhengHei"/>
                <a:ea typeface="Microsoft JhengHei"/>
              </a:rPr>
              <a:t>Actor｜行動者</a:t>
            </a:r>
            <a:endParaRPr lang="zh-TW" sz="2300" dirty="0"/>
          </a:p>
        </p:txBody>
      </p:sp>
      <p:sp>
        <p:nvSpPr>
          <p:cNvPr id="6" name="text_6"/>
          <p:cNvSpPr txBox="1"/>
          <p:nvPr/>
        </p:nvSpPr>
        <p:spPr>
          <a:xfrm>
            <a:off x="685800" y="2921000"/>
            <a:ext cx="4826000" cy="1143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a = μ(s)</a:t>
            </a:r>
            <a:endParaRPr lang="zh-TW" sz="2000" dirty="0"/>
          </a:p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輸入狀態，直接輸出連續動作，例如一組</a:t>
            </a:r>
            <a:endParaRPr lang="zh-TW" sz="2000" dirty="0"/>
          </a:p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控制角度。</a:t>
            </a:r>
            <a:endParaRPr lang="zh-TW" sz="2000" dirty="0"/>
          </a:p>
        </p:txBody>
      </p:sp>
      <p:sp>
        <p:nvSpPr>
          <p:cNvPr id="7" name="text_7"/>
          <p:cNvSpPr txBox="1"/>
          <p:nvPr/>
        </p:nvSpPr>
        <p:spPr>
          <a:xfrm>
            <a:off x="6553200" y="2298700"/>
            <a:ext cx="4953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Critic｜評價者</a:t>
            </a:r>
            <a:endParaRPr lang="zh-TW" sz="2300"/>
          </a:p>
        </p:txBody>
      </p:sp>
      <p:sp>
        <p:nvSpPr>
          <p:cNvPr id="8" name="text_8"/>
          <p:cNvSpPr txBox="1"/>
          <p:nvPr/>
        </p:nvSpPr>
        <p:spPr>
          <a:xfrm>
            <a:off x="6553200" y="2921000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Q(s, a)</a:t>
            </a:r>
            <a:endParaRPr lang="zh-TW" sz="2000"/>
          </a:p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估計此狀態與動作的未來回報，提供 Actor</a:t>
            </a:r>
            <a:endParaRPr lang="zh-TW" sz="2000"/>
          </a:p>
          <a:p>
            <a:pPr algn="l">
              <a:lnSpc>
                <a:spcPts val="2491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更新方向。</a:t>
            </a:r>
            <a:endParaRPr lang="zh-TW" sz="2000"/>
          </a:p>
        </p:txBody>
      </p:sp>
      <p:cxnSp>
        <p:nvCxnSpPr>
          <p:cNvPr id="9" name="line_9"/>
          <p:cNvCxnSpPr/>
          <p:nvPr/>
        </p:nvCxnSpPr>
        <p:spPr>
          <a:xfrm>
            <a:off x="5588000" y="2806700"/>
            <a:ext cx="7112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cxnSp>
        <p:nvCxnSpPr>
          <p:cNvPr id="10" name="line_10"/>
          <p:cNvCxnSpPr/>
          <p:nvPr/>
        </p:nvCxnSpPr>
        <p:spPr>
          <a:xfrm flipH="1">
            <a:off x="5588000" y="3911600"/>
            <a:ext cx="7112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cxnSp>
        <p:nvCxnSpPr>
          <p:cNvPr id="11" name="line_11"/>
          <p:cNvCxnSpPr/>
          <p:nvPr/>
        </p:nvCxnSpPr>
        <p:spPr>
          <a:xfrm>
            <a:off x="685800" y="43688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12" name="text_12"/>
          <p:cNvSpPr txBox="1"/>
          <p:nvPr/>
        </p:nvSpPr>
        <p:spPr>
          <a:xfrm>
            <a:off x="685800" y="4610100"/>
            <a:ext cx="2159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22"/>
              </a:lnSpc>
              <a:spcAft>
                <a:spcPts val="0"/>
              </a:spcAft>
            </a:pPr>
            <a:r>
              <a:rPr lang="zh-TW" altLang="en-US" sz="2400" b="1" dirty="0">
                <a:solidFill>
                  <a:srgbClr val="235DB5"/>
                </a:solidFill>
                <a:latin typeface="Microsoft JhengHei"/>
                <a:ea typeface="Microsoft JhengHei"/>
              </a:rPr>
              <a:t>穩定訓練</a:t>
            </a:r>
            <a:endParaRPr lang="zh-TW" sz="2400" dirty="0"/>
          </a:p>
        </p:txBody>
      </p:sp>
      <p:sp>
        <p:nvSpPr>
          <p:cNvPr id="13" name="text_13"/>
          <p:cNvSpPr txBox="1"/>
          <p:nvPr/>
        </p:nvSpPr>
        <p:spPr>
          <a:xfrm>
            <a:off x="3098800" y="4610100"/>
            <a:ext cx="8407400" cy="698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98"/>
              </a:lnSpc>
              <a:spcAft>
                <a:spcPts val="0"/>
              </a:spcAft>
            </a:pPr>
            <a:r>
              <a:rPr lang="zh-TW" altLang="en-US" b="0" dirty="0">
                <a:solidFill>
                  <a:srgbClr val="172536"/>
                </a:solidFill>
                <a:latin typeface="Microsoft JhengHei"/>
                <a:ea typeface="Microsoft JhengHei"/>
              </a:rPr>
              <a:t>經驗回放重用互動資料，目標網路緩慢更新，降低學習目標變動。</a:t>
            </a:r>
            <a:endParaRPr lang="zh-TW" dirty="0"/>
          </a:p>
        </p:txBody>
      </p:sp>
      <p:sp>
        <p:nvSpPr>
          <p:cNvPr id="14" name="text_14"/>
          <p:cNvSpPr txBox="1"/>
          <p:nvPr/>
        </p:nvSpPr>
        <p:spPr>
          <a:xfrm>
            <a:off x="685800" y="5422900"/>
            <a:ext cx="2159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22"/>
              </a:lnSpc>
              <a:spcAft>
                <a:spcPts val="0"/>
              </a:spcAft>
            </a:pPr>
            <a:r>
              <a:rPr lang="zh-TW" altLang="en-US" sz="2400" b="1">
                <a:solidFill>
                  <a:srgbClr val="235DB5"/>
                </a:solidFill>
                <a:latin typeface="Microsoft JhengHei"/>
                <a:ea typeface="Microsoft JhengHei"/>
              </a:rPr>
              <a:t>探索與界線</a:t>
            </a:r>
            <a:endParaRPr lang="zh-TW" sz="2400"/>
          </a:p>
        </p:txBody>
      </p:sp>
      <p:sp>
        <p:nvSpPr>
          <p:cNvPr id="15" name="text_15"/>
          <p:cNvSpPr txBox="1"/>
          <p:nvPr/>
        </p:nvSpPr>
        <p:spPr>
          <a:xfrm>
            <a:off x="3098800" y="5422900"/>
            <a:ext cx="8407400" cy="825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98"/>
              </a:lnSpc>
              <a:spcAft>
                <a:spcPts val="0"/>
              </a:spcAft>
            </a:pPr>
            <a:r>
              <a:rPr lang="zh-TW" altLang="en-US" b="0" dirty="0">
                <a:solidFill>
                  <a:srgbClr val="172536"/>
                </a:solidFill>
                <a:latin typeface="Microsoft JhengHei"/>
                <a:ea typeface="Microsoft JhengHei"/>
              </a:rPr>
              <a:t>確定性策略本身不保證隨機，也不保證每次收斂。</a:t>
            </a:r>
            <a:endParaRPr lang="zh-TW" dirty="0"/>
          </a:p>
        </p:txBody>
      </p:sp>
      <p:sp>
        <p:nvSpPr>
          <p:cNvPr id="16" name="text_0066">
            <a:extLst>
              <a:ext uri="{FF2B5EF4-FFF2-40B4-BE49-F238E27FC236}">
                <a16:creationId xmlns:a16="http://schemas.microsoft.com/office/drawing/2014/main" id="{923D1A81-47DA-8885-6A06-CE29AA46B5D8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 dirty="0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18</a:t>
            </a:r>
            <a:endParaRPr lang="zh-TW" altLang="en-US" sz="1275" dirty="0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107">
            <a:extLst>
              <a:ext uri="{FF2B5EF4-FFF2-40B4-BE49-F238E27FC236}">
                <a16:creationId xmlns:a16="http://schemas.microsoft.com/office/drawing/2014/main" id="{FA943848-C99F-E549-C8AA-D6E4037D2FFF}"/>
              </a:ext>
            </a:extLst>
          </p:cNvPr>
          <p:cNvSpPr txBox="1"/>
          <p:nvPr/>
        </p:nvSpPr>
        <p:spPr>
          <a:xfrm>
            <a:off x="685800" y="457199"/>
            <a:ext cx="10820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32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田野結果：重點是效果能否維持</a:t>
            </a:r>
          </a:p>
        </p:txBody>
      </p:sp>
      <p:sp>
        <p:nvSpPr>
          <p:cNvPr id="3" name="text_0108">
            <a:extLst>
              <a:ext uri="{FF2B5EF4-FFF2-40B4-BE49-F238E27FC236}">
                <a16:creationId xmlns:a16="http://schemas.microsoft.com/office/drawing/2014/main" id="{F1A64F92-A5AA-BA09-0AA9-62367A83DEEC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19</a:t>
            </a:r>
            <a:endParaRPr lang="zh-TW" altLang="en-US" sz="1275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" name="text_0109">
            <a:extLst>
              <a:ext uri="{FF2B5EF4-FFF2-40B4-BE49-F238E27FC236}">
                <a16:creationId xmlns:a16="http://schemas.microsoft.com/office/drawing/2014/main" id="{06AA2AD5-B18C-391F-011F-4DCE03715405}"/>
              </a:ext>
            </a:extLst>
          </p:cNvPr>
          <p:cNvSpPr txBox="1"/>
          <p:nvPr/>
        </p:nvSpPr>
        <p:spPr>
          <a:xfrm>
            <a:off x="685800" y="1473199"/>
            <a:ext cx="25400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sz="59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88%</a:t>
            </a:r>
            <a:endParaRPr lang="zh-TW" altLang="en-US" sz="5900" b="1" dirty="0">
              <a:solidFill>
                <a:srgbClr val="235DB5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text_0110">
            <a:extLst>
              <a:ext uri="{FF2B5EF4-FFF2-40B4-BE49-F238E27FC236}">
                <a16:creationId xmlns:a16="http://schemas.microsoft.com/office/drawing/2014/main" id="{288CC9D5-2BFD-0BB8-CA79-8BE7F21875A6}"/>
              </a:ext>
            </a:extLst>
          </p:cNvPr>
          <p:cNvSpPr txBox="1"/>
          <p:nvPr/>
        </p:nvSpPr>
        <p:spPr>
          <a:xfrm>
            <a:off x="3302000" y="1663699"/>
            <a:ext cx="82042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sz="23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DDPG </a:t>
            </a:r>
            <a:r>
              <a:rPr lang="zh-TW" altLang="en-US" sz="23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策略的 </a:t>
            </a:r>
            <a:r>
              <a:rPr lang="en-US" altLang="zh-TW" sz="23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21 </a:t>
            </a:r>
            <a:r>
              <a:rPr lang="zh-TW" altLang="en-US" sz="23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天平均入侵頻率降低率（</a:t>
            </a:r>
            <a:r>
              <a:rPr lang="en-US" altLang="zh-TW" sz="23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IFRR</a:t>
            </a:r>
            <a:r>
              <a:rPr lang="zh-TW" altLang="en-US" sz="23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</a:p>
        </p:txBody>
      </p:sp>
      <p:sp>
        <p:nvSpPr>
          <p:cNvPr id="6" name="text_0111">
            <a:extLst>
              <a:ext uri="{FF2B5EF4-FFF2-40B4-BE49-F238E27FC236}">
                <a16:creationId xmlns:a16="http://schemas.microsoft.com/office/drawing/2014/main" id="{73189995-FD66-F56A-71F8-5A79ECC84123}"/>
              </a:ext>
            </a:extLst>
          </p:cNvPr>
          <p:cNvSpPr txBox="1"/>
          <p:nvPr/>
        </p:nvSpPr>
        <p:spPr>
          <a:xfrm>
            <a:off x="685800" y="2781299"/>
            <a:ext cx="108204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dirty="0">
                <a:solidFill>
                  <a:srgbClr val="53627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IFRR</a:t>
            </a:r>
            <a:r>
              <a:rPr lang="zh-TW" altLang="en-US" dirty="0">
                <a:solidFill>
                  <a:srgbClr val="53627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入侵頻率降低率 </a:t>
            </a:r>
            <a:r>
              <a:rPr lang="en-US" altLang="zh-TW" dirty="0">
                <a:solidFill>
                  <a:srgbClr val="53627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=</a:t>
            </a:r>
            <a:r>
              <a:rPr lang="zh-TW" altLang="en-US" dirty="0">
                <a:solidFill>
                  <a:srgbClr val="53627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（基線入侵頻率 − 驅離期入侵頻率）</a:t>
            </a:r>
            <a:r>
              <a:rPr lang="en-US" altLang="zh-TW" dirty="0">
                <a:solidFill>
                  <a:srgbClr val="53627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÷ </a:t>
            </a:r>
            <a:r>
              <a:rPr lang="zh-TW" altLang="en-US" dirty="0">
                <a:solidFill>
                  <a:srgbClr val="53627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基線入侵頻率 </a:t>
            </a:r>
            <a:r>
              <a:rPr lang="en-US" altLang="zh-TW" dirty="0">
                <a:solidFill>
                  <a:srgbClr val="53627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× 100%</a:t>
            </a:r>
            <a:endParaRPr lang="zh-TW" altLang="en-US" dirty="0">
              <a:solidFill>
                <a:srgbClr val="53627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text_0112">
            <a:extLst>
              <a:ext uri="{FF2B5EF4-FFF2-40B4-BE49-F238E27FC236}">
                <a16:creationId xmlns:a16="http://schemas.microsoft.com/office/drawing/2014/main" id="{443F8AC2-BDF5-28FC-65F7-7F2BC9B963A4}"/>
              </a:ext>
            </a:extLst>
          </p:cNvPr>
          <p:cNvSpPr txBox="1"/>
          <p:nvPr/>
        </p:nvSpPr>
        <p:spPr>
          <a:xfrm>
            <a:off x="685800" y="4333151"/>
            <a:ext cx="1854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1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比較趨勢</a:t>
            </a:r>
          </a:p>
        </p:txBody>
      </p:sp>
      <p:sp>
        <p:nvSpPr>
          <p:cNvPr id="8" name="text_0113">
            <a:extLst>
              <a:ext uri="{FF2B5EF4-FFF2-40B4-BE49-F238E27FC236}">
                <a16:creationId xmlns:a16="http://schemas.microsoft.com/office/drawing/2014/main" id="{ECDE9B06-5DCE-6842-C35B-15D3E034759C}"/>
              </a:ext>
            </a:extLst>
          </p:cNvPr>
          <p:cNvSpPr txBox="1"/>
          <p:nvPr/>
        </p:nvSpPr>
        <p:spPr>
          <a:xfrm>
            <a:off x="2717800" y="4333151"/>
            <a:ext cx="8788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研究比較固定路徑、有限隨機路徑與 </a:t>
            </a: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DDPG</a:t>
            </a: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，前兩者效果隨時間衰退。</a:t>
            </a:r>
          </a:p>
        </p:txBody>
      </p:sp>
      <p:sp>
        <p:nvSpPr>
          <p:cNvPr id="11" name="text_0116">
            <a:extLst>
              <a:ext uri="{FF2B5EF4-FFF2-40B4-BE49-F238E27FC236}">
                <a16:creationId xmlns:a16="http://schemas.microsoft.com/office/drawing/2014/main" id="{2A9AE9E7-DA36-246E-A623-C0DADC5D3296}"/>
              </a:ext>
            </a:extLst>
          </p:cNvPr>
          <p:cNvSpPr txBox="1"/>
          <p:nvPr/>
        </p:nvSpPr>
        <p:spPr>
          <a:xfrm>
            <a:off x="685800" y="5359399"/>
            <a:ext cx="1854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100" b="1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結論範圍</a:t>
            </a:r>
          </a:p>
        </p:txBody>
      </p:sp>
      <p:sp>
        <p:nvSpPr>
          <p:cNvPr id="12" name="text_0117">
            <a:extLst>
              <a:ext uri="{FF2B5EF4-FFF2-40B4-BE49-F238E27FC236}">
                <a16:creationId xmlns:a16="http://schemas.microsoft.com/office/drawing/2014/main" id="{5759FA41-C6BC-6AD7-ABF1-F57AF8A5A273}"/>
              </a:ext>
            </a:extLst>
          </p:cNvPr>
          <p:cNvSpPr txBox="1"/>
          <p:nvPr/>
        </p:nvSpPr>
        <p:spPr>
          <a:xfrm>
            <a:off x="2717800" y="5359399"/>
            <a:ext cx="8788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結果支持該場域、該觀察期間的成效，但仍需跨季節、跨果園驗證。</a:t>
            </a:r>
          </a:p>
        </p:txBody>
      </p:sp>
    </p:spTree>
    <p:extLst>
      <p:ext uri="{BB962C8B-B14F-4D97-AF65-F5344CB8AC3E}">
        <p14:creationId xmlns:p14="http://schemas.microsoft.com/office/powerpoint/2010/main" val="595249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118">
            <a:extLst>
              <a:ext uri="{FF2B5EF4-FFF2-40B4-BE49-F238E27FC236}">
                <a16:creationId xmlns:a16="http://schemas.microsoft.com/office/drawing/2014/main" id="{CF1D27E8-4B54-DEBB-8E07-AC60F09DC5BE}"/>
              </a:ext>
            </a:extLst>
          </p:cNvPr>
          <p:cNvSpPr txBox="1"/>
          <p:nvPr/>
        </p:nvSpPr>
        <p:spPr>
          <a:xfrm>
            <a:off x="685800" y="457199"/>
            <a:ext cx="10820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32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成本效益：條件式估算四個月回本</a:t>
            </a:r>
          </a:p>
        </p:txBody>
      </p:sp>
      <p:sp>
        <p:nvSpPr>
          <p:cNvPr id="3" name="text_0119">
            <a:extLst>
              <a:ext uri="{FF2B5EF4-FFF2-40B4-BE49-F238E27FC236}">
                <a16:creationId xmlns:a16="http://schemas.microsoft.com/office/drawing/2014/main" id="{059384FD-9C41-909C-7363-F0CAB4E0CFCB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 dirty="0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20</a:t>
            </a:r>
            <a:endParaRPr lang="zh-TW" altLang="en-US" sz="1275" dirty="0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D9750BE-9948-8B32-C926-99B750BFA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511749"/>
              </p:ext>
            </p:extLst>
          </p:nvPr>
        </p:nvGraphicFramePr>
        <p:xfrm>
          <a:off x="685800" y="1587500"/>
          <a:ext cx="10820400" cy="374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4200">
                  <a:extLst>
                    <a:ext uri="{9D8B030D-6E8A-4147-A177-3AD203B41FA5}">
                      <a16:colId xmlns:a16="http://schemas.microsoft.com/office/drawing/2014/main" val="1442239723"/>
                    </a:ext>
                  </a:extLst>
                </a:gridCol>
                <a:gridCol w="6426200">
                  <a:extLst>
                    <a:ext uri="{9D8B030D-6E8A-4147-A177-3AD203B41FA5}">
                      <a16:colId xmlns:a16="http://schemas.microsoft.com/office/drawing/2014/main" val="1403043228"/>
                    </a:ext>
                  </a:extLst>
                </a:gridCol>
              </a:tblGrid>
              <a:tr h="7493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50" b="1">
                          <a:solidFill>
                            <a:srgbClr val="235DB5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估算項目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50" b="1">
                          <a:solidFill>
                            <a:srgbClr val="235DB5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研究／演講採用的數值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150467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00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四組系統初期硬體成本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20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US$4,120</a:t>
                      </a:r>
                      <a:endParaRPr lang="zh-TW" altLang="en-US" sz="2000" b="0">
                        <a:solidFill>
                          <a:srgbClr val="172536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1984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假設年度作物損失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20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US$16,000</a:t>
                      </a:r>
                      <a:endParaRPr lang="zh-TW" altLang="en-US" sz="2000" b="0">
                        <a:solidFill>
                          <a:srgbClr val="172536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279570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假設可降低的損失比例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20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75%</a:t>
                      </a:r>
                      <a:r>
                        <a:rPr lang="zh-TW" altLang="en-US" sz="20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，即每年 </a:t>
                      </a:r>
                      <a:r>
                        <a:rPr lang="en-US" altLang="zh-TW" sz="20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US$12,000</a:t>
                      </a:r>
                      <a:endParaRPr lang="zh-TW" altLang="en-US" sz="2000" b="0">
                        <a:solidFill>
                          <a:srgbClr val="172536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543754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簡化回收期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2000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4,120 ÷ 12,000 ≈ 0.34 </a:t>
                      </a:r>
                      <a:r>
                        <a:rPr lang="zh-TW" altLang="en-US" sz="2000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年，約 </a:t>
                      </a:r>
                      <a:r>
                        <a:rPr lang="en-US" altLang="zh-TW" sz="2000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 </a:t>
                      </a:r>
                      <a:r>
                        <a:rPr lang="zh-TW" altLang="en-US" sz="2000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個月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186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06393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9562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874"/>
              </a:lnSpc>
              <a:spcAft>
                <a:spcPts val="0"/>
              </a:spcAft>
            </a:pPr>
            <a:r>
              <a:rPr lang="zh-TW" altLang="en-US" sz="3200" b="1" dirty="0">
                <a:solidFill>
                  <a:srgbClr val="172536"/>
                </a:solidFill>
                <a:latin typeface="Microsoft JhengHei"/>
                <a:ea typeface="Microsoft JhengHei"/>
              </a:rPr>
              <a:t>第三階段：解決漏判、誤判與追蹤範圍</a:t>
            </a:r>
            <a:endParaRPr lang="zh-TW" sz="3200" dirty="0"/>
          </a:p>
        </p:txBody>
      </p:sp>
      <p:sp>
        <p:nvSpPr>
          <p:cNvPr id="4" name="text_4"/>
          <p:cNvSpPr txBox="1"/>
          <p:nvPr/>
        </p:nvSpPr>
        <p:spPr>
          <a:xfrm>
            <a:off x="685800" y="2170844"/>
            <a:ext cx="2260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 dirty="0">
                <a:solidFill>
                  <a:srgbClr val="235DB5"/>
                </a:solidFill>
                <a:latin typeface="Microsoft JhengHei"/>
                <a:ea typeface="Microsoft JhengHei"/>
              </a:rPr>
              <a:t>漏判</a:t>
            </a:r>
            <a:endParaRPr lang="zh-TW" sz="2100" dirty="0"/>
          </a:p>
        </p:txBody>
      </p:sp>
      <p:sp>
        <p:nvSpPr>
          <p:cNvPr id="5" name="text_5"/>
          <p:cNvSpPr txBox="1"/>
          <p:nvPr/>
        </p:nvSpPr>
        <p:spPr>
          <a:xfrm>
            <a:off x="3098800" y="2170844"/>
            <a:ext cx="8407400" cy="1143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獼猴躲入樹叢、被枝葉遮住，RGB 影像只剩零碎局部，可能無法辨識。</a:t>
            </a:r>
            <a:endParaRPr lang="zh-TW" sz="2000" dirty="0"/>
          </a:p>
        </p:txBody>
      </p:sp>
      <p:sp>
        <p:nvSpPr>
          <p:cNvPr id="6" name="text_6"/>
          <p:cNvSpPr txBox="1"/>
          <p:nvPr/>
        </p:nvSpPr>
        <p:spPr>
          <a:xfrm>
            <a:off x="685800" y="3301144"/>
            <a:ext cx="2260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 dirty="0">
                <a:solidFill>
                  <a:srgbClr val="235DB5"/>
                </a:solidFill>
                <a:latin typeface="Microsoft JhengHei"/>
                <a:ea typeface="Microsoft JhengHei"/>
              </a:rPr>
              <a:t>誤判</a:t>
            </a:r>
            <a:endParaRPr lang="zh-TW" sz="2100" dirty="0"/>
          </a:p>
        </p:txBody>
      </p:sp>
      <p:sp>
        <p:nvSpPr>
          <p:cNvPr id="7" name="text_7"/>
          <p:cNvSpPr txBox="1"/>
          <p:nvPr/>
        </p:nvSpPr>
        <p:spPr>
          <a:xfrm>
            <a:off x="3098800" y="3301144"/>
            <a:ext cx="8407400" cy="1143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強光、反光與陰影可能被誤認為獼猴，需要其他感測資訊交叉確認。</a:t>
            </a:r>
            <a:endParaRPr lang="zh-TW" sz="2000"/>
          </a:p>
        </p:txBody>
      </p:sp>
      <p:sp>
        <p:nvSpPr>
          <p:cNvPr id="8" name="text_8"/>
          <p:cNvSpPr txBox="1"/>
          <p:nvPr/>
        </p:nvSpPr>
        <p:spPr>
          <a:xfrm>
            <a:off x="685800" y="4431444"/>
            <a:ext cx="2260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追不上</a:t>
            </a:r>
            <a:endParaRPr lang="zh-TW" sz="2100"/>
          </a:p>
        </p:txBody>
      </p:sp>
      <p:sp>
        <p:nvSpPr>
          <p:cNvPr id="9" name="text_9"/>
          <p:cNvSpPr txBox="1"/>
          <p:nvPr/>
        </p:nvSpPr>
        <p:spPr>
          <a:xfrm>
            <a:off x="3098800" y="4431444"/>
            <a:ext cx="8407400" cy="1143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固定攝影機視野有限，獼猴移動快速，容易離開畫面。</a:t>
            </a:r>
            <a:endParaRPr lang="zh-TW" sz="2000" dirty="0"/>
          </a:p>
        </p:txBody>
      </p:sp>
      <p:sp>
        <p:nvSpPr>
          <p:cNvPr id="12" name="text_0119">
            <a:extLst>
              <a:ext uri="{FF2B5EF4-FFF2-40B4-BE49-F238E27FC236}">
                <a16:creationId xmlns:a16="http://schemas.microsoft.com/office/drawing/2014/main" id="{F160CDFF-11CF-D1D2-B322-D026D0B5ADC4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 dirty="0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21</a:t>
            </a:r>
            <a:endParaRPr lang="zh-TW" altLang="en-US" sz="1275" dirty="0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121">
            <a:extLst>
              <a:ext uri="{FF2B5EF4-FFF2-40B4-BE49-F238E27FC236}">
                <a16:creationId xmlns:a16="http://schemas.microsoft.com/office/drawing/2014/main" id="{14201BC9-0459-AF3A-ADFD-31C4252DCA65}"/>
              </a:ext>
            </a:extLst>
          </p:cNvPr>
          <p:cNvSpPr txBox="1"/>
          <p:nvPr/>
        </p:nvSpPr>
        <p:spPr>
          <a:xfrm>
            <a:off x="685800" y="457199"/>
            <a:ext cx="10820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32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辨識問題：單一 </a:t>
            </a:r>
            <a:r>
              <a:rPr lang="en-US" altLang="zh-TW" sz="32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RGB </a:t>
            </a:r>
            <a:r>
              <a:rPr lang="zh-TW" altLang="en-US" sz="32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影像仍會漏判、誤判</a:t>
            </a:r>
          </a:p>
        </p:txBody>
      </p:sp>
      <p:sp>
        <p:nvSpPr>
          <p:cNvPr id="3" name="text_0122">
            <a:extLst>
              <a:ext uri="{FF2B5EF4-FFF2-40B4-BE49-F238E27FC236}">
                <a16:creationId xmlns:a16="http://schemas.microsoft.com/office/drawing/2014/main" id="{F9F6DC69-94CD-1114-9E02-2ED8806E6800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22</a:t>
            </a:r>
            <a:endParaRPr lang="zh-TW" altLang="en-US" sz="1275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  <p:pic>
        <p:nvPicPr>
          <p:cNvPr id="5" name="source_fusion_photo">
            <a:extLst>
              <a:ext uri="{FF2B5EF4-FFF2-40B4-BE49-F238E27FC236}">
                <a16:creationId xmlns:a16="http://schemas.microsoft.com/office/drawing/2014/main" id="{19028E9F-98A7-358A-9BD6-27C3F38862B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474219"/>
            <a:ext cx="10820400" cy="2449062"/>
          </a:xfrm>
          <a:prstGeom prst="rect">
            <a:avLst/>
          </a:prstGeom>
        </p:spPr>
      </p:pic>
      <p:sp>
        <p:nvSpPr>
          <p:cNvPr id="6" name="text_0123">
            <a:extLst>
              <a:ext uri="{FF2B5EF4-FFF2-40B4-BE49-F238E27FC236}">
                <a16:creationId xmlns:a16="http://schemas.microsoft.com/office/drawing/2014/main" id="{F71B6510-7626-5BC4-4EF2-393DE3666B48}"/>
              </a:ext>
            </a:extLst>
          </p:cNvPr>
          <p:cNvSpPr txBox="1"/>
          <p:nvPr/>
        </p:nvSpPr>
        <p:spPr>
          <a:xfrm>
            <a:off x="685800" y="4229099"/>
            <a:ext cx="2032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sz="20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RGB </a:t>
            </a:r>
            <a:r>
              <a:rPr lang="zh-TW" altLang="en-US" sz="20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的資訊</a:t>
            </a:r>
          </a:p>
        </p:txBody>
      </p:sp>
      <p:sp>
        <p:nvSpPr>
          <p:cNvPr id="7" name="text_0124">
            <a:extLst>
              <a:ext uri="{FF2B5EF4-FFF2-40B4-BE49-F238E27FC236}">
                <a16:creationId xmlns:a16="http://schemas.microsoft.com/office/drawing/2014/main" id="{69819C29-D34B-EA56-6796-C7088D384F3E}"/>
              </a:ext>
            </a:extLst>
          </p:cNvPr>
          <p:cNvSpPr txBox="1"/>
          <p:nvPr/>
        </p:nvSpPr>
        <p:spPr>
          <a:xfrm>
            <a:off x="2844800" y="4229099"/>
            <a:ext cx="8661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19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外觀、顏色與紋理清楚，但易受逆光、陰影與背景相似影響。</a:t>
            </a:r>
          </a:p>
        </p:txBody>
      </p:sp>
      <p:sp>
        <p:nvSpPr>
          <p:cNvPr id="8" name="text_0125">
            <a:extLst>
              <a:ext uri="{FF2B5EF4-FFF2-40B4-BE49-F238E27FC236}">
                <a16:creationId xmlns:a16="http://schemas.microsoft.com/office/drawing/2014/main" id="{55C4A5FC-C891-EE43-FE29-C15BE67869DA}"/>
              </a:ext>
            </a:extLst>
          </p:cNvPr>
          <p:cNvSpPr txBox="1"/>
          <p:nvPr/>
        </p:nvSpPr>
        <p:spPr>
          <a:xfrm>
            <a:off x="685800" y="4902199"/>
            <a:ext cx="2032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000" b="1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熱影像的補充</a:t>
            </a:r>
          </a:p>
        </p:txBody>
      </p:sp>
      <p:sp>
        <p:nvSpPr>
          <p:cNvPr id="9" name="text_0126">
            <a:extLst>
              <a:ext uri="{FF2B5EF4-FFF2-40B4-BE49-F238E27FC236}">
                <a16:creationId xmlns:a16="http://schemas.microsoft.com/office/drawing/2014/main" id="{D5C1D24A-0D09-133B-15A8-A6CFBEB23F76}"/>
              </a:ext>
            </a:extLst>
          </p:cNvPr>
          <p:cNvSpPr txBox="1"/>
          <p:nvPr/>
        </p:nvSpPr>
        <p:spPr>
          <a:xfrm>
            <a:off x="2844800" y="4902199"/>
            <a:ext cx="8661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19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提供不同於可見光的熱訊號，協助判斷候選區域，但不代表能穿透所有遮擋。</a:t>
            </a:r>
          </a:p>
        </p:txBody>
      </p:sp>
      <p:sp>
        <p:nvSpPr>
          <p:cNvPr id="10" name="text_0127">
            <a:extLst>
              <a:ext uri="{FF2B5EF4-FFF2-40B4-BE49-F238E27FC236}">
                <a16:creationId xmlns:a16="http://schemas.microsoft.com/office/drawing/2014/main" id="{EEA69353-47D5-AB38-C1F8-E418C5A5F250}"/>
              </a:ext>
            </a:extLst>
          </p:cNvPr>
          <p:cNvSpPr txBox="1"/>
          <p:nvPr/>
        </p:nvSpPr>
        <p:spPr>
          <a:xfrm>
            <a:off x="685800" y="5575299"/>
            <a:ext cx="2032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000" b="1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研究方向</a:t>
            </a:r>
          </a:p>
        </p:txBody>
      </p:sp>
      <p:sp>
        <p:nvSpPr>
          <p:cNvPr id="11" name="text_0128">
            <a:extLst>
              <a:ext uri="{FF2B5EF4-FFF2-40B4-BE49-F238E27FC236}">
                <a16:creationId xmlns:a16="http://schemas.microsoft.com/office/drawing/2014/main" id="{1AE4E855-49C0-9DD3-9D62-084243FB313A}"/>
              </a:ext>
            </a:extLst>
          </p:cNvPr>
          <p:cNvSpPr txBox="1"/>
          <p:nvPr/>
        </p:nvSpPr>
        <p:spPr>
          <a:xfrm>
            <a:off x="2844800" y="5575299"/>
            <a:ext cx="8661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190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讓不同感測資訊互補，並檢驗是否真的降低誤報與漏報。</a:t>
            </a:r>
          </a:p>
        </p:txBody>
      </p:sp>
    </p:spTree>
    <p:extLst>
      <p:ext uri="{BB962C8B-B14F-4D97-AF65-F5344CB8AC3E}">
        <p14:creationId xmlns:p14="http://schemas.microsoft.com/office/powerpoint/2010/main" val="948931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129">
            <a:extLst>
              <a:ext uri="{FF2B5EF4-FFF2-40B4-BE49-F238E27FC236}">
                <a16:creationId xmlns:a16="http://schemas.microsoft.com/office/drawing/2014/main" id="{35A1A8D6-3DDA-C897-6BFF-674AC634B8BC}"/>
              </a:ext>
            </a:extLst>
          </p:cNvPr>
          <p:cNvSpPr txBox="1"/>
          <p:nvPr/>
        </p:nvSpPr>
        <p:spPr>
          <a:xfrm>
            <a:off x="685800" y="457199"/>
            <a:ext cx="10820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32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多模態融合：必須先對齊時間與空間</a:t>
            </a:r>
          </a:p>
        </p:txBody>
      </p:sp>
      <p:sp>
        <p:nvSpPr>
          <p:cNvPr id="3" name="text_0130">
            <a:extLst>
              <a:ext uri="{FF2B5EF4-FFF2-40B4-BE49-F238E27FC236}">
                <a16:creationId xmlns:a16="http://schemas.microsoft.com/office/drawing/2014/main" id="{D0368E8A-8B5B-A682-0FD2-3DF1EF1A39A2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23</a:t>
            </a:r>
            <a:endParaRPr lang="zh-TW" altLang="en-US" sz="1275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" name="text_0131">
            <a:extLst>
              <a:ext uri="{FF2B5EF4-FFF2-40B4-BE49-F238E27FC236}">
                <a16:creationId xmlns:a16="http://schemas.microsoft.com/office/drawing/2014/main" id="{7E64EC1D-DFAF-B0EE-66C9-E3C7EE894605}"/>
              </a:ext>
            </a:extLst>
          </p:cNvPr>
          <p:cNvSpPr txBox="1"/>
          <p:nvPr/>
        </p:nvSpPr>
        <p:spPr>
          <a:xfrm>
            <a:off x="685800" y="1816099"/>
            <a:ext cx="2235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1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時間同步</a:t>
            </a:r>
          </a:p>
        </p:txBody>
      </p:sp>
      <p:sp>
        <p:nvSpPr>
          <p:cNvPr id="5" name="text_0132">
            <a:extLst>
              <a:ext uri="{FF2B5EF4-FFF2-40B4-BE49-F238E27FC236}">
                <a16:creationId xmlns:a16="http://schemas.microsoft.com/office/drawing/2014/main" id="{6C62F84A-3E1D-EB10-9033-44605D4A8822}"/>
              </a:ext>
            </a:extLst>
          </p:cNvPr>
          <p:cNvSpPr txBox="1"/>
          <p:nvPr/>
        </p:nvSpPr>
        <p:spPr>
          <a:xfrm>
            <a:off x="3098800" y="1816099"/>
            <a:ext cx="8407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若兩種影像未同步，配對影格可能拍攝於不同時刻，移動目標因此出現在不同位置。</a:t>
            </a:r>
          </a:p>
        </p:txBody>
      </p:sp>
      <p:sp>
        <p:nvSpPr>
          <p:cNvPr id="6" name="text_0133">
            <a:extLst>
              <a:ext uri="{FF2B5EF4-FFF2-40B4-BE49-F238E27FC236}">
                <a16:creationId xmlns:a16="http://schemas.microsoft.com/office/drawing/2014/main" id="{231CDA24-77E0-90B2-EB8F-843B93969F5F}"/>
              </a:ext>
            </a:extLst>
          </p:cNvPr>
          <p:cNvSpPr txBox="1"/>
          <p:nvPr/>
        </p:nvSpPr>
        <p:spPr>
          <a:xfrm>
            <a:off x="685800" y="3225799"/>
            <a:ext cx="2235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100" b="1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空間對齊</a:t>
            </a:r>
          </a:p>
        </p:txBody>
      </p:sp>
      <p:sp>
        <p:nvSpPr>
          <p:cNvPr id="7" name="text_0134">
            <a:extLst>
              <a:ext uri="{FF2B5EF4-FFF2-40B4-BE49-F238E27FC236}">
                <a16:creationId xmlns:a16="http://schemas.microsoft.com/office/drawing/2014/main" id="{403E8CB8-75F9-01AF-5A31-9D2171663906}"/>
              </a:ext>
            </a:extLst>
          </p:cNvPr>
          <p:cNvSpPr txBox="1"/>
          <p:nvPr/>
        </p:nvSpPr>
        <p:spPr>
          <a:xfrm>
            <a:off x="3098800" y="3225799"/>
            <a:ext cx="8407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00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解析度、視角與成像範圍不同，需要建立對應，避免把不同位置誤認為同一目標。</a:t>
            </a:r>
          </a:p>
        </p:txBody>
      </p:sp>
      <p:sp>
        <p:nvSpPr>
          <p:cNvPr id="8" name="text_0135">
            <a:extLst>
              <a:ext uri="{FF2B5EF4-FFF2-40B4-BE49-F238E27FC236}">
                <a16:creationId xmlns:a16="http://schemas.microsoft.com/office/drawing/2014/main" id="{8764561A-CCBF-C733-0EBC-3E77016CDBC4}"/>
              </a:ext>
            </a:extLst>
          </p:cNvPr>
          <p:cNvSpPr txBox="1"/>
          <p:nvPr/>
        </p:nvSpPr>
        <p:spPr>
          <a:xfrm>
            <a:off x="685800" y="4635499"/>
            <a:ext cx="2235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100" b="1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融合與驗證</a:t>
            </a:r>
          </a:p>
        </p:txBody>
      </p:sp>
      <p:sp>
        <p:nvSpPr>
          <p:cNvPr id="9" name="text_0136">
            <a:extLst>
              <a:ext uri="{FF2B5EF4-FFF2-40B4-BE49-F238E27FC236}">
                <a16:creationId xmlns:a16="http://schemas.microsoft.com/office/drawing/2014/main" id="{78E39652-1180-5678-4FE8-F15DE7CCE7DB}"/>
              </a:ext>
            </a:extLst>
          </p:cNvPr>
          <p:cNvSpPr txBox="1"/>
          <p:nvPr/>
        </p:nvSpPr>
        <p:spPr>
          <a:xfrm>
            <a:off x="3098800" y="4635499"/>
            <a:ext cx="8407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可比較早期、中期與晚期融合，以相同資料與條件檢查收益、延遲與失敗情境。</a:t>
            </a:r>
          </a:p>
        </p:txBody>
      </p:sp>
    </p:spTree>
    <p:extLst>
      <p:ext uri="{BB962C8B-B14F-4D97-AF65-F5344CB8AC3E}">
        <p14:creationId xmlns:p14="http://schemas.microsoft.com/office/powerpoint/2010/main" val="31033503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137">
            <a:extLst>
              <a:ext uri="{FF2B5EF4-FFF2-40B4-BE49-F238E27FC236}">
                <a16:creationId xmlns:a16="http://schemas.microsoft.com/office/drawing/2014/main" id="{E36E408C-AB5B-A37E-50FC-BE0817BA3054}"/>
              </a:ext>
            </a:extLst>
          </p:cNvPr>
          <p:cNvSpPr txBox="1"/>
          <p:nvPr/>
        </p:nvSpPr>
        <p:spPr>
          <a:xfrm>
            <a:off x="685800" y="457199"/>
            <a:ext cx="10820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32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無人機協同：仍在發展的研究方向</a:t>
            </a:r>
          </a:p>
        </p:txBody>
      </p:sp>
      <p:sp>
        <p:nvSpPr>
          <p:cNvPr id="3" name="text_0138">
            <a:extLst>
              <a:ext uri="{FF2B5EF4-FFF2-40B4-BE49-F238E27FC236}">
                <a16:creationId xmlns:a16="http://schemas.microsoft.com/office/drawing/2014/main" id="{CF49B860-B962-E5EF-7C78-13A29D227685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24</a:t>
            </a:r>
            <a:endParaRPr lang="zh-TW" altLang="en-US" sz="1275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6" name="text_0139">
            <a:extLst>
              <a:ext uri="{FF2B5EF4-FFF2-40B4-BE49-F238E27FC236}">
                <a16:creationId xmlns:a16="http://schemas.microsoft.com/office/drawing/2014/main" id="{8A57959A-8B6D-D1EA-7054-6423F8EA9B8D}"/>
              </a:ext>
            </a:extLst>
          </p:cNvPr>
          <p:cNvSpPr txBox="1"/>
          <p:nvPr/>
        </p:nvSpPr>
        <p:spPr>
          <a:xfrm>
            <a:off x="6553200" y="1549399"/>
            <a:ext cx="4953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4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構想</a:t>
            </a:r>
          </a:p>
        </p:txBody>
      </p:sp>
      <p:sp>
        <p:nvSpPr>
          <p:cNvPr id="7" name="text_0140">
            <a:extLst>
              <a:ext uri="{FF2B5EF4-FFF2-40B4-BE49-F238E27FC236}">
                <a16:creationId xmlns:a16="http://schemas.microsoft.com/office/drawing/2014/main" id="{E9A24D4A-DF24-18C6-18C0-8A52AF328591}"/>
              </a:ext>
            </a:extLst>
          </p:cNvPr>
          <p:cNvSpPr txBox="1"/>
          <p:nvPr/>
        </p:nvSpPr>
        <p:spPr>
          <a:xfrm>
            <a:off x="6553200" y="1968499"/>
            <a:ext cx="49530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結合地面站與空中觀測，擴大視野並追蹤離開固定攝影範圍的目標。</a:t>
            </a:r>
          </a:p>
        </p:txBody>
      </p:sp>
      <p:sp>
        <p:nvSpPr>
          <p:cNvPr id="8" name="text_0141">
            <a:extLst>
              <a:ext uri="{FF2B5EF4-FFF2-40B4-BE49-F238E27FC236}">
                <a16:creationId xmlns:a16="http://schemas.microsoft.com/office/drawing/2014/main" id="{44D98629-4A73-90F2-7F11-88174F9945C1}"/>
              </a:ext>
            </a:extLst>
          </p:cNvPr>
          <p:cNvSpPr txBox="1"/>
          <p:nvPr/>
        </p:nvSpPr>
        <p:spPr>
          <a:xfrm>
            <a:off x="6553200" y="3060699"/>
            <a:ext cx="4953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400" b="1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挑戰</a:t>
            </a:r>
          </a:p>
        </p:txBody>
      </p:sp>
      <p:sp>
        <p:nvSpPr>
          <p:cNvPr id="9" name="text_0142">
            <a:extLst>
              <a:ext uri="{FF2B5EF4-FFF2-40B4-BE49-F238E27FC236}">
                <a16:creationId xmlns:a16="http://schemas.microsoft.com/office/drawing/2014/main" id="{9E9CB773-26DD-31E8-7CA9-B0439BEA20C2}"/>
              </a:ext>
            </a:extLst>
          </p:cNvPr>
          <p:cNvSpPr txBox="1"/>
          <p:nvPr/>
        </p:nvSpPr>
        <p:spPr>
          <a:xfrm>
            <a:off x="6553200" y="3479799"/>
            <a:ext cx="49530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自主飛行、影像傳輸、機載運算、續航與地空協同，都需要額外驗證。</a:t>
            </a:r>
          </a:p>
        </p:txBody>
      </p:sp>
      <p:sp>
        <p:nvSpPr>
          <p:cNvPr id="10" name="text_0143">
            <a:extLst>
              <a:ext uri="{FF2B5EF4-FFF2-40B4-BE49-F238E27FC236}">
                <a16:creationId xmlns:a16="http://schemas.microsoft.com/office/drawing/2014/main" id="{389F2DC5-61C2-CA53-DD18-8D94BB09A5E9}"/>
              </a:ext>
            </a:extLst>
          </p:cNvPr>
          <p:cNvSpPr txBox="1"/>
          <p:nvPr/>
        </p:nvSpPr>
        <p:spPr>
          <a:xfrm>
            <a:off x="6553200" y="4571999"/>
            <a:ext cx="4953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400" b="1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進度界線</a:t>
            </a:r>
          </a:p>
        </p:txBody>
      </p:sp>
      <p:sp>
        <p:nvSpPr>
          <p:cNvPr id="11" name="text_0144">
            <a:extLst>
              <a:ext uri="{FF2B5EF4-FFF2-40B4-BE49-F238E27FC236}">
                <a16:creationId xmlns:a16="http://schemas.microsoft.com/office/drawing/2014/main" id="{B9CC0C30-9F90-23FE-798D-9E6A4B532789}"/>
              </a:ext>
            </a:extLst>
          </p:cNvPr>
          <p:cNvSpPr txBox="1"/>
          <p:nvPr/>
        </p:nvSpPr>
        <p:spPr>
          <a:xfrm>
            <a:off x="6553200" y="4991099"/>
            <a:ext cx="49530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講者在本次演講中明說尚未有完整結果。</a:t>
            </a:r>
          </a:p>
        </p:txBody>
      </p:sp>
      <p:sp>
        <p:nvSpPr>
          <p:cNvPr id="12" name="text_0145">
            <a:extLst>
              <a:ext uri="{FF2B5EF4-FFF2-40B4-BE49-F238E27FC236}">
                <a16:creationId xmlns:a16="http://schemas.microsoft.com/office/drawing/2014/main" id="{87C0A35F-8512-E830-F765-F26B320290DF}"/>
              </a:ext>
            </a:extLst>
          </p:cNvPr>
          <p:cNvSpPr txBox="1"/>
          <p:nvPr/>
        </p:nvSpPr>
        <p:spPr>
          <a:xfrm>
            <a:off x="685800" y="5486399"/>
            <a:ext cx="533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1600" dirty="0">
                <a:solidFill>
                  <a:srgbClr val="53627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演講展示的空拍觀測影像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D19F8E14-823A-BE75-1128-58A007885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91" y="1968499"/>
            <a:ext cx="5846409" cy="332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6893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146">
            <a:extLst>
              <a:ext uri="{FF2B5EF4-FFF2-40B4-BE49-F238E27FC236}">
                <a16:creationId xmlns:a16="http://schemas.microsoft.com/office/drawing/2014/main" id="{9AD42ACA-7E89-111C-C5B0-0C891379CC13}"/>
              </a:ext>
            </a:extLst>
          </p:cNvPr>
          <p:cNvSpPr txBox="1"/>
          <p:nvPr/>
        </p:nvSpPr>
        <p:spPr>
          <a:xfrm>
            <a:off x="685800" y="457199"/>
            <a:ext cx="10820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32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給研一的研究心法：先跑通最小閉環，再逐步升級</a:t>
            </a:r>
          </a:p>
        </p:txBody>
      </p:sp>
      <p:sp>
        <p:nvSpPr>
          <p:cNvPr id="3" name="text_0147">
            <a:extLst>
              <a:ext uri="{FF2B5EF4-FFF2-40B4-BE49-F238E27FC236}">
                <a16:creationId xmlns:a16="http://schemas.microsoft.com/office/drawing/2014/main" id="{712631E1-29CD-6231-DD7B-8681352B9EA7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25</a:t>
            </a:r>
            <a:endParaRPr lang="zh-TW" altLang="en-US" sz="1275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" name="text_0148">
            <a:extLst>
              <a:ext uri="{FF2B5EF4-FFF2-40B4-BE49-F238E27FC236}">
                <a16:creationId xmlns:a16="http://schemas.microsoft.com/office/drawing/2014/main" id="{2395530E-66FC-0444-8BB0-149A5FB05861}"/>
              </a:ext>
            </a:extLst>
          </p:cNvPr>
          <p:cNvSpPr txBox="1"/>
          <p:nvPr/>
        </p:nvSpPr>
        <p:spPr>
          <a:xfrm>
            <a:off x="685800" y="1816099"/>
            <a:ext cx="2235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1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先可運作</a:t>
            </a:r>
          </a:p>
        </p:txBody>
      </p:sp>
      <p:sp>
        <p:nvSpPr>
          <p:cNvPr id="5" name="text_0149">
            <a:extLst>
              <a:ext uri="{FF2B5EF4-FFF2-40B4-BE49-F238E27FC236}">
                <a16:creationId xmlns:a16="http://schemas.microsoft.com/office/drawing/2014/main" id="{63C72141-52A7-9BA7-616C-B5596E574AFB}"/>
              </a:ext>
            </a:extLst>
          </p:cNvPr>
          <p:cNvSpPr txBox="1"/>
          <p:nvPr/>
        </p:nvSpPr>
        <p:spPr>
          <a:xfrm>
            <a:off x="3098800" y="1816099"/>
            <a:ext cx="8407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以可控制的材料與環境，完成感知、控制及回饋，找出真正卡住的問題。</a:t>
            </a:r>
          </a:p>
        </p:txBody>
      </p:sp>
      <p:sp>
        <p:nvSpPr>
          <p:cNvPr id="6" name="text_0150">
            <a:extLst>
              <a:ext uri="{FF2B5EF4-FFF2-40B4-BE49-F238E27FC236}">
                <a16:creationId xmlns:a16="http://schemas.microsoft.com/office/drawing/2014/main" id="{F4D1CD2E-74D1-7721-3AFF-87546B878949}"/>
              </a:ext>
            </a:extLst>
          </p:cNvPr>
          <p:cNvSpPr txBox="1"/>
          <p:nvPr/>
        </p:nvSpPr>
        <p:spPr>
          <a:xfrm>
            <a:off x="685800" y="3225799"/>
            <a:ext cx="2235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100" b="1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一次改一項</a:t>
            </a:r>
          </a:p>
        </p:txBody>
      </p:sp>
      <p:sp>
        <p:nvSpPr>
          <p:cNvPr id="7" name="text_0151">
            <a:extLst>
              <a:ext uri="{FF2B5EF4-FFF2-40B4-BE49-F238E27FC236}">
                <a16:creationId xmlns:a16="http://schemas.microsoft.com/office/drawing/2014/main" id="{70C74407-0CC2-04E0-6EDE-993A641D903C}"/>
              </a:ext>
            </a:extLst>
          </p:cNvPr>
          <p:cNvSpPr txBox="1"/>
          <p:nvPr/>
        </p:nvSpPr>
        <p:spPr>
          <a:xfrm>
            <a:off x="3098800" y="3225799"/>
            <a:ext cx="8407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辨識、追蹤、校正或決策模組分開量測，避免同時變更多項而無法解釋改進來源。</a:t>
            </a:r>
          </a:p>
        </p:txBody>
      </p:sp>
      <p:sp>
        <p:nvSpPr>
          <p:cNvPr id="8" name="text_0152">
            <a:extLst>
              <a:ext uri="{FF2B5EF4-FFF2-40B4-BE49-F238E27FC236}">
                <a16:creationId xmlns:a16="http://schemas.microsoft.com/office/drawing/2014/main" id="{7B185A52-611E-7A31-EE63-5338A57E625A}"/>
              </a:ext>
            </a:extLst>
          </p:cNvPr>
          <p:cNvSpPr txBox="1"/>
          <p:nvPr/>
        </p:nvSpPr>
        <p:spPr>
          <a:xfrm>
            <a:off x="685800" y="4635499"/>
            <a:ext cx="2235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100" b="1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讓限制延伸題目</a:t>
            </a:r>
          </a:p>
        </p:txBody>
      </p:sp>
      <p:sp>
        <p:nvSpPr>
          <p:cNvPr id="9" name="text_0153">
            <a:extLst>
              <a:ext uri="{FF2B5EF4-FFF2-40B4-BE49-F238E27FC236}">
                <a16:creationId xmlns:a16="http://schemas.microsoft.com/office/drawing/2014/main" id="{349422A0-C32F-BCA0-0B62-7366D488BCE5}"/>
              </a:ext>
            </a:extLst>
          </p:cNvPr>
          <p:cNvSpPr txBox="1"/>
          <p:nvPr/>
        </p:nvSpPr>
        <p:spPr>
          <a:xfrm>
            <a:off x="3098800" y="4635499"/>
            <a:ext cx="8407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00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把上一階段的失敗條件，轉成下一階段可測量、可比較的研究問題。</a:t>
            </a:r>
          </a:p>
        </p:txBody>
      </p:sp>
    </p:spTree>
    <p:extLst>
      <p:ext uri="{BB962C8B-B14F-4D97-AF65-F5344CB8AC3E}">
        <p14:creationId xmlns:p14="http://schemas.microsoft.com/office/powerpoint/2010/main" val="732027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154">
            <a:extLst>
              <a:ext uri="{FF2B5EF4-FFF2-40B4-BE49-F238E27FC236}">
                <a16:creationId xmlns:a16="http://schemas.microsoft.com/office/drawing/2014/main" id="{B182D9B2-A931-7DA3-8B61-D7BDBECE2BC2}"/>
              </a:ext>
            </a:extLst>
          </p:cNvPr>
          <p:cNvSpPr txBox="1"/>
          <p:nvPr/>
        </p:nvSpPr>
        <p:spPr>
          <a:xfrm>
            <a:off x="685800" y="457199"/>
            <a:ext cx="10820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32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實驗設計：讓改進有可比較的證據</a:t>
            </a:r>
          </a:p>
        </p:txBody>
      </p:sp>
      <p:sp>
        <p:nvSpPr>
          <p:cNvPr id="3" name="text_0155">
            <a:extLst>
              <a:ext uri="{FF2B5EF4-FFF2-40B4-BE49-F238E27FC236}">
                <a16:creationId xmlns:a16="http://schemas.microsoft.com/office/drawing/2014/main" id="{7E9FCF08-35CF-CA0D-C9C3-79400EEA9195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 dirty="0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26</a:t>
            </a:r>
            <a:endParaRPr lang="zh-TW" altLang="en-US" sz="1275" dirty="0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8A01608-5F58-BE12-20BE-16C701231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814559"/>
              </p:ext>
            </p:extLst>
          </p:nvPr>
        </p:nvGraphicFramePr>
        <p:xfrm>
          <a:off x="685800" y="1587500"/>
          <a:ext cx="108204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962685072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102624637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348667328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b="1" dirty="0">
                          <a:solidFill>
                            <a:srgbClr val="235DB5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層面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b="1" dirty="0">
                          <a:solidFill>
                            <a:srgbClr val="235DB5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可使用的指標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b="1">
                          <a:solidFill>
                            <a:srgbClr val="235DB5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必須交代的條件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63901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辨識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800" b="0" dirty="0" err="1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mAP</a:t>
                      </a:r>
                      <a:r>
                        <a:rPr lang="zh-TW" altLang="en-US" sz="1800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800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Precision</a:t>
                      </a:r>
                      <a:r>
                        <a:rPr lang="zh-TW" altLang="en-US" sz="1800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800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Recall</a:t>
                      </a:r>
                      <a:r>
                        <a:rPr lang="zh-TW" altLang="en-US" sz="1800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、誤報率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資料切分、類別與場景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71672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追蹤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軌跡壽命、</a:t>
                      </a:r>
                      <a:r>
                        <a:rPr lang="en-US" altLang="zh-TW" sz="18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ID </a:t>
                      </a:r>
                      <a:r>
                        <a:rPr lang="zh-TW" altLang="en-US" sz="18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切換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遮擋、目標數與相似程度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06769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控制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定位 </a:t>
                      </a:r>
                      <a:r>
                        <a:rPr lang="en-US" altLang="zh-TW" sz="18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RMSE</a:t>
                      </a:r>
                      <a:r>
                        <a:rPr lang="zh-TW" altLang="en-US" sz="18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、延遲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校正點分布、設備與量測範圍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55164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應用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b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入侵頻率、停留時間、損失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b="0" dirty="0">
                          <a:solidFill>
                            <a:srgbClr val="17253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基線期、觀察期間與季節差異</a:t>
                      </a:r>
                    </a:p>
                  </a:txBody>
                  <a:tcPr marL="114300" marR="114300" marT="88900" marB="63500" anchor="ctr">
                    <a:lnL w="6350" cmpd="sng">
                      <a:solidFill>
                        <a:srgbClr val="CAD2DA"/>
                      </a:solidFill>
                    </a:lnL>
                    <a:lnR w="6350" cmpd="sng">
                      <a:solidFill>
                        <a:srgbClr val="CAD2DA"/>
                      </a:solidFill>
                    </a:lnR>
                    <a:lnT w="6350" cmpd="sng">
                      <a:solidFill>
                        <a:srgbClr val="CAD2DA"/>
                      </a:solidFill>
                    </a:lnT>
                    <a:lnB w="6350" cmpd="sng">
                      <a:solidFill>
                        <a:srgbClr val="CAD2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840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780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512802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874"/>
              </a:lnSpc>
              <a:spcAft>
                <a:spcPts val="0"/>
              </a:spcAft>
            </a:pPr>
            <a:r>
              <a:rPr lang="zh-TW" altLang="en-US" sz="3200" b="1" dirty="0">
                <a:solidFill>
                  <a:srgbClr val="172536"/>
                </a:solidFill>
                <a:latin typeface="Microsoft JhengHei"/>
                <a:ea typeface="Microsoft JhengHei"/>
              </a:rPr>
              <a:t>心得報告</a:t>
            </a:r>
            <a:endParaRPr lang="zh-TW" sz="32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24804B8-953E-3316-23FC-41497402F657}"/>
              </a:ext>
            </a:extLst>
          </p:cNvPr>
          <p:cNvSpPr txBox="1"/>
          <p:nvPr/>
        </p:nvSpPr>
        <p:spPr>
          <a:xfrm>
            <a:off x="685800" y="1606937"/>
            <a:ext cx="108204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rgbClr val="172536"/>
                </a:solidFill>
                <a:latin typeface="Microsoft JhengHei"/>
                <a:ea typeface="Microsoft JhengHei"/>
              </a:rPr>
              <a:t>這次「</a:t>
            </a:r>
            <a:r>
              <a:rPr lang="en-US" altLang="zh-TW" sz="2000" dirty="0">
                <a:solidFill>
                  <a:srgbClr val="172536"/>
                </a:solidFill>
                <a:latin typeface="Microsoft JhengHei"/>
                <a:ea typeface="Microsoft JhengHei"/>
              </a:rPr>
              <a:t>AI </a:t>
            </a:r>
            <a:r>
              <a:rPr lang="zh-TW" altLang="en-US" sz="2000" dirty="0">
                <a:solidFill>
                  <a:srgbClr val="172536"/>
                </a:solidFill>
                <a:latin typeface="Microsoft JhengHei"/>
                <a:ea typeface="Microsoft JhengHei"/>
              </a:rPr>
              <a:t>果園防猴系統」演講讓我印象最深刻的，是講者如何從一個實際問題出發，透過三個研究階段逐步建立系統、發現限制，再延伸出新的研究方向。從影像辨識與雷射控制，到多目標追蹤、強化式學習，再到熱影像與無人機協同，每一階段都有其要處理的問題與驗證範圍。</a:t>
            </a:r>
            <a:endParaRPr lang="en-US" altLang="zh-TW" sz="2000" dirty="0">
              <a:solidFill>
                <a:srgbClr val="172536"/>
              </a:solidFill>
              <a:latin typeface="Microsoft JhengHei"/>
              <a:ea typeface="Microsoft JhengHei"/>
            </a:endParaRPr>
          </a:p>
          <a:p>
            <a:endParaRPr lang="en-US" altLang="zh-TW" sz="2000" dirty="0">
              <a:solidFill>
                <a:srgbClr val="172536"/>
              </a:solidFill>
              <a:latin typeface="Microsoft JhengHei"/>
              <a:ea typeface="Microsoft JhengHei"/>
            </a:endParaRPr>
          </a:p>
          <a:p>
            <a:r>
              <a:rPr lang="zh-TW" altLang="en-US" sz="2000" dirty="0">
                <a:solidFill>
                  <a:srgbClr val="172536"/>
                </a:solidFill>
                <a:latin typeface="Microsoft JhengHei"/>
                <a:ea typeface="Microsoft JhengHei"/>
              </a:rPr>
              <a:t>流程評估的指標同樣必須對準真正的問題。辨識是否準確、雷射是否定位正確、追蹤是否穩定，以及驅離效果能否維持，分別需要不同的證據。短期內成功驅趕，也不足以證明整個採收季都有效。先釐清想解決的問題，再選擇能反映該問題的指標，才能清楚解釋方法為什麼有效，以及結論可以適用到什麼範圍。</a:t>
            </a:r>
            <a:endParaRPr lang="en-US" altLang="zh-TW" sz="2000" dirty="0">
              <a:solidFill>
                <a:srgbClr val="172536"/>
              </a:solidFill>
              <a:latin typeface="Microsoft JhengHei"/>
              <a:ea typeface="Microsoft JhengHei"/>
            </a:endParaRPr>
          </a:p>
          <a:p>
            <a:endParaRPr lang="en-US" altLang="zh-TW" sz="2000" dirty="0">
              <a:solidFill>
                <a:srgbClr val="172536"/>
              </a:solidFill>
              <a:latin typeface="Microsoft JhengHei"/>
              <a:ea typeface="Microsoft JhengHei"/>
            </a:endParaRPr>
          </a:p>
          <a:p>
            <a:r>
              <a:rPr lang="zh-TW" altLang="en-US" sz="2000" dirty="0">
                <a:solidFill>
                  <a:srgbClr val="172536"/>
                </a:solidFill>
                <a:latin typeface="Microsoft JhengHei"/>
                <a:ea typeface="Microsoft JhengHei"/>
              </a:rPr>
              <a:t>演講最後告訴我們碩士生的六個問題</a:t>
            </a:r>
            <a:r>
              <a:rPr lang="en-US" altLang="zh-TW" sz="2000" dirty="0">
                <a:solidFill>
                  <a:srgbClr val="172536"/>
                </a:solidFill>
                <a:latin typeface="Microsoft JhengHei"/>
                <a:ea typeface="Microsoft JhengHei"/>
              </a:rPr>
              <a:t>——</a:t>
            </a:r>
            <a:r>
              <a:rPr lang="zh-TW" altLang="en-US" sz="2000" dirty="0">
                <a:solidFill>
                  <a:srgbClr val="172536"/>
                </a:solidFill>
                <a:latin typeface="Microsoft JhengHei"/>
                <a:ea typeface="Microsoft JhengHei"/>
              </a:rPr>
              <a:t>問題如何用數字描述、現有方法的缺口、最小可行的閉環、比較的對象、用什麼指標檢定，以及限制與下一步是什麼</a:t>
            </a:r>
            <a:r>
              <a:rPr lang="en-US" altLang="zh-TW" sz="2000" dirty="0">
                <a:solidFill>
                  <a:srgbClr val="172536"/>
                </a:solidFill>
                <a:latin typeface="Microsoft JhengHei"/>
                <a:ea typeface="Microsoft JhengHei"/>
              </a:rPr>
              <a:t>——</a:t>
            </a:r>
            <a:r>
              <a:rPr lang="zh-TW" altLang="en-US" sz="2000" dirty="0">
                <a:solidFill>
                  <a:srgbClr val="172536"/>
                </a:solidFill>
                <a:latin typeface="Microsoft JhengHei"/>
                <a:ea typeface="Microsoft JhengHei"/>
              </a:rPr>
              <a:t>讓我對自己碩論的題目構想更加清晰。這次演講帶給我最重要的啟發，是將研究視為一個持續提出問題、取得證據、理解限制與修正方向的過程，讓每一次技術上的改進，都能對應到清楚且有意義的研究貢獻。</a:t>
            </a:r>
            <a:endParaRPr lang="en-US" altLang="zh-TW" sz="2000" dirty="0">
              <a:solidFill>
                <a:srgbClr val="172536"/>
              </a:solidFill>
              <a:latin typeface="Microsoft JhengHei"/>
              <a:ea typeface="Microsoft JhengHei"/>
            </a:endParaRPr>
          </a:p>
        </p:txBody>
      </p:sp>
      <p:sp>
        <p:nvSpPr>
          <p:cNvPr id="10" name="text_0155">
            <a:extLst>
              <a:ext uri="{FF2B5EF4-FFF2-40B4-BE49-F238E27FC236}">
                <a16:creationId xmlns:a16="http://schemas.microsoft.com/office/drawing/2014/main" id="{E99CD280-36CC-D9E7-C0D1-C8D54A70AF50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 dirty="0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27</a:t>
            </a:r>
            <a:endParaRPr lang="zh-TW" altLang="en-US" sz="1275" dirty="0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543432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874"/>
              </a:lnSpc>
              <a:spcAft>
                <a:spcPts val="0"/>
              </a:spcAft>
            </a:pPr>
            <a:r>
              <a:rPr lang="zh-TW" altLang="en-US" sz="3200" b="1" dirty="0">
                <a:solidFill>
                  <a:srgbClr val="172536"/>
                </a:solidFill>
                <a:latin typeface="Microsoft JhengHei"/>
                <a:ea typeface="Microsoft JhengHei"/>
              </a:rPr>
              <a:t>關鍵字</a:t>
            </a:r>
            <a:endParaRPr lang="zh-TW" sz="3200" dirty="0"/>
          </a:p>
        </p:txBody>
      </p:sp>
      <p:sp>
        <p:nvSpPr>
          <p:cNvPr id="4" name="text_4"/>
          <p:cNvSpPr txBox="1"/>
          <p:nvPr/>
        </p:nvSpPr>
        <p:spPr>
          <a:xfrm>
            <a:off x="685800" y="191962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21"/>
              </a:lnSpc>
              <a:spcAft>
                <a:spcPts val="0"/>
              </a:spcAft>
            </a:pPr>
            <a:r>
              <a:rPr lang="zh-TW" altLang="en-US" sz="2700" b="1" dirty="0">
                <a:solidFill>
                  <a:srgbClr val="235DB5"/>
                </a:solidFill>
                <a:latin typeface="Microsoft JhengHei"/>
                <a:ea typeface="Microsoft JhengHei"/>
              </a:rPr>
              <a:t>即時影像辨識</a:t>
            </a:r>
            <a:endParaRPr lang="zh-TW" sz="2700" dirty="0"/>
          </a:p>
        </p:txBody>
      </p:sp>
      <p:sp>
        <p:nvSpPr>
          <p:cNvPr id="5" name="text_5"/>
          <p:cNvSpPr txBox="1"/>
          <p:nvPr/>
        </p:nvSpPr>
        <p:spPr>
          <a:xfrm>
            <a:off x="685800" y="278322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21"/>
              </a:lnSpc>
              <a:spcAft>
                <a:spcPts val="0"/>
              </a:spcAft>
            </a:pPr>
            <a:r>
              <a:rPr lang="zh-TW" altLang="en-US" sz="2700" b="1">
                <a:solidFill>
                  <a:srgbClr val="235DB5"/>
                </a:solidFill>
                <a:latin typeface="Microsoft JhengHei"/>
                <a:ea typeface="Microsoft JhengHei"/>
              </a:rPr>
              <a:t>雷射驅離</a:t>
            </a:r>
            <a:endParaRPr lang="zh-TW" sz="2700"/>
          </a:p>
        </p:txBody>
      </p:sp>
      <p:sp>
        <p:nvSpPr>
          <p:cNvPr id="6" name="text_6"/>
          <p:cNvSpPr txBox="1"/>
          <p:nvPr/>
        </p:nvSpPr>
        <p:spPr>
          <a:xfrm>
            <a:off x="685800" y="364682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21"/>
              </a:lnSpc>
              <a:spcAft>
                <a:spcPts val="0"/>
              </a:spcAft>
            </a:pPr>
            <a:r>
              <a:rPr lang="zh-TW" altLang="en-US" sz="2700" b="1">
                <a:solidFill>
                  <a:srgbClr val="235DB5"/>
                </a:solidFill>
                <a:latin typeface="Microsoft JhengHei"/>
                <a:ea typeface="Microsoft JhengHei"/>
              </a:rPr>
              <a:t>多目標追蹤</a:t>
            </a:r>
            <a:endParaRPr lang="zh-TW" sz="2700"/>
          </a:p>
        </p:txBody>
      </p:sp>
      <p:sp>
        <p:nvSpPr>
          <p:cNvPr id="7" name="text_7"/>
          <p:cNvSpPr txBox="1"/>
          <p:nvPr/>
        </p:nvSpPr>
        <p:spPr>
          <a:xfrm>
            <a:off x="685800" y="451042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21"/>
              </a:lnSpc>
              <a:spcAft>
                <a:spcPts val="0"/>
              </a:spcAft>
            </a:pPr>
            <a:r>
              <a:rPr lang="zh-TW" altLang="en-US" sz="2700" b="1">
                <a:solidFill>
                  <a:srgbClr val="235DB5"/>
                </a:solidFill>
                <a:latin typeface="Microsoft JhengHei"/>
                <a:ea typeface="Microsoft JhengHei"/>
              </a:rPr>
              <a:t>強化學習</a:t>
            </a:r>
            <a:endParaRPr lang="zh-TW" sz="2700"/>
          </a:p>
        </p:txBody>
      </p:sp>
      <p:sp>
        <p:nvSpPr>
          <p:cNvPr id="8" name="text_8"/>
          <p:cNvSpPr txBox="1"/>
          <p:nvPr/>
        </p:nvSpPr>
        <p:spPr>
          <a:xfrm>
            <a:off x="685800" y="537402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21"/>
              </a:lnSpc>
              <a:spcAft>
                <a:spcPts val="0"/>
              </a:spcAft>
            </a:pPr>
            <a:r>
              <a:rPr lang="zh-TW" altLang="en-US" sz="2700" b="1">
                <a:solidFill>
                  <a:srgbClr val="235DB5"/>
                </a:solidFill>
                <a:latin typeface="Microsoft JhengHei"/>
                <a:ea typeface="Microsoft JhengHei"/>
              </a:rPr>
              <a:t>DDPG</a:t>
            </a:r>
            <a:endParaRPr lang="zh-TW" sz="2700"/>
          </a:p>
        </p:txBody>
      </p:sp>
      <p:sp>
        <p:nvSpPr>
          <p:cNvPr id="9" name="text_0155">
            <a:extLst>
              <a:ext uri="{FF2B5EF4-FFF2-40B4-BE49-F238E27FC236}">
                <a16:creationId xmlns:a16="http://schemas.microsoft.com/office/drawing/2014/main" id="{1E2C3AB4-F659-79D6-D1D6-7D07788F52A9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 dirty="0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28</a:t>
            </a:r>
            <a:endParaRPr lang="zh-TW" altLang="en-US" sz="1275" dirty="0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177">
            <a:extLst>
              <a:ext uri="{FF2B5EF4-FFF2-40B4-BE49-F238E27FC236}">
                <a16:creationId xmlns:a16="http://schemas.microsoft.com/office/drawing/2014/main" id="{A5847FE5-2BE6-6A75-C1FE-71D31D702EEE}"/>
              </a:ext>
            </a:extLst>
          </p:cNvPr>
          <p:cNvSpPr txBox="1"/>
          <p:nvPr/>
        </p:nvSpPr>
        <p:spPr>
          <a:xfrm>
            <a:off x="685800" y="457199"/>
            <a:ext cx="10820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32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參考文獻</a:t>
            </a:r>
          </a:p>
        </p:txBody>
      </p:sp>
      <p:sp>
        <p:nvSpPr>
          <p:cNvPr id="3" name="text_0178">
            <a:extLst>
              <a:ext uri="{FF2B5EF4-FFF2-40B4-BE49-F238E27FC236}">
                <a16:creationId xmlns:a16="http://schemas.microsoft.com/office/drawing/2014/main" id="{C2A294EE-7E79-EB37-C18F-26FF03379ABC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 dirty="0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29</a:t>
            </a:r>
            <a:endParaRPr lang="zh-TW" altLang="en-US" sz="1275" dirty="0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" name="text_0179">
            <a:extLst>
              <a:ext uri="{FF2B5EF4-FFF2-40B4-BE49-F238E27FC236}">
                <a16:creationId xmlns:a16="http://schemas.microsoft.com/office/drawing/2014/main" id="{3F578089-B7E2-6D69-9DC7-8185F1D61BF9}"/>
              </a:ext>
            </a:extLst>
          </p:cNvPr>
          <p:cNvSpPr txBox="1"/>
          <p:nvPr/>
        </p:nvSpPr>
        <p:spPr>
          <a:xfrm>
            <a:off x="685800" y="15493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sz="20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[1]</a:t>
            </a:r>
            <a:endParaRPr lang="zh-TW" altLang="en-US" sz="2000" b="1" dirty="0">
              <a:solidFill>
                <a:srgbClr val="235DB5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text_0180">
            <a:extLst>
              <a:ext uri="{FF2B5EF4-FFF2-40B4-BE49-F238E27FC236}">
                <a16:creationId xmlns:a16="http://schemas.microsoft.com/office/drawing/2014/main" id="{DFFB1554-2666-7B49-1853-44FE335CEF09}"/>
              </a:ext>
            </a:extLst>
          </p:cNvPr>
          <p:cNvSpPr txBox="1"/>
          <p:nvPr/>
        </p:nvSpPr>
        <p:spPr>
          <a:xfrm>
            <a:off x="1308100" y="1549399"/>
            <a:ext cx="10198100" cy="196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Wang, S.-W., Cho, S.-M., Chiu, M.-C., &amp; Chen, S.-C. (2026).
AI-Powered Real-Time Image Recognition System with a Laser-Based Deterrent for Primate Pest Control in Orchards.
Engineering Proceedings, 134(1), 65.</a:t>
            </a:r>
            <a:endParaRPr lang="zh-TW" altLang="en-US" dirty="0">
              <a:solidFill>
                <a:srgbClr val="17253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text_0181">
            <a:hlinkClick r:id="rId2"/>
            <a:extLst>
              <a:ext uri="{FF2B5EF4-FFF2-40B4-BE49-F238E27FC236}">
                <a16:creationId xmlns:a16="http://schemas.microsoft.com/office/drawing/2014/main" id="{C4A18D7C-9FF6-9018-B739-8DE9C5489F74}"/>
              </a:ext>
            </a:extLst>
          </p:cNvPr>
          <p:cNvSpPr txBox="1"/>
          <p:nvPr/>
        </p:nvSpPr>
        <p:spPr>
          <a:xfrm>
            <a:off x="1308100" y="3517899"/>
            <a:ext cx="101981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sz="1600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hlinkClick r:id="rId2"/>
              </a:rPr>
              <a:t>https://doi.org/10.3390/engproc2026134065</a:t>
            </a:r>
            <a:endParaRPr lang="zh-TW" altLang="en-US" sz="1600" dirty="0">
              <a:solidFill>
                <a:srgbClr val="235DB5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text_0182">
            <a:extLst>
              <a:ext uri="{FF2B5EF4-FFF2-40B4-BE49-F238E27FC236}">
                <a16:creationId xmlns:a16="http://schemas.microsoft.com/office/drawing/2014/main" id="{1C2D46DA-796A-A8BA-0E94-112AEE984F54}"/>
              </a:ext>
            </a:extLst>
          </p:cNvPr>
          <p:cNvSpPr txBox="1"/>
          <p:nvPr/>
        </p:nvSpPr>
        <p:spPr>
          <a:xfrm>
            <a:off x="685800" y="39623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sz="20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[2]</a:t>
            </a:r>
            <a:endParaRPr lang="zh-TW" altLang="en-US" sz="2000" b="1" dirty="0">
              <a:solidFill>
                <a:srgbClr val="235DB5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text_0183">
            <a:extLst>
              <a:ext uri="{FF2B5EF4-FFF2-40B4-BE49-F238E27FC236}">
                <a16:creationId xmlns:a16="http://schemas.microsoft.com/office/drawing/2014/main" id="{B1302098-4880-95DD-CB51-D3D8CF5EB585}"/>
              </a:ext>
            </a:extLst>
          </p:cNvPr>
          <p:cNvSpPr txBox="1"/>
          <p:nvPr/>
        </p:nvSpPr>
        <p:spPr>
          <a:xfrm>
            <a:off x="1308100" y="3962399"/>
            <a:ext cx="10198100" cy="196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Cho, S.-M., Wang, S.-W., Chiu, M.-C., &amp; Chen, S.-C. (2026).
An Intelligent Orchard Anti-Damage System Combining Real-Time AI Image Recognition and Laser-Based Deterrence for Multi-Target Monkeys.
Computers, Materials &amp; Continua, 87(2), Article 37.</a:t>
            </a:r>
            <a:endParaRPr lang="zh-TW" altLang="en-US">
              <a:solidFill>
                <a:srgbClr val="17253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text_0184">
            <a:hlinkClick r:id="rId3"/>
            <a:extLst>
              <a:ext uri="{FF2B5EF4-FFF2-40B4-BE49-F238E27FC236}">
                <a16:creationId xmlns:a16="http://schemas.microsoft.com/office/drawing/2014/main" id="{9DB0F44E-2850-DBE8-8A63-D0E8FDE0856C}"/>
              </a:ext>
            </a:extLst>
          </p:cNvPr>
          <p:cNvSpPr txBox="1"/>
          <p:nvPr/>
        </p:nvSpPr>
        <p:spPr>
          <a:xfrm>
            <a:off x="1308100" y="5930899"/>
            <a:ext cx="101981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sz="1600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hlinkClick r:id="rId3"/>
              </a:rPr>
              <a:t>https://doi.org/10.32604/cmc.2025.074911</a:t>
            </a:r>
            <a:endParaRPr lang="zh-TW" altLang="en-US" sz="1600" dirty="0">
              <a:solidFill>
                <a:srgbClr val="235DB5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7347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3AE67-0E9C-7C2F-1B80-A411DE0B0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177">
            <a:extLst>
              <a:ext uri="{FF2B5EF4-FFF2-40B4-BE49-F238E27FC236}">
                <a16:creationId xmlns:a16="http://schemas.microsoft.com/office/drawing/2014/main" id="{375DD871-341A-42E0-4C19-9AAB55CFCF20}"/>
              </a:ext>
            </a:extLst>
          </p:cNvPr>
          <p:cNvSpPr txBox="1"/>
          <p:nvPr/>
        </p:nvSpPr>
        <p:spPr>
          <a:xfrm>
            <a:off x="685800" y="457199"/>
            <a:ext cx="10820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32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參考文獻</a:t>
            </a:r>
          </a:p>
        </p:txBody>
      </p:sp>
      <p:sp>
        <p:nvSpPr>
          <p:cNvPr id="3" name="text_0178">
            <a:extLst>
              <a:ext uri="{FF2B5EF4-FFF2-40B4-BE49-F238E27FC236}">
                <a16:creationId xmlns:a16="http://schemas.microsoft.com/office/drawing/2014/main" id="{65CB48EC-80FC-D8FA-6900-90DA03ED8190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30</a:t>
            </a:r>
            <a:endParaRPr lang="zh-TW" altLang="en-US" sz="1275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" name="text_0179">
            <a:extLst>
              <a:ext uri="{FF2B5EF4-FFF2-40B4-BE49-F238E27FC236}">
                <a16:creationId xmlns:a16="http://schemas.microsoft.com/office/drawing/2014/main" id="{B19EDD20-8A33-453D-620A-503A5312AE0A}"/>
              </a:ext>
            </a:extLst>
          </p:cNvPr>
          <p:cNvSpPr txBox="1"/>
          <p:nvPr/>
        </p:nvSpPr>
        <p:spPr>
          <a:xfrm>
            <a:off x="685800" y="15493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sz="20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[3]</a:t>
            </a:r>
            <a:endParaRPr lang="zh-TW" altLang="en-US" sz="2000" b="1" dirty="0">
              <a:solidFill>
                <a:srgbClr val="235DB5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text_0180">
            <a:extLst>
              <a:ext uri="{FF2B5EF4-FFF2-40B4-BE49-F238E27FC236}">
                <a16:creationId xmlns:a16="http://schemas.microsoft.com/office/drawing/2014/main" id="{E7376444-D533-AE86-F501-45F92C675CC9}"/>
              </a:ext>
            </a:extLst>
          </p:cNvPr>
          <p:cNvSpPr txBox="1"/>
          <p:nvPr/>
        </p:nvSpPr>
        <p:spPr>
          <a:xfrm>
            <a:off x="1308100" y="1549399"/>
            <a:ext cx="10198100" cy="196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Aharon, N., </a:t>
            </a:r>
            <a:r>
              <a:rPr lang="en-US" altLang="zh-TW" dirty="0" err="1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Orfaig</a:t>
            </a: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 R., &amp; Bobrovsky, B.-Z. (2022).</a:t>
            </a:r>
          </a:p>
          <a:p>
            <a:pPr>
              <a:lnSpc>
                <a:spcPct val="112000"/>
              </a:lnSpc>
            </a:pPr>
            <a:r>
              <a:rPr lang="en-US" altLang="zh-TW" dirty="0" err="1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BoT</a:t>
            </a: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-SORT: Robust Associations Multi-Pedestrian Tracking.</a:t>
            </a:r>
          </a:p>
          <a:p>
            <a:pPr>
              <a:lnSpc>
                <a:spcPct val="112000"/>
              </a:lnSpc>
            </a:pP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arXiv:2206.14651.</a:t>
            </a:r>
          </a:p>
        </p:txBody>
      </p:sp>
      <p:sp>
        <p:nvSpPr>
          <p:cNvPr id="6" name="text_0181">
            <a:hlinkClick r:id="rId2"/>
            <a:extLst>
              <a:ext uri="{FF2B5EF4-FFF2-40B4-BE49-F238E27FC236}">
                <a16:creationId xmlns:a16="http://schemas.microsoft.com/office/drawing/2014/main" id="{F5B3511D-EF9E-F1E8-6E51-BB43794F86AA}"/>
              </a:ext>
            </a:extLst>
          </p:cNvPr>
          <p:cNvSpPr txBox="1"/>
          <p:nvPr/>
        </p:nvSpPr>
        <p:spPr>
          <a:xfrm>
            <a:off x="1308100" y="3517899"/>
            <a:ext cx="101981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sz="1600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hlinkClick r:id="rId3"/>
              </a:rPr>
              <a:t>https://doi.org/10.48550/arXiv.2206.14651</a:t>
            </a:r>
            <a:endParaRPr lang="en-US" altLang="zh-TW" sz="1600" dirty="0">
              <a:solidFill>
                <a:srgbClr val="235DB5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text_0182">
            <a:extLst>
              <a:ext uri="{FF2B5EF4-FFF2-40B4-BE49-F238E27FC236}">
                <a16:creationId xmlns:a16="http://schemas.microsoft.com/office/drawing/2014/main" id="{74331E54-C71F-CE3E-FE58-3BE24BEA2FD2}"/>
              </a:ext>
            </a:extLst>
          </p:cNvPr>
          <p:cNvSpPr txBox="1"/>
          <p:nvPr/>
        </p:nvSpPr>
        <p:spPr>
          <a:xfrm>
            <a:off x="685800" y="39623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sz="20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[4]</a:t>
            </a:r>
            <a:endParaRPr lang="zh-TW" altLang="en-US" sz="2000" b="1" dirty="0">
              <a:solidFill>
                <a:srgbClr val="235DB5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text_0183">
            <a:extLst>
              <a:ext uri="{FF2B5EF4-FFF2-40B4-BE49-F238E27FC236}">
                <a16:creationId xmlns:a16="http://schemas.microsoft.com/office/drawing/2014/main" id="{D40EB0D7-41BD-BF86-9323-ACF86D2C7395}"/>
              </a:ext>
            </a:extLst>
          </p:cNvPr>
          <p:cNvSpPr txBox="1"/>
          <p:nvPr/>
        </p:nvSpPr>
        <p:spPr>
          <a:xfrm>
            <a:off x="1308100" y="3962399"/>
            <a:ext cx="10198100" cy="196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dirty="0" err="1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Kaelbling</a:t>
            </a: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 L. P., Littman, M. L., &amp; Moore, A. W. (1996).</a:t>
            </a:r>
          </a:p>
          <a:p>
            <a:pPr>
              <a:lnSpc>
                <a:spcPct val="112000"/>
              </a:lnSpc>
            </a:pP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Reinforcement Learning: A Survey.</a:t>
            </a:r>
          </a:p>
          <a:p>
            <a:pPr>
              <a:lnSpc>
                <a:spcPct val="112000"/>
              </a:lnSpc>
            </a:pP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Journal of Artificial Intelligence Research, 4, 237–285.</a:t>
            </a:r>
          </a:p>
        </p:txBody>
      </p:sp>
      <p:sp>
        <p:nvSpPr>
          <p:cNvPr id="9" name="text_0184">
            <a:hlinkClick r:id="rId4"/>
            <a:extLst>
              <a:ext uri="{FF2B5EF4-FFF2-40B4-BE49-F238E27FC236}">
                <a16:creationId xmlns:a16="http://schemas.microsoft.com/office/drawing/2014/main" id="{D3E0B5C0-626A-31A5-38C8-9AFCE82EBB54}"/>
              </a:ext>
            </a:extLst>
          </p:cNvPr>
          <p:cNvSpPr txBox="1"/>
          <p:nvPr/>
        </p:nvSpPr>
        <p:spPr>
          <a:xfrm>
            <a:off x="1308100" y="5930899"/>
            <a:ext cx="101981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sz="1600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hlinkClick r:id="rId5"/>
              </a:rPr>
              <a:t>https://doi.org/10.1613/jair.301</a:t>
            </a:r>
            <a:endParaRPr lang="en-US" altLang="zh-TW" sz="1600" dirty="0">
              <a:solidFill>
                <a:srgbClr val="235DB5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46912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2F21F-1DE8-CB2D-A178-C320AE55F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177">
            <a:extLst>
              <a:ext uri="{FF2B5EF4-FFF2-40B4-BE49-F238E27FC236}">
                <a16:creationId xmlns:a16="http://schemas.microsoft.com/office/drawing/2014/main" id="{B829C62E-944C-3265-8A27-0C4556088AE2}"/>
              </a:ext>
            </a:extLst>
          </p:cNvPr>
          <p:cNvSpPr txBox="1"/>
          <p:nvPr/>
        </p:nvSpPr>
        <p:spPr>
          <a:xfrm>
            <a:off x="685800" y="457199"/>
            <a:ext cx="10820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32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參考文獻</a:t>
            </a:r>
          </a:p>
        </p:txBody>
      </p:sp>
      <p:sp>
        <p:nvSpPr>
          <p:cNvPr id="3" name="text_0178">
            <a:extLst>
              <a:ext uri="{FF2B5EF4-FFF2-40B4-BE49-F238E27FC236}">
                <a16:creationId xmlns:a16="http://schemas.microsoft.com/office/drawing/2014/main" id="{0E9C2351-DAD2-F1B0-8B1B-855E0C6AA579}"/>
              </a:ext>
            </a:extLst>
          </p:cNvPr>
          <p:cNvSpPr txBox="1"/>
          <p:nvPr/>
        </p:nvSpPr>
        <p:spPr>
          <a:xfrm>
            <a:off x="11049000" y="6400800"/>
            <a:ext cx="4572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TW" sz="1275" dirty="0">
                <a:solidFill>
                  <a:srgbClr val="536273"/>
                </a:solidFill>
                <a:latin typeface="Calibri" panose="020F0502020204030204" pitchFamily="34" charset="0"/>
                <a:ea typeface="Microsoft JhengHei" panose="020B0604030504040204" pitchFamily="34" charset="-120"/>
              </a:rPr>
              <a:t>31</a:t>
            </a:r>
            <a:endParaRPr lang="zh-TW" altLang="en-US" sz="1275" dirty="0">
              <a:solidFill>
                <a:srgbClr val="536273"/>
              </a:solidFill>
              <a:latin typeface="Calibri" panose="020F050202020403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" name="text_0179">
            <a:extLst>
              <a:ext uri="{FF2B5EF4-FFF2-40B4-BE49-F238E27FC236}">
                <a16:creationId xmlns:a16="http://schemas.microsoft.com/office/drawing/2014/main" id="{5E59DE48-B3B2-E5ED-DF21-B7B0BAF0F149}"/>
              </a:ext>
            </a:extLst>
          </p:cNvPr>
          <p:cNvSpPr txBox="1"/>
          <p:nvPr/>
        </p:nvSpPr>
        <p:spPr>
          <a:xfrm>
            <a:off x="685800" y="15493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sz="2000" b="1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[5]</a:t>
            </a:r>
            <a:endParaRPr lang="zh-TW" altLang="en-US" sz="2000" b="1" dirty="0">
              <a:solidFill>
                <a:srgbClr val="235DB5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text_0180">
            <a:extLst>
              <a:ext uri="{FF2B5EF4-FFF2-40B4-BE49-F238E27FC236}">
                <a16:creationId xmlns:a16="http://schemas.microsoft.com/office/drawing/2014/main" id="{3C5F9152-C041-7665-FEB8-34E49EBE8C14}"/>
              </a:ext>
            </a:extLst>
          </p:cNvPr>
          <p:cNvSpPr txBox="1"/>
          <p:nvPr/>
        </p:nvSpPr>
        <p:spPr>
          <a:xfrm>
            <a:off x="1308100" y="1549399"/>
            <a:ext cx="10198100" cy="196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Lillicrap, T. P., Hunt, J. J., Pritzel, A., </a:t>
            </a:r>
            <a:r>
              <a:rPr lang="en-US" altLang="zh-TW" dirty="0" err="1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Heess</a:t>
            </a: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 N., Erez, T.,</a:t>
            </a:r>
          </a:p>
          <a:p>
            <a:pPr>
              <a:lnSpc>
                <a:spcPct val="112000"/>
              </a:lnSpc>
            </a:pP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Tassa, Y., Silver, D., &amp; </a:t>
            </a:r>
            <a:r>
              <a:rPr lang="en-US" altLang="zh-TW" dirty="0" err="1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Wierstra</a:t>
            </a: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 D. (2015).</a:t>
            </a:r>
          </a:p>
          <a:p>
            <a:pPr>
              <a:lnSpc>
                <a:spcPct val="112000"/>
              </a:lnSpc>
            </a:pP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Continuous control with deep reinforcement learning.</a:t>
            </a:r>
          </a:p>
          <a:p>
            <a:pPr>
              <a:lnSpc>
                <a:spcPct val="112000"/>
              </a:lnSpc>
            </a:pPr>
            <a:r>
              <a:rPr lang="en-US" altLang="zh-TW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arXiv:1509.02971.</a:t>
            </a:r>
          </a:p>
        </p:txBody>
      </p:sp>
      <p:sp>
        <p:nvSpPr>
          <p:cNvPr id="6" name="text_0181">
            <a:hlinkClick r:id="rId2"/>
            <a:extLst>
              <a:ext uri="{FF2B5EF4-FFF2-40B4-BE49-F238E27FC236}">
                <a16:creationId xmlns:a16="http://schemas.microsoft.com/office/drawing/2014/main" id="{539F57A2-2B9E-BA8C-8683-51B133C0C7C3}"/>
              </a:ext>
            </a:extLst>
          </p:cNvPr>
          <p:cNvSpPr txBox="1"/>
          <p:nvPr/>
        </p:nvSpPr>
        <p:spPr>
          <a:xfrm>
            <a:off x="1308100" y="3517899"/>
            <a:ext cx="101981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TW" sz="1600" dirty="0">
                <a:solidFill>
                  <a:srgbClr val="235DB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hlinkClick r:id="rId3"/>
              </a:rPr>
              <a:t>https://doi.org/10.48550/arXiv.1509.02971</a:t>
            </a:r>
            <a:endParaRPr lang="en-US" altLang="zh-TW" sz="1600" dirty="0">
              <a:solidFill>
                <a:srgbClr val="235DB5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7415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2592</Words>
  <Application>Microsoft Office PowerPoint</Application>
  <PresentationFormat>寬螢幕</PresentationFormat>
  <Paragraphs>329</Paragraphs>
  <Slides>31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6" baseType="lpstr">
      <vt:lpstr>Microsoft JhengHei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Oki dai</dc:creator>
  <cp:lastModifiedBy>Oki dai</cp:lastModifiedBy>
  <cp:revision>8</cp:revision>
  <dcterms:created xsi:type="dcterms:W3CDTF">2026-10-15T04:23:33Z</dcterms:created>
  <dcterms:modified xsi:type="dcterms:W3CDTF">2026-10-18T13:22:29Z</dcterms:modified>
</cp:coreProperties>
</file>