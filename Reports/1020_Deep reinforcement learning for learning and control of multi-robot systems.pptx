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57" r:id="rId3"/>
    <p:sldId id="258" r:id="rId4"/>
    <p:sldId id="256" r:id="rId5"/>
    <p:sldId id="291" r:id="rId6"/>
    <p:sldId id="260" r:id="rId7"/>
    <p:sldId id="293" r:id="rId8"/>
    <p:sldId id="292" r:id="rId9"/>
    <p:sldId id="294" r:id="rId10"/>
    <p:sldId id="264" r:id="rId11"/>
    <p:sldId id="265" r:id="rId12"/>
    <p:sldId id="263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7" r:id="rId34"/>
    <p:sldId id="288" r:id="rId3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5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139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20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8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28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53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446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545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51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97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0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266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62CC3EDB-023B-4861-909B-9CD412DA8E19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‹#›</a:t>
            </a:fld>
            <a:endParaRPr lang="zh-TW" sz="1400"/>
          </a:p>
        </p:txBody>
      </p:sp>
    </p:spTree>
    <p:extLst>
      <p:ext uri="{BB962C8B-B14F-4D97-AF65-F5344CB8AC3E}">
        <p14:creationId xmlns:p14="http://schemas.microsoft.com/office/powerpoint/2010/main" val="208989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BF00992698" TargetMode="External"/><Relationship Id="rId2" Type="http://schemas.openxmlformats.org/officeDocument/2006/relationships/hyperlink" Target="https://doi.org/10.1613/jair.301" TargetMode="Externa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nature14236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_0003">
            <a:extLst>
              <a:ext uri="{FF2B5EF4-FFF2-40B4-BE49-F238E27FC236}">
                <a16:creationId xmlns:a16="http://schemas.microsoft.com/office/drawing/2014/main" id="{F1B721B7-2C85-BE94-78EB-A0755E98F382}"/>
              </a:ext>
            </a:extLst>
          </p:cNvPr>
          <p:cNvSpPr txBox="1"/>
          <p:nvPr/>
        </p:nvSpPr>
        <p:spPr>
          <a:xfrm>
            <a:off x="685800" y="1842565"/>
            <a:ext cx="108204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4400" b="1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深度強化學習於多機器人系統學習與控制</a:t>
            </a:r>
          </a:p>
        </p:txBody>
      </p:sp>
      <p:sp>
        <p:nvSpPr>
          <p:cNvPr id="6" name="text_0005">
            <a:extLst>
              <a:ext uri="{FF2B5EF4-FFF2-40B4-BE49-F238E27FC236}">
                <a16:creationId xmlns:a16="http://schemas.microsoft.com/office/drawing/2014/main" id="{8A29C991-1AAB-FCA9-A08D-1E1E1AB62E1A}"/>
              </a:ext>
            </a:extLst>
          </p:cNvPr>
          <p:cNvSpPr txBox="1"/>
          <p:nvPr/>
        </p:nvSpPr>
        <p:spPr>
          <a:xfrm>
            <a:off x="685800" y="3963466"/>
            <a:ext cx="1082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演講日期：</a:t>
            </a:r>
            <a:r>
              <a:rPr lang="en-US" altLang="zh-TW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 </a:t>
            </a: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 </a:t>
            </a:r>
            <a:r>
              <a:rPr lang="en-US" altLang="zh-TW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 </a:t>
            </a: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 </a:t>
            </a:r>
            <a:r>
              <a:rPr lang="en-US" altLang="zh-TW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 </a:t>
            </a: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</a:t>
            </a:r>
          </a:p>
        </p:txBody>
      </p:sp>
      <p:sp>
        <p:nvSpPr>
          <p:cNvPr id="7" name="text_0006">
            <a:extLst>
              <a:ext uri="{FF2B5EF4-FFF2-40B4-BE49-F238E27FC236}">
                <a16:creationId xmlns:a16="http://schemas.microsoft.com/office/drawing/2014/main" id="{32163BD4-5C04-7DB4-959D-D3E69535DB32}"/>
              </a:ext>
            </a:extLst>
          </p:cNvPr>
          <p:cNvSpPr txBox="1"/>
          <p:nvPr/>
        </p:nvSpPr>
        <p:spPr>
          <a:xfrm>
            <a:off x="685800" y="4673599"/>
            <a:ext cx="1082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講者：蔣惟丞｜國立中正大學電機工程學系 智慧學習系統與決策智慧實驗室</a:t>
            </a:r>
          </a:p>
        </p:txBody>
      </p:sp>
      <p:sp>
        <p:nvSpPr>
          <p:cNvPr id="2" name="text_3">
            <a:extLst>
              <a:ext uri="{FF2B5EF4-FFF2-40B4-BE49-F238E27FC236}">
                <a16:creationId xmlns:a16="http://schemas.microsoft.com/office/drawing/2014/main" id="{25492CFA-CCA5-020D-207D-472CF9A27884}"/>
              </a:ext>
            </a:extLst>
          </p:cNvPr>
          <p:cNvSpPr txBox="1">
            <a:spLocks/>
          </p:cNvSpPr>
          <p:nvPr/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722"/>
              </a:lnSpc>
            </a:pPr>
            <a:fld id="{62CC3EDB-023B-4861-909B-9CD412DA8E19}" type="slidenum">
              <a:rPr lang="zh-TW" altLang="en-US" sz="1400" smtClean="0">
                <a:solidFill>
                  <a:srgbClr val="536273"/>
                </a:solidFill>
                <a:latin typeface="Microsoft JhengHei"/>
                <a:ea typeface="Microsoft JhengHei"/>
              </a:rPr>
              <a:pPr algn="r">
                <a:lnSpc>
                  <a:spcPts val="1722"/>
                </a:lnSpc>
              </a:pPr>
              <a:t>1</a:t>
            </a:fld>
            <a:endParaRPr lang="zh-TW" sz="1400"/>
          </a:p>
        </p:txBody>
      </p:sp>
    </p:spTree>
    <p:extLst>
      <p:ext uri="{BB962C8B-B14F-4D97-AF65-F5344CB8AC3E}">
        <p14:creationId xmlns:p14="http://schemas.microsoft.com/office/powerpoint/2010/main" val="372946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演講簡介</a:t>
            </a:r>
            <a:endParaRPr lang="zh-TW" sz="3200" dirty="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136AAE71-3F85-4361-8B6D-A2277DCBB6E6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825704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 dirty="0">
                <a:solidFill>
                  <a:srgbClr val="235DB5"/>
                </a:solidFill>
                <a:latin typeface="Microsoft JhengHei"/>
                <a:ea typeface="Microsoft JhengHei"/>
              </a:rPr>
              <a:t>背景</a:t>
            </a:r>
            <a:endParaRPr lang="zh-TW" sz="2100" dirty="0"/>
          </a:p>
        </p:txBody>
      </p:sp>
      <p:sp>
        <p:nvSpPr>
          <p:cNvPr id="5" name="text_5"/>
          <p:cNvSpPr txBox="1"/>
          <p:nvPr/>
        </p:nvSpPr>
        <p:spPr>
          <a:xfrm>
            <a:off x="3098800" y="1825704"/>
            <a:ext cx="840740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單一機器人的能力與作業範圍有限，</a:t>
            </a: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而</a:t>
            </a: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多機器人可擴展任務複雜度，例如：</a:t>
            </a:r>
            <a:br>
              <a:rPr lang="en-US" altLang="zh-TW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</a:b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分工探索、搬運、追捕與執行足球任務。</a:t>
            </a:r>
            <a:endParaRPr lang="zh-TW" sz="20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2917904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動機</a:t>
            </a:r>
            <a:endParaRPr lang="zh-TW" sz="2100"/>
          </a:p>
        </p:txBody>
      </p:sp>
      <p:sp>
        <p:nvSpPr>
          <p:cNvPr id="7" name="text_7"/>
          <p:cNvSpPr txBox="1"/>
          <p:nvPr/>
        </p:nvSpPr>
        <p:spPr>
          <a:xfrm>
            <a:off x="3098800" y="2917904"/>
            <a:ext cx="840740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多機器人若依賴交換狀態與動作資訊來協調，會增加通訊負擔與決策成本。</a:t>
            </a:r>
            <a:endParaRPr lang="en-US" altLang="zh-TW" sz="2000" b="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探討無通訊合作，在不直接交換資訊的條件下，仍能協調行動完成共同任務。</a:t>
            </a:r>
            <a:endParaRPr lang="zh-TW" sz="2000" dirty="0"/>
          </a:p>
        </p:txBody>
      </p:sp>
      <p:sp>
        <p:nvSpPr>
          <p:cNvPr id="8" name="text_8"/>
          <p:cNvSpPr txBox="1"/>
          <p:nvPr/>
        </p:nvSpPr>
        <p:spPr>
          <a:xfrm>
            <a:off x="685800" y="4010104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方法</a:t>
            </a:r>
            <a:endParaRPr lang="zh-TW" sz="2100"/>
          </a:p>
        </p:txBody>
      </p:sp>
      <p:sp>
        <p:nvSpPr>
          <p:cNvPr id="9" name="text_9"/>
          <p:cNvSpPr txBox="1"/>
          <p:nvPr/>
        </p:nvSpPr>
        <p:spPr>
          <a:xfrm>
            <a:off x="3098800" y="4010104"/>
            <a:ext cx="840740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以強化學習建立自主決策，結合 DQN、深度合作模型 DCM 與行為融合，</a:t>
            </a:r>
            <a:endParaRPr lang="zh-TW" sz="2000" dirty="0"/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再延伸階層式技能整合。</a:t>
            </a:r>
            <a:endParaRPr lang="zh-TW" sz="2000" dirty="0"/>
          </a:p>
        </p:txBody>
      </p:sp>
      <p:sp>
        <p:nvSpPr>
          <p:cNvPr id="10" name="text_10"/>
          <p:cNvSpPr txBox="1"/>
          <p:nvPr/>
        </p:nvSpPr>
        <p:spPr>
          <a:xfrm>
            <a:off x="685800" y="5102304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展示成果</a:t>
            </a:r>
            <a:endParaRPr lang="zh-TW" sz="2100"/>
          </a:p>
        </p:txBody>
      </p:sp>
      <p:sp>
        <p:nvSpPr>
          <p:cNvPr id="11" name="text_11"/>
          <p:cNvSpPr txBox="1"/>
          <p:nvPr/>
        </p:nvSpPr>
        <p:spPr>
          <a:xfrm>
            <a:off x="3098800" y="5102304"/>
            <a:ext cx="840740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演講展示追捕、合作搬運與實體機器人案例。階層式融合則以 Webots 足球</a:t>
            </a:r>
            <a:endParaRPr lang="zh-TW" sz="2000" dirty="0"/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、星海爭霸呈現進行中的初步成果。</a:t>
            </a:r>
            <a:endParaRPr lang="zh-TW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代理人：感知、學習與行動的循環</a:t>
            </a:r>
            <a:endParaRPr lang="zh-TW" sz="3200" dirty="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5BC95F6A-1879-45E5-B891-6CB1FBD9FDE3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3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2184400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環境</a:t>
            </a:r>
            <a:endParaRPr lang="zh-TW" sz="2300"/>
          </a:p>
        </p:txBody>
      </p:sp>
      <p:sp>
        <p:nvSpPr>
          <p:cNvPr id="5" name="text_5"/>
          <p:cNvSpPr txBox="1"/>
          <p:nvPr/>
        </p:nvSpPr>
        <p:spPr>
          <a:xfrm>
            <a:off x="685800" y="3149600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產生可觀察資訊</a:t>
            </a:r>
            <a:endParaRPr lang="zh-TW" sz="2000"/>
          </a:p>
        </p:txBody>
      </p:sp>
      <p:cxnSp>
        <p:nvCxnSpPr>
          <p:cNvPr id="6" name="line_6"/>
          <p:cNvCxnSpPr/>
          <p:nvPr/>
        </p:nvCxnSpPr>
        <p:spPr>
          <a:xfrm>
            <a:off x="3098800" y="2959100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7" name="text_7"/>
          <p:cNvSpPr txBox="1"/>
          <p:nvPr/>
        </p:nvSpPr>
        <p:spPr>
          <a:xfrm>
            <a:off x="3517900" y="2184400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狀態</a:t>
            </a:r>
            <a:endParaRPr lang="zh-TW" sz="2300"/>
          </a:p>
        </p:txBody>
      </p:sp>
      <p:sp>
        <p:nvSpPr>
          <p:cNvPr id="8" name="text_8"/>
          <p:cNvSpPr txBox="1"/>
          <p:nvPr/>
        </p:nvSpPr>
        <p:spPr>
          <a:xfrm>
            <a:off x="3517900" y="3149600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由感測資訊描述處境</a:t>
            </a:r>
            <a:endParaRPr lang="zh-TW" sz="2000"/>
          </a:p>
        </p:txBody>
      </p:sp>
      <p:cxnSp>
        <p:nvCxnSpPr>
          <p:cNvPr id="9" name="line_9"/>
          <p:cNvCxnSpPr/>
          <p:nvPr/>
        </p:nvCxnSpPr>
        <p:spPr>
          <a:xfrm>
            <a:off x="5930900" y="2959100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0" name="text_10"/>
          <p:cNvSpPr txBox="1"/>
          <p:nvPr/>
        </p:nvSpPr>
        <p:spPr>
          <a:xfrm>
            <a:off x="6350000" y="2184400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代理人</a:t>
            </a:r>
            <a:endParaRPr lang="zh-TW" sz="2300"/>
          </a:p>
        </p:txBody>
      </p:sp>
      <p:sp>
        <p:nvSpPr>
          <p:cNvPr id="11" name="text_11"/>
          <p:cNvSpPr txBox="1"/>
          <p:nvPr/>
        </p:nvSpPr>
        <p:spPr>
          <a:xfrm>
            <a:off x="6350000" y="3149600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分析、學習並決策</a:t>
            </a:r>
            <a:endParaRPr lang="zh-TW" sz="2000"/>
          </a:p>
        </p:txBody>
      </p:sp>
      <p:cxnSp>
        <p:nvCxnSpPr>
          <p:cNvPr id="12" name="line_12"/>
          <p:cNvCxnSpPr/>
          <p:nvPr/>
        </p:nvCxnSpPr>
        <p:spPr>
          <a:xfrm>
            <a:off x="8763000" y="2959100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3" name="text_13"/>
          <p:cNvSpPr txBox="1"/>
          <p:nvPr/>
        </p:nvSpPr>
        <p:spPr>
          <a:xfrm>
            <a:off x="9182100" y="2184400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行動</a:t>
            </a:r>
            <a:endParaRPr lang="zh-TW" sz="2300"/>
          </a:p>
        </p:txBody>
      </p:sp>
      <p:sp>
        <p:nvSpPr>
          <p:cNvPr id="14" name="text_14"/>
          <p:cNvSpPr txBox="1"/>
          <p:nvPr/>
        </p:nvSpPr>
        <p:spPr>
          <a:xfrm>
            <a:off x="9182100" y="3149600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透過載具影響環境</a:t>
            </a:r>
            <a:endParaRPr lang="zh-TW" sz="2000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B3F7DED1-835F-1626-1766-3563B1544CB0}"/>
              </a:ext>
            </a:extLst>
          </p:cNvPr>
          <p:cNvCxnSpPr/>
          <p:nvPr/>
        </p:nvCxnSpPr>
        <p:spPr>
          <a:xfrm>
            <a:off x="10337800" y="3948528"/>
            <a:ext cx="0" cy="431800"/>
          </a:xfrm>
          <a:prstGeom prst="line">
            <a:avLst/>
          </a:prstGeom>
          <a:ln w="28575">
            <a:solidFill>
              <a:srgbClr val="235D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7AA6FFA3-19C0-B65D-4920-A2F6C63E118E}"/>
              </a:ext>
            </a:extLst>
          </p:cNvPr>
          <p:cNvCxnSpPr/>
          <p:nvPr/>
        </p:nvCxnSpPr>
        <p:spPr>
          <a:xfrm flipH="1">
            <a:off x="1816100" y="4380328"/>
            <a:ext cx="8521700" cy="0"/>
          </a:xfrm>
          <a:prstGeom prst="line">
            <a:avLst/>
          </a:prstGeom>
          <a:ln w="28575">
            <a:solidFill>
              <a:srgbClr val="235D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9F18293C-66C9-14A8-27DA-8607DDD6EF48}"/>
              </a:ext>
            </a:extLst>
          </p:cNvPr>
          <p:cNvCxnSpPr/>
          <p:nvPr/>
        </p:nvCxnSpPr>
        <p:spPr>
          <a:xfrm flipV="1">
            <a:off x="1816100" y="3935828"/>
            <a:ext cx="0" cy="444500"/>
          </a:xfrm>
          <a:prstGeom prst="line">
            <a:avLst/>
          </a:prstGeom>
          <a:ln w="28575">
            <a:solidFill>
              <a:srgbClr val="235D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為什麼需要群體機器人？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62CC3EDB-023B-4861-909B-9CD412DA8E19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4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2007772"/>
            <a:ext cx="10820400" cy="825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952"/>
              </a:lnSpc>
              <a:spcAft>
                <a:spcPts val="0"/>
              </a:spcAft>
            </a:pPr>
            <a:r>
              <a:rPr lang="zh-TW" altLang="en-US" sz="2400" b="1" dirty="0">
                <a:solidFill>
                  <a:srgbClr val="235DB5"/>
                </a:solidFill>
                <a:latin typeface="Microsoft JhengHei"/>
                <a:ea typeface="Microsoft JhengHei"/>
              </a:rPr>
              <a:t>單一機器人的能力有限，協作可擴展任務複雜度</a:t>
            </a:r>
            <a:endParaRPr lang="zh-TW" sz="2400" dirty="0"/>
          </a:p>
        </p:txBody>
      </p:sp>
      <p:sp>
        <p:nvSpPr>
          <p:cNvPr id="5" name="text_5"/>
          <p:cNvSpPr txBox="1"/>
          <p:nvPr/>
        </p:nvSpPr>
        <p:spPr>
          <a:xfrm>
            <a:off x="685800" y="3582572"/>
            <a:ext cx="32385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 dirty="0">
                <a:solidFill>
                  <a:srgbClr val="235DB5"/>
                </a:solidFill>
                <a:latin typeface="Microsoft JhengHei"/>
                <a:ea typeface="Microsoft JhengHei"/>
              </a:rPr>
              <a:t>工作範圍更大</a:t>
            </a:r>
            <a:endParaRPr lang="zh-TW" sz="23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4420772"/>
            <a:ext cx="3238500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多部機器人可分散執行</a:t>
            </a:r>
            <a:endParaRPr lang="zh-TW" sz="2100" dirty="0"/>
          </a:p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巡檢、監控、探索與</a:t>
            </a:r>
            <a:endParaRPr lang="zh-TW" sz="2100" dirty="0"/>
          </a:p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搬運等任務。</a:t>
            </a:r>
            <a:endParaRPr lang="zh-TW" sz="2100" dirty="0"/>
          </a:p>
        </p:txBody>
      </p:sp>
      <p:sp>
        <p:nvSpPr>
          <p:cNvPr id="7" name="text_7"/>
          <p:cNvSpPr txBox="1"/>
          <p:nvPr/>
        </p:nvSpPr>
        <p:spPr>
          <a:xfrm>
            <a:off x="4368800" y="3582572"/>
            <a:ext cx="32385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工作分工更細</a:t>
            </a:r>
            <a:endParaRPr lang="zh-TW" sz="2300"/>
          </a:p>
        </p:txBody>
      </p:sp>
      <p:sp>
        <p:nvSpPr>
          <p:cNvPr id="8" name="text_8"/>
          <p:cNvSpPr txBox="1"/>
          <p:nvPr/>
        </p:nvSpPr>
        <p:spPr>
          <a:xfrm>
            <a:off x="4368800" y="4420772"/>
            <a:ext cx="3238500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在相同任務中配置不同</a:t>
            </a:r>
            <a:endParaRPr lang="zh-TW" sz="2100"/>
          </a:p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角色，讓專長互補與</a:t>
            </a:r>
            <a:endParaRPr lang="zh-TW" sz="2100"/>
          </a:p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任務同步發生。</a:t>
            </a:r>
            <a:endParaRPr lang="zh-TW" sz="2100"/>
          </a:p>
        </p:txBody>
      </p:sp>
      <p:sp>
        <p:nvSpPr>
          <p:cNvPr id="9" name="text_9"/>
          <p:cNvSpPr txBox="1"/>
          <p:nvPr/>
        </p:nvSpPr>
        <p:spPr>
          <a:xfrm>
            <a:off x="8051800" y="3582572"/>
            <a:ext cx="32385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環境適應更強</a:t>
            </a:r>
            <a:endParaRPr lang="zh-TW" sz="2300"/>
          </a:p>
        </p:txBody>
      </p:sp>
      <p:sp>
        <p:nvSpPr>
          <p:cNvPr id="10" name="text_10"/>
          <p:cNvSpPr txBox="1"/>
          <p:nvPr/>
        </p:nvSpPr>
        <p:spPr>
          <a:xfrm>
            <a:off x="8051800" y="4420772"/>
            <a:ext cx="3238500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面對障礙物、未知事件</a:t>
            </a:r>
            <a:endParaRPr lang="zh-TW" sz="2100"/>
          </a:p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或個體限制，透過協調</a:t>
            </a:r>
            <a:endParaRPr lang="zh-TW" sz="2100"/>
          </a:p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調整群體行動。</a:t>
            </a:r>
            <a:endParaRPr lang="zh-TW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98D7-143F-0C65-8AD0-2D9DE77CA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>
            <a:extLst>
              <a:ext uri="{FF2B5EF4-FFF2-40B4-BE49-F238E27FC236}">
                <a16:creationId xmlns:a16="http://schemas.microsoft.com/office/drawing/2014/main" id="{F2D74AAD-018D-FC40-3311-D87D5E837A0B}"/>
              </a:ext>
            </a:extLst>
          </p:cNvPr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群體機器人可應用之任務</a:t>
            </a:r>
            <a:endParaRPr lang="zh-TW" sz="3200" dirty="0"/>
          </a:p>
        </p:txBody>
      </p:sp>
      <p:sp>
        <p:nvSpPr>
          <p:cNvPr id="3" name="text_3">
            <a:extLst>
              <a:ext uri="{FF2B5EF4-FFF2-40B4-BE49-F238E27FC236}">
                <a16:creationId xmlns:a16="http://schemas.microsoft.com/office/drawing/2014/main" id="{3B58C74F-6BFE-047D-66BF-8EFE703992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E03F74D0-BF7C-4E3B-883C-4F3631A70BF9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5</a:t>
            </a:fld>
            <a:endParaRPr lang="zh-TW" sz="1400"/>
          </a:p>
        </p:txBody>
      </p:sp>
      <p:sp>
        <p:nvSpPr>
          <p:cNvPr id="4" name="text_4">
            <a:extLst>
              <a:ext uri="{FF2B5EF4-FFF2-40B4-BE49-F238E27FC236}">
                <a16:creationId xmlns:a16="http://schemas.microsoft.com/office/drawing/2014/main" id="{E4089016-DB09-E1B3-DCB6-739F62C0BA18}"/>
              </a:ext>
            </a:extLst>
          </p:cNvPr>
          <p:cNvSpPr txBox="1"/>
          <p:nvPr/>
        </p:nvSpPr>
        <p:spPr>
          <a:xfrm>
            <a:off x="800100" y="17907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任務</a:t>
            </a:r>
            <a:endParaRPr lang="zh-TW" sz="1900"/>
          </a:p>
        </p:txBody>
      </p:sp>
      <p:sp>
        <p:nvSpPr>
          <p:cNvPr id="5" name="text_5">
            <a:extLst>
              <a:ext uri="{FF2B5EF4-FFF2-40B4-BE49-F238E27FC236}">
                <a16:creationId xmlns:a16="http://schemas.microsoft.com/office/drawing/2014/main" id="{29463FE7-B33A-C5A4-2989-14B81D86745D}"/>
              </a:ext>
            </a:extLst>
          </p:cNvPr>
          <p:cNvSpPr txBox="1"/>
          <p:nvPr/>
        </p:nvSpPr>
        <p:spPr>
          <a:xfrm>
            <a:off x="3568700" y="17907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合作需求</a:t>
            </a:r>
            <a:endParaRPr lang="zh-TW" sz="1900"/>
          </a:p>
        </p:txBody>
      </p:sp>
      <p:sp>
        <p:nvSpPr>
          <p:cNvPr id="6" name="text_6">
            <a:extLst>
              <a:ext uri="{FF2B5EF4-FFF2-40B4-BE49-F238E27FC236}">
                <a16:creationId xmlns:a16="http://schemas.microsoft.com/office/drawing/2014/main" id="{89FF6CFC-78F9-4F76-C992-FF9D610EDAB3}"/>
              </a:ext>
            </a:extLst>
          </p:cNvPr>
          <p:cNvSpPr txBox="1"/>
          <p:nvPr/>
        </p:nvSpPr>
        <p:spPr>
          <a:xfrm>
            <a:off x="7124700" y="17907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主要挑戰</a:t>
            </a:r>
            <a:endParaRPr lang="zh-TW" sz="1900"/>
          </a:p>
        </p:txBody>
      </p:sp>
      <p:cxnSp>
        <p:nvCxnSpPr>
          <p:cNvPr id="7" name="line_7">
            <a:extLst>
              <a:ext uri="{FF2B5EF4-FFF2-40B4-BE49-F238E27FC236}">
                <a16:creationId xmlns:a16="http://schemas.microsoft.com/office/drawing/2014/main" id="{994B8559-6770-FB16-2557-209FDDDD9B6A}"/>
              </a:ext>
            </a:extLst>
          </p:cNvPr>
          <p:cNvCxnSpPr/>
          <p:nvPr/>
        </p:nvCxnSpPr>
        <p:spPr>
          <a:xfrm>
            <a:off x="685800" y="16256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8" name="text_8">
            <a:extLst>
              <a:ext uri="{FF2B5EF4-FFF2-40B4-BE49-F238E27FC236}">
                <a16:creationId xmlns:a16="http://schemas.microsoft.com/office/drawing/2014/main" id="{A773ABB6-7781-C0E7-A201-40ED7825062D}"/>
              </a:ext>
            </a:extLst>
          </p:cNvPr>
          <p:cNvSpPr txBox="1"/>
          <p:nvPr/>
        </p:nvSpPr>
        <p:spPr>
          <a:xfrm>
            <a:off x="800100" y="26035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協同搬運</a:t>
            </a:r>
            <a:endParaRPr lang="zh-TW" sz="1900"/>
          </a:p>
        </p:txBody>
      </p:sp>
      <p:sp>
        <p:nvSpPr>
          <p:cNvPr id="9" name="text_9">
            <a:extLst>
              <a:ext uri="{FF2B5EF4-FFF2-40B4-BE49-F238E27FC236}">
                <a16:creationId xmlns:a16="http://schemas.microsoft.com/office/drawing/2014/main" id="{387D8F78-EC1C-1803-9A23-A51079C45646}"/>
              </a:ext>
            </a:extLst>
          </p:cNvPr>
          <p:cNvSpPr txBox="1"/>
          <p:nvPr/>
        </p:nvSpPr>
        <p:spPr>
          <a:xfrm>
            <a:off x="3568700" y="26035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兩個以上個體共同搬運物件</a:t>
            </a:r>
            <a:endParaRPr lang="zh-TW" sz="1900"/>
          </a:p>
        </p:txBody>
      </p:sp>
      <p:sp>
        <p:nvSpPr>
          <p:cNvPr id="10" name="text_10">
            <a:extLst>
              <a:ext uri="{FF2B5EF4-FFF2-40B4-BE49-F238E27FC236}">
                <a16:creationId xmlns:a16="http://schemas.microsoft.com/office/drawing/2014/main" id="{9F672923-E063-CA2E-8934-97AE1CE26B47}"/>
              </a:ext>
            </a:extLst>
          </p:cNvPr>
          <p:cNvSpPr txBox="1"/>
          <p:nvPr/>
        </p:nvSpPr>
        <p:spPr>
          <a:xfrm>
            <a:off x="7124700" y="26035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方向與動作須協調</a:t>
            </a:r>
            <a:endParaRPr lang="zh-TW" sz="1900"/>
          </a:p>
        </p:txBody>
      </p:sp>
      <p:cxnSp>
        <p:nvCxnSpPr>
          <p:cNvPr id="11" name="line_11">
            <a:extLst>
              <a:ext uri="{FF2B5EF4-FFF2-40B4-BE49-F238E27FC236}">
                <a16:creationId xmlns:a16="http://schemas.microsoft.com/office/drawing/2014/main" id="{3CC32A6E-27F9-1C0B-6AED-AA3D8BADCF81}"/>
              </a:ext>
            </a:extLst>
          </p:cNvPr>
          <p:cNvCxnSpPr/>
          <p:nvPr/>
        </p:nvCxnSpPr>
        <p:spPr>
          <a:xfrm>
            <a:off x="685800" y="24384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2" name="text_12">
            <a:extLst>
              <a:ext uri="{FF2B5EF4-FFF2-40B4-BE49-F238E27FC236}">
                <a16:creationId xmlns:a16="http://schemas.microsoft.com/office/drawing/2014/main" id="{965CE9F9-DC03-6340-41DB-9E6711ED275B}"/>
              </a:ext>
            </a:extLst>
          </p:cNvPr>
          <p:cNvSpPr txBox="1"/>
          <p:nvPr/>
        </p:nvSpPr>
        <p:spPr>
          <a:xfrm>
            <a:off x="800100" y="34163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追捕與包圍</a:t>
            </a:r>
            <a:endParaRPr lang="zh-TW" sz="1900"/>
          </a:p>
        </p:txBody>
      </p:sp>
      <p:sp>
        <p:nvSpPr>
          <p:cNvPr id="13" name="text_13">
            <a:extLst>
              <a:ext uri="{FF2B5EF4-FFF2-40B4-BE49-F238E27FC236}">
                <a16:creationId xmlns:a16="http://schemas.microsoft.com/office/drawing/2014/main" id="{93B196A7-0BDC-6DB9-245F-7F4F44C094C8}"/>
              </a:ext>
            </a:extLst>
          </p:cNvPr>
          <p:cNvSpPr txBox="1"/>
          <p:nvPr/>
        </p:nvSpPr>
        <p:spPr>
          <a:xfrm>
            <a:off x="3568700" y="34163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從不同位置形成包圍</a:t>
            </a:r>
            <a:endParaRPr lang="zh-TW" sz="1900"/>
          </a:p>
        </p:txBody>
      </p:sp>
      <p:sp>
        <p:nvSpPr>
          <p:cNvPr id="14" name="text_14">
            <a:extLst>
              <a:ext uri="{FF2B5EF4-FFF2-40B4-BE49-F238E27FC236}">
                <a16:creationId xmlns:a16="http://schemas.microsoft.com/office/drawing/2014/main" id="{15DC3622-2B59-E114-DB33-5A165895F2CB}"/>
              </a:ext>
            </a:extLst>
          </p:cNvPr>
          <p:cNvSpPr txBox="1"/>
          <p:nvPr/>
        </p:nvSpPr>
        <p:spPr>
          <a:xfrm>
            <a:off x="7124700" y="34163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個別追逐不一定能捕獲</a:t>
            </a:r>
            <a:endParaRPr lang="zh-TW" sz="1900"/>
          </a:p>
        </p:txBody>
      </p:sp>
      <p:cxnSp>
        <p:nvCxnSpPr>
          <p:cNvPr id="15" name="line_15">
            <a:extLst>
              <a:ext uri="{FF2B5EF4-FFF2-40B4-BE49-F238E27FC236}">
                <a16:creationId xmlns:a16="http://schemas.microsoft.com/office/drawing/2014/main" id="{45D81883-C937-527A-EB3A-CBA017A0FB2D}"/>
              </a:ext>
            </a:extLst>
          </p:cNvPr>
          <p:cNvCxnSpPr/>
          <p:nvPr/>
        </p:nvCxnSpPr>
        <p:spPr>
          <a:xfrm>
            <a:off x="685800" y="32512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6" name="text_16">
            <a:extLst>
              <a:ext uri="{FF2B5EF4-FFF2-40B4-BE49-F238E27FC236}">
                <a16:creationId xmlns:a16="http://schemas.microsoft.com/office/drawing/2014/main" id="{9E1EDB41-E453-577D-F7AB-0874E17D304A}"/>
              </a:ext>
            </a:extLst>
          </p:cNvPr>
          <p:cNvSpPr txBox="1"/>
          <p:nvPr/>
        </p:nvSpPr>
        <p:spPr>
          <a:xfrm>
            <a:off x="800100" y="42291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區域巡檢</a:t>
            </a:r>
            <a:endParaRPr lang="zh-TW" sz="1900"/>
          </a:p>
        </p:txBody>
      </p:sp>
      <p:sp>
        <p:nvSpPr>
          <p:cNvPr id="17" name="text_17">
            <a:extLst>
              <a:ext uri="{FF2B5EF4-FFF2-40B4-BE49-F238E27FC236}">
                <a16:creationId xmlns:a16="http://schemas.microsoft.com/office/drawing/2014/main" id="{9511B69B-417C-C273-BDB5-7FC2E05C409A}"/>
              </a:ext>
            </a:extLst>
          </p:cNvPr>
          <p:cNvSpPr txBox="1"/>
          <p:nvPr/>
        </p:nvSpPr>
        <p:spPr>
          <a:xfrm>
            <a:off x="3568700" y="42291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分區探索並整合資訊</a:t>
            </a:r>
            <a:endParaRPr lang="zh-TW" sz="1900"/>
          </a:p>
        </p:txBody>
      </p:sp>
      <p:sp>
        <p:nvSpPr>
          <p:cNvPr id="18" name="text_18">
            <a:extLst>
              <a:ext uri="{FF2B5EF4-FFF2-40B4-BE49-F238E27FC236}">
                <a16:creationId xmlns:a16="http://schemas.microsoft.com/office/drawing/2014/main" id="{5817F804-12AA-99FC-3C53-E47DBBE0E968}"/>
              </a:ext>
            </a:extLst>
          </p:cNvPr>
          <p:cNvSpPr txBox="1"/>
          <p:nvPr/>
        </p:nvSpPr>
        <p:spPr>
          <a:xfrm>
            <a:off x="7124700" y="42291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資訊共享與環境適應</a:t>
            </a:r>
            <a:endParaRPr lang="zh-TW" sz="1900" dirty="0"/>
          </a:p>
        </p:txBody>
      </p:sp>
      <p:cxnSp>
        <p:nvCxnSpPr>
          <p:cNvPr id="19" name="line_19">
            <a:extLst>
              <a:ext uri="{FF2B5EF4-FFF2-40B4-BE49-F238E27FC236}">
                <a16:creationId xmlns:a16="http://schemas.microsoft.com/office/drawing/2014/main" id="{453AE49C-87FC-555F-0C81-16C76DA93759}"/>
              </a:ext>
            </a:extLst>
          </p:cNvPr>
          <p:cNvCxnSpPr/>
          <p:nvPr/>
        </p:nvCxnSpPr>
        <p:spPr>
          <a:xfrm>
            <a:off x="685800" y="40640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20" name="text_20">
            <a:extLst>
              <a:ext uri="{FF2B5EF4-FFF2-40B4-BE49-F238E27FC236}">
                <a16:creationId xmlns:a16="http://schemas.microsoft.com/office/drawing/2014/main" id="{C268EB2B-F6B1-61A2-7801-D062EE18ECFE}"/>
              </a:ext>
            </a:extLst>
          </p:cNvPr>
          <p:cNvSpPr txBox="1"/>
          <p:nvPr/>
        </p:nvSpPr>
        <p:spPr>
          <a:xfrm>
            <a:off x="800100" y="50419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足球任務</a:t>
            </a:r>
            <a:endParaRPr lang="zh-TW" sz="1900"/>
          </a:p>
        </p:txBody>
      </p:sp>
      <p:sp>
        <p:nvSpPr>
          <p:cNvPr id="21" name="text_21">
            <a:extLst>
              <a:ext uri="{FF2B5EF4-FFF2-40B4-BE49-F238E27FC236}">
                <a16:creationId xmlns:a16="http://schemas.microsoft.com/office/drawing/2014/main" id="{CCA31E6E-3A64-2841-9488-22C110020E8E}"/>
              </a:ext>
            </a:extLst>
          </p:cNvPr>
          <p:cNvSpPr txBox="1"/>
          <p:nvPr/>
        </p:nvSpPr>
        <p:spPr>
          <a:xfrm>
            <a:off x="3568700" y="50419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 dirty="0">
                <a:solidFill>
                  <a:srgbClr val="172536"/>
                </a:solidFill>
                <a:latin typeface="Microsoft JhengHei"/>
                <a:ea typeface="Microsoft JhengHei"/>
              </a:rPr>
              <a:t>進攻、防守、移動與協作</a:t>
            </a:r>
            <a:endParaRPr lang="zh-TW" sz="1900" dirty="0"/>
          </a:p>
        </p:txBody>
      </p:sp>
      <p:sp>
        <p:nvSpPr>
          <p:cNvPr id="22" name="text_22">
            <a:extLst>
              <a:ext uri="{FF2B5EF4-FFF2-40B4-BE49-F238E27FC236}">
                <a16:creationId xmlns:a16="http://schemas.microsoft.com/office/drawing/2014/main" id="{47654AFB-74B8-4489-CCEE-4FC8B9CC804E}"/>
              </a:ext>
            </a:extLst>
          </p:cNvPr>
          <p:cNvSpPr txBox="1"/>
          <p:nvPr/>
        </p:nvSpPr>
        <p:spPr>
          <a:xfrm>
            <a:off x="7124700" y="50419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不同子任務的取捨</a:t>
            </a:r>
            <a:endParaRPr lang="zh-TW" sz="1900"/>
          </a:p>
        </p:txBody>
      </p:sp>
      <p:cxnSp>
        <p:nvCxnSpPr>
          <p:cNvPr id="23" name="line_23">
            <a:extLst>
              <a:ext uri="{FF2B5EF4-FFF2-40B4-BE49-F238E27FC236}">
                <a16:creationId xmlns:a16="http://schemas.microsoft.com/office/drawing/2014/main" id="{0065376D-1476-A18C-093D-CD3E015A9461}"/>
              </a:ext>
            </a:extLst>
          </p:cNvPr>
          <p:cNvCxnSpPr/>
          <p:nvPr/>
        </p:nvCxnSpPr>
        <p:spPr>
          <a:xfrm>
            <a:off x="685800" y="48768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4" name="line_24">
            <a:extLst>
              <a:ext uri="{FF2B5EF4-FFF2-40B4-BE49-F238E27FC236}">
                <a16:creationId xmlns:a16="http://schemas.microsoft.com/office/drawing/2014/main" id="{CB29CE89-89C5-AA37-FCDD-7F6B238BE19C}"/>
              </a:ext>
            </a:extLst>
          </p:cNvPr>
          <p:cNvCxnSpPr/>
          <p:nvPr/>
        </p:nvCxnSpPr>
        <p:spPr>
          <a:xfrm>
            <a:off x="685800" y="56896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5" name="line_25">
            <a:extLst>
              <a:ext uri="{FF2B5EF4-FFF2-40B4-BE49-F238E27FC236}">
                <a16:creationId xmlns:a16="http://schemas.microsoft.com/office/drawing/2014/main" id="{4A4A3502-6084-5DDE-357B-FC8F15ABF751}"/>
              </a:ext>
            </a:extLst>
          </p:cNvPr>
          <p:cNvCxnSpPr/>
          <p:nvPr/>
        </p:nvCxnSpPr>
        <p:spPr>
          <a:xfrm>
            <a:off x="685800" y="1625600"/>
            <a:ext cx="0" cy="40640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6" name="line_26">
            <a:extLst>
              <a:ext uri="{FF2B5EF4-FFF2-40B4-BE49-F238E27FC236}">
                <a16:creationId xmlns:a16="http://schemas.microsoft.com/office/drawing/2014/main" id="{52D084CB-57D5-C30B-668C-C492F7575506}"/>
              </a:ext>
            </a:extLst>
          </p:cNvPr>
          <p:cNvCxnSpPr/>
          <p:nvPr/>
        </p:nvCxnSpPr>
        <p:spPr>
          <a:xfrm>
            <a:off x="3454400" y="1625600"/>
            <a:ext cx="0" cy="40640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7" name="line_27">
            <a:extLst>
              <a:ext uri="{FF2B5EF4-FFF2-40B4-BE49-F238E27FC236}">
                <a16:creationId xmlns:a16="http://schemas.microsoft.com/office/drawing/2014/main" id="{0F702E14-48ED-9A1A-2E1E-346EFC9A0CB3}"/>
              </a:ext>
            </a:extLst>
          </p:cNvPr>
          <p:cNvCxnSpPr/>
          <p:nvPr/>
        </p:nvCxnSpPr>
        <p:spPr>
          <a:xfrm>
            <a:off x="7010400" y="1625600"/>
            <a:ext cx="0" cy="40640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8" name="line_28">
            <a:extLst>
              <a:ext uri="{FF2B5EF4-FFF2-40B4-BE49-F238E27FC236}">
                <a16:creationId xmlns:a16="http://schemas.microsoft.com/office/drawing/2014/main" id="{9137C9E8-098E-863C-0097-AD1435CC4E9B}"/>
              </a:ext>
            </a:extLst>
          </p:cNvPr>
          <p:cNvCxnSpPr/>
          <p:nvPr/>
        </p:nvCxnSpPr>
        <p:spPr>
          <a:xfrm>
            <a:off x="11506200" y="1625600"/>
            <a:ext cx="0" cy="40640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</p:spTree>
    <p:extLst>
      <p:ext uri="{BB962C8B-B14F-4D97-AF65-F5344CB8AC3E}">
        <p14:creationId xmlns:p14="http://schemas.microsoft.com/office/powerpoint/2010/main" val="3035340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強化學習：用互動回饋學習策略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4477D6EB-7BDB-4484-91EB-ABB9B1CB1DCE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6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926664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 dirty="0">
                <a:solidFill>
                  <a:srgbClr val="235DB5"/>
                </a:solidFill>
                <a:latin typeface="Microsoft JhengHei"/>
                <a:ea typeface="Microsoft JhengHei"/>
              </a:rPr>
              <a:t>狀態 State</a:t>
            </a:r>
            <a:endParaRPr lang="zh-TW" sz="2100" dirty="0"/>
          </a:p>
        </p:txBody>
      </p:sp>
      <p:sp>
        <p:nvSpPr>
          <p:cNvPr id="5" name="text_5"/>
          <p:cNvSpPr txBox="1"/>
          <p:nvPr/>
        </p:nvSpPr>
        <p:spPr>
          <a:xfrm>
            <a:off x="3098800" y="1926664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代理人取得當下環境的資訊，將環境資訊轉換成狀態。</a:t>
            </a:r>
            <a:endParaRPr lang="zh-TW" sz="20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3234764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 dirty="0">
                <a:solidFill>
                  <a:srgbClr val="235DB5"/>
                </a:solidFill>
                <a:latin typeface="Microsoft JhengHei"/>
                <a:ea typeface="Microsoft JhengHei"/>
              </a:rPr>
              <a:t>行動 Action</a:t>
            </a:r>
            <a:endParaRPr lang="zh-TW" sz="2100" dirty="0"/>
          </a:p>
        </p:txBody>
      </p:sp>
      <p:sp>
        <p:nvSpPr>
          <p:cNvPr id="7" name="text_7"/>
          <p:cNvSpPr txBox="1"/>
          <p:nvPr/>
        </p:nvSpPr>
        <p:spPr>
          <a:xfrm>
            <a:off x="3098800" y="3234764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依策略選擇動作，使環境或自己的位置產生變化。</a:t>
            </a:r>
            <a:endParaRPr lang="zh-TW" sz="2000"/>
          </a:p>
        </p:txBody>
      </p:sp>
      <p:sp>
        <p:nvSpPr>
          <p:cNvPr id="8" name="text_8"/>
          <p:cNvSpPr txBox="1"/>
          <p:nvPr/>
        </p:nvSpPr>
        <p:spPr>
          <a:xfrm>
            <a:off x="685800" y="4542864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 dirty="0">
                <a:solidFill>
                  <a:srgbClr val="235DB5"/>
                </a:solidFill>
                <a:latin typeface="Microsoft JhengHei"/>
                <a:ea typeface="Microsoft JhengHei"/>
              </a:rPr>
              <a:t>獎勵 Reward</a:t>
            </a:r>
            <a:endParaRPr lang="zh-TW" sz="2100" dirty="0"/>
          </a:p>
        </p:txBody>
      </p:sp>
      <p:sp>
        <p:nvSpPr>
          <p:cNvPr id="9" name="text_9"/>
          <p:cNvSpPr txBox="1"/>
          <p:nvPr/>
        </p:nvSpPr>
        <p:spPr>
          <a:xfrm>
            <a:off x="3098800" y="4542864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環境對行動結果提供回饋，透過反覆嘗試</a:t>
            </a: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評估動作的好壞</a:t>
            </a: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，逐步學習決策。</a:t>
            </a:r>
            <a:endParaRPr lang="zh-TW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技術說明：強化學習如何建立決策能力？</a:t>
            </a:r>
            <a:endParaRPr lang="zh-TW" sz="3200" dirty="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2CD443E9-2447-47B1-A3C2-3046058997BD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7</a:t>
            </a:fld>
            <a:endParaRPr lang="zh-TW" sz="1400"/>
          </a:p>
        </p:txBody>
      </p:sp>
      <p:sp>
        <p:nvSpPr>
          <p:cNvPr id="5" name="text_5"/>
          <p:cNvSpPr txBox="1"/>
          <p:nvPr/>
        </p:nvSpPr>
        <p:spPr>
          <a:xfrm>
            <a:off x="685800" y="1892300"/>
            <a:ext cx="2108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>
                <a:solidFill>
                  <a:srgbClr val="235DB5"/>
                </a:solidFill>
                <a:latin typeface="Microsoft JhengHei"/>
                <a:ea typeface="Microsoft JhengHei"/>
              </a:rPr>
              <a:t>互動與策略</a:t>
            </a:r>
            <a:endParaRPr lang="zh-TW" sz="2000"/>
          </a:p>
        </p:txBody>
      </p:sp>
      <p:sp>
        <p:nvSpPr>
          <p:cNvPr id="6" name="text_6"/>
          <p:cNvSpPr txBox="1"/>
          <p:nvPr/>
        </p:nvSpPr>
        <p:spPr>
          <a:xfrm>
            <a:off x="3022600" y="1892300"/>
            <a:ext cx="848360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觀察狀態 s → 依策略 π 選動作 a → 環境回傳獎勵 r 與下一狀態 s′。</a:t>
            </a:r>
            <a:endParaRPr lang="zh-TW" sz="1800" dirty="0"/>
          </a:p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 dirty="0">
                <a:solidFill>
                  <a:srgbClr val="172536"/>
                </a:solidFill>
                <a:latin typeface="Microsoft JhengHei"/>
                <a:ea typeface="Microsoft JhengHei"/>
              </a:rPr>
              <a:t>策略決定如何行動、獎勵提供評價。</a:t>
            </a:r>
            <a:endParaRPr lang="zh-TW" sz="1800" dirty="0"/>
          </a:p>
        </p:txBody>
      </p:sp>
      <p:sp>
        <p:nvSpPr>
          <p:cNvPr id="7" name="text_7"/>
          <p:cNvSpPr txBox="1"/>
          <p:nvPr/>
        </p:nvSpPr>
        <p:spPr>
          <a:xfrm>
            <a:off x="685800" y="2908300"/>
            <a:ext cx="10820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06"/>
              </a:lnSpc>
              <a:spcAft>
                <a:spcPts val="0"/>
              </a:spcAft>
            </a:pPr>
            <a:r>
              <a:rPr lang="en-US" altLang="zh-TW" sz="2200" b="1" dirty="0">
                <a:solidFill>
                  <a:srgbClr val="235DB5"/>
                </a:solidFill>
                <a:latin typeface="Microsoft JhengHei"/>
                <a:ea typeface="Microsoft JhengHei"/>
              </a:rPr>
              <a:t>			</a:t>
            </a:r>
            <a:r>
              <a:rPr lang="zh-TW" alt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/>
                <a:ea typeface="Microsoft JhengHei"/>
              </a:rPr>
              <a:t>G(t) = r(t+1) + γ r(t+2) + γ² r(t+3) + …</a:t>
            </a:r>
            <a:endParaRPr lang="zh-TW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_8"/>
          <p:cNvSpPr txBox="1"/>
          <p:nvPr/>
        </p:nvSpPr>
        <p:spPr>
          <a:xfrm>
            <a:off x="685800" y="3695700"/>
            <a:ext cx="2108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>
                <a:solidFill>
                  <a:srgbClr val="235DB5"/>
                </a:solidFill>
                <a:latin typeface="Microsoft JhengHei"/>
                <a:ea typeface="Microsoft JhengHei"/>
              </a:rPr>
              <a:t>目標與價值</a:t>
            </a:r>
            <a:endParaRPr lang="zh-TW" sz="2000"/>
          </a:p>
        </p:txBody>
      </p:sp>
      <p:sp>
        <p:nvSpPr>
          <p:cNvPr id="9" name="text_9"/>
          <p:cNvSpPr txBox="1"/>
          <p:nvPr/>
        </p:nvSpPr>
        <p:spPr>
          <a:xfrm>
            <a:off x="3022600" y="3695700"/>
            <a:ext cx="848360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>
                <a:solidFill>
                  <a:srgbClr val="172536"/>
                </a:solidFill>
                <a:latin typeface="Microsoft JhengHei"/>
                <a:ea typeface="Microsoft JhengHei"/>
              </a:rPr>
              <a:t>尋找使期望回報最大的策略，而非只選即時獎勵最高的動作。</a:t>
            </a:r>
            <a:endParaRPr lang="zh-TW" sz="1800"/>
          </a:p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>
                <a:solidFill>
                  <a:srgbClr val="172536"/>
                </a:solidFill>
                <a:latin typeface="Microsoft JhengHei"/>
                <a:ea typeface="Microsoft JhengHei"/>
              </a:rPr>
              <a:t>0 &lt;= γ &lt; 1；γ 越大，後續獎勵的相對權重越高；Vπ(s) 評估策略的長期價值。</a:t>
            </a:r>
            <a:endParaRPr lang="zh-TW" sz="1800"/>
          </a:p>
        </p:txBody>
      </p:sp>
      <p:sp>
        <p:nvSpPr>
          <p:cNvPr id="10" name="text_10"/>
          <p:cNvSpPr txBox="1"/>
          <p:nvPr/>
        </p:nvSpPr>
        <p:spPr>
          <a:xfrm>
            <a:off x="685800" y="4635500"/>
            <a:ext cx="2108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>
                <a:solidFill>
                  <a:srgbClr val="235DB5"/>
                </a:solidFill>
                <a:latin typeface="Microsoft JhengHei"/>
                <a:ea typeface="Microsoft JhengHei"/>
              </a:rPr>
              <a:t>探索與利用</a:t>
            </a:r>
            <a:endParaRPr lang="zh-TW" sz="2000"/>
          </a:p>
        </p:txBody>
      </p:sp>
      <p:sp>
        <p:nvSpPr>
          <p:cNvPr id="11" name="text_11"/>
          <p:cNvSpPr txBox="1"/>
          <p:nvPr/>
        </p:nvSpPr>
        <p:spPr>
          <a:xfrm>
            <a:off x="3022600" y="4635500"/>
            <a:ext cx="848360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探索：嘗試尚未充分了解的行動；利用：選擇目前估計較好的行動。</a:t>
            </a:r>
            <a:endParaRPr lang="zh-TW" sz="1800" dirty="0"/>
          </a:p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只利用可能錯過更好策略，探索則可能犧牲當下回報，需在學習中取捨。</a:t>
            </a:r>
            <a:endParaRPr lang="zh-TW" sz="1800" dirty="0"/>
          </a:p>
        </p:txBody>
      </p:sp>
      <p:sp>
        <p:nvSpPr>
          <p:cNvPr id="12" name="text_12"/>
          <p:cNvSpPr txBox="1"/>
          <p:nvPr/>
        </p:nvSpPr>
        <p:spPr>
          <a:xfrm>
            <a:off x="685800" y="5575300"/>
            <a:ext cx="2108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>
                <a:solidFill>
                  <a:srgbClr val="235DB5"/>
                </a:solidFill>
                <a:latin typeface="Microsoft JhengHei"/>
                <a:ea typeface="Microsoft JhengHei"/>
              </a:rPr>
              <a:t>建模與假設</a:t>
            </a:r>
            <a:endParaRPr lang="zh-TW" sz="2000"/>
          </a:p>
        </p:txBody>
      </p:sp>
      <p:sp>
        <p:nvSpPr>
          <p:cNvPr id="13" name="text_13"/>
          <p:cNvSpPr txBox="1"/>
          <p:nvPr/>
        </p:nvSpPr>
        <p:spPr>
          <a:xfrm>
            <a:off x="3022600" y="5575300"/>
            <a:ext cx="8483600" cy="774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91"/>
              </a:lnSpc>
              <a:spcAft>
                <a:spcPts val="0"/>
              </a:spcAft>
            </a:pPr>
            <a:r>
              <a:rPr lang="zh-TW" altLang="en-US" sz="1700" b="0" dirty="0">
                <a:solidFill>
                  <a:srgbClr val="172536"/>
                </a:solidFill>
                <a:latin typeface="Microsoft JhengHei"/>
                <a:ea typeface="Microsoft JhengHei"/>
              </a:rPr>
              <a:t>MDP 以狀態、動作、轉移機率與獎勵描述任務</a:t>
            </a:r>
            <a:r>
              <a:rPr lang="zh-TW" altLang="en-US" sz="1700" dirty="0">
                <a:solidFill>
                  <a:srgbClr val="172536"/>
                </a:solidFill>
                <a:latin typeface="Microsoft JhengHei"/>
                <a:ea typeface="Microsoft JhengHei"/>
              </a:rPr>
              <a:t>，</a:t>
            </a:r>
            <a:r>
              <a:rPr lang="zh-TW" altLang="en-US" sz="1700" b="0" dirty="0">
                <a:solidFill>
                  <a:srgbClr val="172536"/>
                </a:solidFill>
                <a:latin typeface="Microsoft JhengHei"/>
                <a:ea typeface="Microsoft JhengHei"/>
              </a:rPr>
              <a:t>給定當前狀態與動作後，</a:t>
            </a:r>
            <a:endParaRPr lang="zh-TW" sz="1700" dirty="0"/>
          </a:p>
          <a:p>
            <a:pPr algn="l">
              <a:lnSpc>
                <a:spcPts val="2091"/>
              </a:lnSpc>
              <a:spcAft>
                <a:spcPts val="0"/>
              </a:spcAft>
            </a:pPr>
            <a:r>
              <a:rPr lang="zh-TW" altLang="en-US" sz="1700" b="0" dirty="0">
                <a:solidFill>
                  <a:srgbClr val="172536"/>
                </a:solidFill>
                <a:latin typeface="Microsoft JhengHei"/>
                <a:ea typeface="Microsoft JhengHei"/>
              </a:rPr>
              <a:t>下一狀態分布不依賴更早歷史。若觀測不足以表示狀態，須另處理部分可觀測性。</a:t>
            </a:r>
            <a:endParaRPr lang="zh-TW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Q-learning：強化學習中的互動與更新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C5F9E1CD-83C2-40BE-B6CD-224522FEFE97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8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2032000"/>
            <a:ext cx="10820400" cy="546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75"/>
              </a:lnSpc>
              <a:spcAft>
                <a:spcPts val="0"/>
              </a:spcAft>
            </a:pPr>
            <a:r>
              <a:rPr lang="zh-TW" altLang="en-US" sz="2500" b="1" dirty="0">
                <a:solidFill>
                  <a:srgbClr val="235DB5"/>
                </a:solidFill>
                <a:latin typeface="Microsoft JhengHei"/>
                <a:ea typeface="Microsoft JhengHei"/>
              </a:rPr>
              <a:t>Q-learning 是強化學習的一種方法</a:t>
            </a:r>
            <a:endParaRPr lang="zh-TW" sz="25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3352800"/>
            <a:ext cx="3327400" cy="200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環境提供狀態與獎勵，</a:t>
            </a:r>
            <a:endParaRPr lang="zh-TW" sz="2000" dirty="0"/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依目前策略評估並行動，</a:t>
            </a:r>
            <a:endParaRPr lang="zh-TW" sz="2000" dirty="0"/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再用回饋更新策略。</a:t>
            </a:r>
            <a:endParaRPr lang="zh-TW" sz="2000" dirty="0"/>
          </a:p>
        </p:txBody>
      </p:sp>
      <p:sp>
        <p:nvSpPr>
          <p:cNvPr id="8" name="text_8"/>
          <p:cNvSpPr txBox="1"/>
          <p:nvPr/>
        </p:nvSpPr>
        <p:spPr>
          <a:xfrm>
            <a:off x="7556500" y="2476500"/>
            <a:ext cx="2159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>
                <a:solidFill>
                  <a:srgbClr val="235DB5"/>
                </a:solidFill>
                <a:latin typeface="Microsoft JhengHei"/>
                <a:ea typeface="Microsoft JhengHei"/>
              </a:rPr>
              <a:t>策略 Policy</a:t>
            </a:r>
            <a:endParaRPr lang="zh-TW" sz="2000"/>
          </a:p>
        </p:txBody>
      </p:sp>
      <p:sp>
        <p:nvSpPr>
          <p:cNvPr id="9" name="text_9"/>
          <p:cNvSpPr txBox="1"/>
          <p:nvPr/>
        </p:nvSpPr>
        <p:spPr>
          <a:xfrm>
            <a:off x="4749800" y="3517900"/>
            <a:ext cx="2413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>
                <a:solidFill>
                  <a:srgbClr val="235DB5"/>
                </a:solidFill>
                <a:latin typeface="Microsoft JhengHei"/>
                <a:ea typeface="Microsoft JhengHei"/>
              </a:rPr>
              <a:t>評估 Evaluation</a:t>
            </a:r>
            <a:endParaRPr lang="zh-TW" sz="2000"/>
          </a:p>
        </p:txBody>
      </p:sp>
      <p:sp>
        <p:nvSpPr>
          <p:cNvPr id="10" name="text_10"/>
          <p:cNvSpPr txBox="1"/>
          <p:nvPr/>
        </p:nvSpPr>
        <p:spPr>
          <a:xfrm>
            <a:off x="7810500" y="3517900"/>
            <a:ext cx="22352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>
                <a:solidFill>
                  <a:srgbClr val="235DB5"/>
                </a:solidFill>
                <a:latin typeface="Microsoft JhengHei"/>
                <a:ea typeface="Microsoft JhengHei"/>
              </a:rPr>
              <a:t>更新 Update</a:t>
            </a:r>
            <a:endParaRPr lang="zh-TW" sz="2000"/>
          </a:p>
        </p:txBody>
      </p:sp>
      <p:sp>
        <p:nvSpPr>
          <p:cNvPr id="11" name="text_11"/>
          <p:cNvSpPr txBox="1"/>
          <p:nvPr/>
        </p:nvSpPr>
        <p:spPr>
          <a:xfrm>
            <a:off x="7340600" y="4762500"/>
            <a:ext cx="2438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>
                <a:solidFill>
                  <a:srgbClr val="235DB5"/>
                </a:solidFill>
                <a:latin typeface="Microsoft JhengHei"/>
                <a:ea typeface="Microsoft JhengHei"/>
              </a:rPr>
              <a:t>環境 World</a:t>
            </a:r>
            <a:endParaRPr lang="zh-TW" sz="2000"/>
          </a:p>
        </p:txBody>
      </p:sp>
      <p:sp>
        <p:nvSpPr>
          <p:cNvPr id="12" name="text_12"/>
          <p:cNvSpPr txBox="1"/>
          <p:nvPr/>
        </p:nvSpPr>
        <p:spPr>
          <a:xfrm>
            <a:off x="10045700" y="4584700"/>
            <a:ext cx="14605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45"/>
              </a:lnSpc>
              <a:spcAft>
                <a:spcPts val="0"/>
              </a:spcAft>
            </a:pPr>
            <a:r>
              <a:rPr lang="zh-TW" altLang="en-US" sz="1500" b="1">
                <a:solidFill>
                  <a:srgbClr val="235DB5"/>
                </a:solidFill>
                <a:latin typeface="Microsoft JhengHei"/>
                <a:ea typeface="Microsoft JhengHei"/>
              </a:rPr>
              <a:t>回饋</a:t>
            </a:r>
            <a:endParaRPr lang="zh-TW" sz="1500"/>
          </a:p>
          <a:p>
            <a:pPr algn="ctr">
              <a:lnSpc>
                <a:spcPts val="1845"/>
              </a:lnSpc>
              <a:spcAft>
                <a:spcPts val="0"/>
              </a:spcAft>
            </a:pPr>
            <a:r>
              <a:rPr lang="zh-TW" altLang="en-US" sz="1500" b="1">
                <a:solidFill>
                  <a:srgbClr val="235DB5"/>
                </a:solidFill>
                <a:latin typeface="Microsoft JhengHei"/>
                <a:ea typeface="Microsoft JhengHei"/>
              </a:rPr>
              <a:t>Reinforcement</a:t>
            </a:r>
            <a:endParaRPr lang="zh-TW" sz="1500"/>
          </a:p>
        </p:txBody>
      </p:sp>
      <p:cxnSp>
        <p:nvCxnSpPr>
          <p:cNvPr id="13" name="line_13"/>
          <p:cNvCxnSpPr/>
          <p:nvPr/>
        </p:nvCxnSpPr>
        <p:spPr>
          <a:xfrm flipH="1">
            <a:off x="5969000" y="2667000"/>
            <a:ext cx="1587500" cy="0"/>
          </a:xfrm>
          <a:prstGeom prst="line">
            <a:avLst/>
          </a:prstGeom>
          <a:ln w="28575">
            <a:solidFill>
              <a:srgbClr val="235DB5"/>
            </a:solidFill>
          </a:ln>
        </p:spPr>
      </p:cxnSp>
      <p:cxnSp>
        <p:nvCxnSpPr>
          <p:cNvPr id="14" name="line_14"/>
          <p:cNvCxnSpPr/>
          <p:nvPr/>
        </p:nvCxnSpPr>
        <p:spPr>
          <a:xfrm>
            <a:off x="5969000" y="2667000"/>
            <a:ext cx="0" cy="69850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cxnSp>
        <p:nvCxnSpPr>
          <p:cNvPr id="15" name="line_15"/>
          <p:cNvCxnSpPr/>
          <p:nvPr/>
        </p:nvCxnSpPr>
        <p:spPr>
          <a:xfrm flipV="1">
            <a:off x="8940800" y="2984500"/>
            <a:ext cx="0" cy="41910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cxnSp>
        <p:nvCxnSpPr>
          <p:cNvPr id="16" name="line_16"/>
          <p:cNvCxnSpPr/>
          <p:nvPr/>
        </p:nvCxnSpPr>
        <p:spPr>
          <a:xfrm flipH="1">
            <a:off x="4483100" y="3733800"/>
            <a:ext cx="266700" cy="0"/>
          </a:xfrm>
          <a:prstGeom prst="line">
            <a:avLst/>
          </a:prstGeom>
          <a:ln w="28575">
            <a:solidFill>
              <a:srgbClr val="235DB5"/>
            </a:solidFill>
          </a:ln>
        </p:spPr>
      </p:cxnSp>
      <p:cxnSp>
        <p:nvCxnSpPr>
          <p:cNvPr id="17" name="line_17"/>
          <p:cNvCxnSpPr/>
          <p:nvPr/>
        </p:nvCxnSpPr>
        <p:spPr>
          <a:xfrm>
            <a:off x="4483100" y="3733800"/>
            <a:ext cx="0" cy="1244600"/>
          </a:xfrm>
          <a:prstGeom prst="line">
            <a:avLst/>
          </a:prstGeom>
          <a:ln w="28575">
            <a:solidFill>
              <a:srgbClr val="235DB5"/>
            </a:solidFill>
          </a:ln>
        </p:spPr>
      </p:cxnSp>
      <p:cxnSp>
        <p:nvCxnSpPr>
          <p:cNvPr id="18" name="line_18"/>
          <p:cNvCxnSpPr/>
          <p:nvPr/>
        </p:nvCxnSpPr>
        <p:spPr>
          <a:xfrm>
            <a:off x="4483100" y="4978400"/>
            <a:ext cx="27559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9" name="text_19"/>
          <p:cNvSpPr txBox="1"/>
          <p:nvPr/>
        </p:nvSpPr>
        <p:spPr>
          <a:xfrm>
            <a:off x="4610100" y="4318000"/>
            <a:ext cx="1016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68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536273"/>
                </a:solidFill>
                <a:latin typeface="Microsoft JhengHei"/>
                <a:ea typeface="Microsoft JhengHei"/>
              </a:rPr>
              <a:t>行動</a:t>
            </a:r>
            <a:endParaRPr lang="zh-TW" sz="1600"/>
          </a:p>
        </p:txBody>
      </p:sp>
      <p:cxnSp>
        <p:nvCxnSpPr>
          <p:cNvPr id="20" name="line_20"/>
          <p:cNvCxnSpPr/>
          <p:nvPr/>
        </p:nvCxnSpPr>
        <p:spPr>
          <a:xfrm flipV="1">
            <a:off x="8572500" y="4305300"/>
            <a:ext cx="0" cy="330200"/>
          </a:xfrm>
          <a:prstGeom prst="line">
            <a:avLst/>
          </a:prstGeom>
          <a:ln w="28575">
            <a:solidFill>
              <a:srgbClr val="235DB5"/>
            </a:solidFill>
          </a:ln>
        </p:spPr>
      </p:cxnSp>
      <p:cxnSp>
        <p:nvCxnSpPr>
          <p:cNvPr id="21" name="line_21"/>
          <p:cNvCxnSpPr/>
          <p:nvPr/>
        </p:nvCxnSpPr>
        <p:spPr>
          <a:xfrm>
            <a:off x="5969000" y="4305300"/>
            <a:ext cx="2971800" cy="0"/>
          </a:xfrm>
          <a:prstGeom prst="line">
            <a:avLst/>
          </a:prstGeom>
          <a:ln w="28575">
            <a:solidFill>
              <a:srgbClr val="235DB5"/>
            </a:solidFill>
          </a:ln>
        </p:spPr>
      </p:cxnSp>
      <p:cxnSp>
        <p:nvCxnSpPr>
          <p:cNvPr id="22" name="line_22"/>
          <p:cNvCxnSpPr/>
          <p:nvPr/>
        </p:nvCxnSpPr>
        <p:spPr>
          <a:xfrm flipV="1">
            <a:off x="5969000" y="4025900"/>
            <a:ext cx="0" cy="27940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cxnSp>
        <p:nvCxnSpPr>
          <p:cNvPr id="23" name="line_23"/>
          <p:cNvCxnSpPr/>
          <p:nvPr/>
        </p:nvCxnSpPr>
        <p:spPr>
          <a:xfrm flipV="1">
            <a:off x="8940800" y="4025900"/>
            <a:ext cx="0" cy="27940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24" name="text_24"/>
          <p:cNvSpPr txBox="1"/>
          <p:nvPr/>
        </p:nvSpPr>
        <p:spPr>
          <a:xfrm>
            <a:off x="7302500" y="4381500"/>
            <a:ext cx="10160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68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536273"/>
                </a:solidFill>
                <a:latin typeface="Microsoft JhengHei"/>
                <a:ea typeface="Microsoft JhengHei"/>
              </a:rPr>
              <a:t>狀態</a:t>
            </a:r>
            <a:endParaRPr lang="zh-TW" sz="1600"/>
          </a:p>
        </p:txBody>
      </p:sp>
      <p:cxnSp>
        <p:nvCxnSpPr>
          <p:cNvPr id="25" name="line_25"/>
          <p:cNvCxnSpPr/>
          <p:nvPr/>
        </p:nvCxnSpPr>
        <p:spPr>
          <a:xfrm>
            <a:off x="9867900" y="4978400"/>
            <a:ext cx="203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cxnSp>
        <p:nvCxnSpPr>
          <p:cNvPr id="26" name="line_26"/>
          <p:cNvCxnSpPr/>
          <p:nvPr/>
        </p:nvCxnSpPr>
        <p:spPr>
          <a:xfrm flipV="1">
            <a:off x="10858500" y="3733800"/>
            <a:ext cx="0" cy="749300"/>
          </a:xfrm>
          <a:prstGeom prst="line">
            <a:avLst/>
          </a:prstGeom>
          <a:ln w="28575">
            <a:solidFill>
              <a:srgbClr val="235DB5"/>
            </a:solidFill>
          </a:ln>
        </p:spPr>
      </p:cxnSp>
      <p:cxnSp>
        <p:nvCxnSpPr>
          <p:cNvPr id="27" name="line_27"/>
          <p:cNvCxnSpPr/>
          <p:nvPr/>
        </p:nvCxnSpPr>
        <p:spPr>
          <a:xfrm flipH="1">
            <a:off x="10134600" y="3733800"/>
            <a:ext cx="7239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28" name="text_28"/>
          <p:cNvSpPr txBox="1"/>
          <p:nvPr/>
        </p:nvSpPr>
        <p:spPr>
          <a:xfrm>
            <a:off x="10375900" y="4025900"/>
            <a:ext cx="1016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68"/>
              </a:lnSpc>
              <a:spcAft>
                <a:spcPts val="0"/>
              </a:spcAft>
            </a:pPr>
            <a:r>
              <a:rPr lang="zh-TW" altLang="en-US" sz="1600" dirty="0">
                <a:solidFill>
                  <a:srgbClr val="536273"/>
                </a:solidFill>
                <a:latin typeface="Microsoft JhengHei"/>
                <a:ea typeface="Microsoft JhengHei"/>
              </a:rPr>
              <a:t>獎勵</a:t>
            </a:r>
            <a:endParaRPr lang="zh-TW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技術說明：Q-learning 的更新與收斂</a:t>
            </a:r>
            <a:endParaRPr lang="zh-TW" sz="3200" dirty="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DD0AEF0C-C463-4D65-82D2-62898D8914C6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9</a:t>
            </a:fld>
            <a:endParaRPr lang="zh-TW" sz="1400"/>
          </a:p>
        </p:txBody>
      </p:sp>
      <p:sp>
        <p:nvSpPr>
          <p:cNvPr id="5" name="text_5"/>
          <p:cNvSpPr txBox="1"/>
          <p:nvPr/>
        </p:nvSpPr>
        <p:spPr>
          <a:xfrm>
            <a:off x="685800" y="1841500"/>
            <a:ext cx="2108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>
                <a:solidFill>
                  <a:srgbClr val="235DB5"/>
                </a:solidFill>
                <a:latin typeface="Microsoft JhengHei"/>
                <a:ea typeface="Microsoft JhengHei"/>
              </a:rPr>
              <a:t>學習對象</a:t>
            </a:r>
            <a:endParaRPr lang="zh-TW" sz="2000"/>
          </a:p>
        </p:txBody>
      </p:sp>
      <p:sp>
        <p:nvSpPr>
          <p:cNvPr id="6" name="text_6"/>
          <p:cNvSpPr txBox="1"/>
          <p:nvPr/>
        </p:nvSpPr>
        <p:spPr>
          <a:xfrm>
            <a:off x="3022600" y="1841500"/>
            <a:ext cx="848360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 dirty="0">
                <a:solidFill>
                  <a:srgbClr val="172536"/>
                </a:solidFill>
                <a:latin typeface="Microsoft JhengHei"/>
                <a:ea typeface="Microsoft JhengHei"/>
              </a:rPr>
              <a:t>Q(s,a) 估計「在 s 採取 a，之後採最優策略」的折扣回報。</a:t>
            </a:r>
            <a:endParaRPr lang="zh-TW" sz="1800" dirty="0"/>
          </a:p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 dirty="0">
                <a:solidFill>
                  <a:srgbClr val="172536"/>
                </a:solidFill>
                <a:latin typeface="Microsoft JhengHei"/>
                <a:ea typeface="Microsoft JhengHei"/>
              </a:rPr>
              <a:t>不需預先知道環境的轉移機率與獎勵模型。</a:t>
            </a:r>
            <a:endParaRPr lang="zh-TW" sz="1800" dirty="0"/>
          </a:p>
        </p:txBody>
      </p:sp>
      <p:sp>
        <p:nvSpPr>
          <p:cNvPr id="7" name="text_7"/>
          <p:cNvSpPr txBox="1"/>
          <p:nvPr/>
        </p:nvSpPr>
        <p:spPr>
          <a:xfrm>
            <a:off x="685800" y="2819400"/>
            <a:ext cx="108204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/>
                <a:ea typeface="Microsoft JhengHei"/>
              </a:rPr>
              <a:t>Q(s,a) = Q(s,a) + α [r + γ max[a′] Q(s′,a′) - Q(s,a)]</a:t>
            </a:r>
            <a:endParaRPr lang="zh-TW" sz="2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_8"/>
          <p:cNvSpPr txBox="1"/>
          <p:nvPr/>
        </p:nvSpPr>
        <p:spPr>
          <a:xfrm>
            <a:off x="685800" y="3543300"/>
            <a:ext cx="2108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 dirty="0">
                <a:solidFill>
                  <a:srgbClr val="235DB5"/>
                </a:solidFill>
                <a:latin typeface="Microsoft JhengHei"/>
                <a:ea typeface="Microsoft JhengHei"/>
              </a:rPr>
              <a:t>如何更新</a:t>
            </a:r>
            <a:endParaRPr lang="zh-TW" sz="2000" dirty="0"/>
          </a:p>
        </p:txBody>
      </p:sp>
      <p:sp>
        <p:nvSpPr>
          <p:cNvPr id="9" name="text_9"/>
          <p:cNvSpPr txBox="1"/>
          <p:nvPr/>
        </p:nvSpPr>
        <p:spPr>
          <a:xfrm>
            <a:off x="3022600" y="3543300"/>
            <a:ext cx="8483600" cy="939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取得經驗 (s,a,r,s′)；以 r + γ max[a′] Q(s′,a′) 作為更新目標。</a:t>
            </a:r>
            <a:endParaRPr lang="zh-TW" sz="1800" dirty="0"/>
          </a:p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 dirty="0">
                <a:solidFill>
                  <a:srgbClr val="172536"/>
                </a:solidFill>
                <a:latin typeface="Microsoft JhengHei"/>
                <a:ea typeface="Microsoft JhengHei"/>
              </a:rPr>
              <a:t>目標減舊值是時間差分誤差，α 控制修正幅度，γ 折扣未來價值。</a:t>
            </a:r>
            <a:endParaRPr lang="zh-TW" sz="1800" dirty="0"/>
          </a:p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最大化項取遍下一狀態的可用動作，不要求資料收集時也採該最大值動作。</a:t>
            </a:r>
            <a:endParaRPr lang="zh-TW" sz="1800" dirty="0"/>
          </a:p>
        </p:txBody>
      </p:sp>
      <p:sp>
        <p:nvSpPr>
          <p:cNvPr id="10" name="text_10"/>
          <p:cNvSpPr txBox="1"/>
          <p:nvPr/>
        </p:nvSpPr>
        <p:spPr>
          <a:xfrm>
            <a:off x="685800" y="4648200"/>
            <a:ext cx="2108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 dirty="0">
                <a:solidFill>
                  <a:srgbClr val="235DB5"/>
                </a:solidFill>
                <a:latin typeface="Microsoft JhengHei"/>
                <a:ea typeface="Microsoft JhengHei"/>
              </a:rPr>
              <a:t>假設例子</a:t>
            </a:r>
            <a:endParaRPr lang="zh-TW" sz="2000" dirty="0"/>
          </a:p>
        </p:txBody>
      </p:sp>
      <p:sp>
        <p:nvSpPr>
          <p:cNvPr id="11" name="text_11"/>
          <p:cNvSpPr txBox="1"/>
          <p:nvPr/>
        </p:nvSpPr>
        <p:spPr>
          <a:xfrm>
            <a:off x="3022600" y="4648200"/>
            <a:ext cx="848360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>
                <a:solidFill>
                  <a:srgbClr val="172536"/>
                </a:solidFill>
                <a:latin typeface="Microsoft JhengHei"/>
                <a:ea typeface="Microsoft JhengHei"/>
              </a:rPr>
              <a:t>若舊 Q = 2、α = 0.5、r = 1、γ = 0.9，且下一狀態最大 Q = 4，</a:t>
            </a:r>
            <a:endParaRPr lang="zh-TW" sz="1800"/>
          </a:p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>
                <a:solidFill>
                  <a:srgbClr val="172536"/>
                </a:solidFill>
                <a:latin typeface="Microsoft JhengHei"/>
                <a:ea typeface="Microsoft JhengHei"/>
              </a:rPr>
              <a:t>則目標 = 4.6、誤差 = 2.6，新 Q = 2 + 0.5 × 2.6 = 3.3。</a:t>
            </a:r>
            <a:endParaRPr lang="zh-TW" sz="1800"/>
          </a:p>
        </p:txBody>
      </p:sp>
      <p:sp>
        <p:nvSpPr>
          <p:cNvPr id="12" name="text_12"/>
          <p:cNvSpPr txBox="1"/>
          <p:nvPr/>
        </p:nvSpPr>
        <p:spPr>
          <a:xfrm>
            <a:off x="685800" y="5600700"/>
            <a:ext cx="2108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1" dirty="0">
                <a:solidFill>
                  <a:srgbClr val="235DB5"/>
                </a:solidFill>
                <a:latin typeface="Microsoft JhengHei"/>
                <a:ea typeface="Microsoft JhengHei"/>
              </a:rPr>
              <a:t>收斂前提</a:t>
            </a:r>
            <a:endParaRPr lang="zh-TW" sz="2000" dirty="0"/>
          </a:p>
        </p:txBody>
      </p:sp>
      <p:sp>
        <p:nvSpPr>
          <p:cNvPr id="13" name="text_13"/>
          <p:cNvSpPr txBox="1"/>
          <p:nvPr/>
        </p:nvSpPr>
        <p:spPr>
          <a:xfrm>
            <a:off x="3022600" y="5600700"/>
            <a:ext cx="84836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91"/>
              </a:lnSpc>
              <a:spcAft>
                <a:spcPts val="0"/>
              </a:spcAft>
            </a:pPr>
            <a:r>
              <a:rPr lang="zh-TW" altLang="en-US" sz="17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有限、定常的 MDP，獎勵有界，折扣 0 &lt; γ &lt; 1；每個狀態—動作對須</a:t>
            </a:r>
            <a:endParaRPr lang="zh-TW" sz="1700" dirty="0"/>
          </a:p>
          <a:p>
            <a:pPr algn="l">
              <a:lnSpc>
                <a:spcPts val="2091"/>
              </a:lnSpc>
              <a:spcAft>
                <a:spcPts val="0"/>
              </a:spcAft>
            </a:pPr>
            <a:r>
              <a:rPr lang="zh-TW" altLang="en-US" sz="1700" b="0" dirty="0">
                <a:solidFill>
                  <a:srgbClr val="172536"/>
                </a:solidFill>
                <a:latin typeface="Microsoft JhengHei"/>
                <a:ea typeface="Microsoft JhengHei"/>
              </a:rPr>
              <a:t>無限次更新，且各對的學習率滿足 Σ α = ∞、Σ α² &lt; ∞，才有幾乎必然收斂</a:t>
            </a:r>
            <a:endParaRPr lang="zh-TW" sz="1700" dirty="0"/>
          </a:p>
          <a:p>
            <a:pPr algn="l">
              <a:lnSpc>
                <a:spcPts val="2091"/>
              </a:lnSpc>
              <a:spcAft>
                <a:spcPts val="0"/>
              </a:spcAft>
            </a:pPr>
            <a:r>
              <a:rPr lang="zh-TW" altLang="en-US" sz="17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至 Q* 的保證。</a:t>
            </a:r>
            <a:endParaRPr lang="zh-TW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演講範例：以迷宮說明獎勵設計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5B1845AB-8961-4B29-8566-6BD71C74EF1C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10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800100" y="17907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情況</a:t>
            </a:r>
            <a:endParaRPr lang="zh-TW" sz="1900"/>
          </a:p>
        </p:txBody>
      </p:sp>
      <p:sp>
        <p:nvSpPr>
          <p:cNvPr id="5" name="text_5"/>
          <p:cNvSpPr txBox="1"/>
          <p:nvPr/>
        </p:nvSpPr>
        <p:spPr>
          <a:xfrm>
            <a:off x="3568700" y="17907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演講設定</a:t>
            </a:r>
            <a:endParaRPr lang="zh-TW" sz="1900"/>
          </a:p>
        </p:txBody>
      </p:sp>
      <p:sp>
        <p:nvSpPr>
          <p:cNvPr id="6" name="text_6"/>
          <p:cNvSpPr txBox="1"/>
          <p:nvPr/>
        </p:nvSpPr>
        <p:spPr>
          <a:xfrm>
            <a:off x="7124700" y="17907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學習上的意義</a:t>
            </a:r>
            <a:endParaRPr lang="zh-TW" sz="1900"/>
          </a:p>
        </p:txBody>
      </p:sp>
      <p:cxnSp>
        <p:nvCxnSpPr>
          <p:cNvPr id="7" name="line_7"/>
          <p:cNvCxnSpPr/>
          <p:nvPr/>
        </p:nvCxnSpPr>
        <p:spPr>
          <a:xfrm>
            <a:off x="685800" y="16256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8" name="text_8"/>
          <p:cNvSpPr txBox="1"/>
          <p:nvPr/>
        </p:nvSpPr>
        <p:spPr>
          <a:xfrm>
            <a:off x="800100" y="26035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撞牆</a:t>
            </a:r>
            <a:endParaRPr lang="zh-TW" sz="1900"/>
          </a:p>
        </p:txBody>
      </p:sp>
      <p:sp>
        <p:nvSpPr>
          <p:cNvPr id="9" name="text_9"/>
          <p:cNvSpPr txBox="1"/>
          <p:nvPr/>
        </p:nvSpPr>
        <p:spPr>
          <a:xfrm>
            <a:off x="3568700" y="26035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-100</a:t>
            </a:r>
            <a:endParaRPr lang="zh-TW" sz="1900"/>
          </a:p>
        </p:txBody>
      </p:sp>
      <p:sp>
        <p:nvSpPr>
          <p:cNvPr id="10" name="text_10"/>
          <p:cNvSpPr txBox="1"/>
          <p:nvPr/>
        </p:nvSpPr>
        <p:spPr>
          <a:xfrm>
            <a:off x="7124700" y="26035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降低選擇危險動作的價值</a:t>
            </a:r>
            <a:endParaRPr lang="zh-TW" sz="1900"/>
          </a:p>
        </p:txBody>
      </p:sp>
      <p:cxnSp>
        <p:nvCxnSpPr>
          <p:cNvPr id="11" name="line_11"/>
          <p:cNvCxnSpPr/>
          <p:nvPr/>
        </p:nvCxnSpPr>
        <p:spPr>
          <a:xfrm>
            <a:off x="685800" y="24384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2" name="text_12"/>
          <p:cNvSpPr txBox="1"/>
          <p:nvPr/>
        </p:nvSpPr>
        <p:spPr>
          <a:xfrm>
            <a:off x="800100" y="34163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到達終點</a:t>
            </a:r>
            <a:endParaRPr lang="zh-TW" sz="1900"/>
          </a:p>
        </p:txBody>
      </p:sp>
      <p:sp>
        <p:nvSpPr>
          <p:cNvPr id="13" name="text_13"/>
          <p:cNvSpPr txBox="1"/>
          <p:nvPr/>
        </p:nvSpPr>
        <p:spPr>
          <a:xfrm>
            <a:off x="3568700" y="34163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+100</a:t>
            </a:r>
            <a:endParaRPr lang="zh-TW" sz="1900"/>
          </a:p>
        </p:txBody>
      </p:sp>
      <p:sp>
        <p:nvSpPr>
          <p:cNvPr id="14" name="text_14"/>
          <p:cNvSpPr txBox="1"/>
          <p:nvPr/>
        </p:nvSpPr>
        <p:spPr>
          <a:xfrm>
            <a:off x="7124700" y="34163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讓成功到達成為正向目標</a:t>
            </a:r>
            <a:endParaRPr lang="zh-TW" sz="1900"/>
          </a:p>
        </p:txBody>
      </p:sp>
      <p:cxnSp>
        <p:nvCxnSpPr>
          <p:cNvPr id="15" name="line_15"/>
          <p:cNvCxnSpPr/>
          <p:nvPr/>
        </p:nvCxnSpPr>
        <p:spPr>
          <a:xfrm>
            <a:off x="685800" y="32512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6" name="text_16"/>
          <p:cNvSpPr txBox="1"/>
          <p:nvPr/>
        </p:nvSpPr>
        <p:spPr>
          <a:xfrm>
            <a:off x="800100" y="42291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其他移動</a:t>
            </a:r>
            <a:endParaRPr lang="zh-TW" sz="1900"/>
          </a:p>
        </p:txBody>
      </p:sp>
      <p:sp>
        <p:nvSpPr>
          <p:cNvPr id="17" name="text_17"/>
          <p:cNvSpPr txBox="1"/>
          <p:nvPr/>
        </p:nvSpPr>
        <p:spPr>
          <a:xfrm>
            <a:off x="3568700" y="42291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0</a:t>
            </a:r>
            <a:endParaRPr lang="zh-TW" sz="1900"/>
          </a:p>
        </p:txBody>
      </p:sp>
      <p:sp>
        <p:nvSpPr>
          <p:cNvPr id="18" name="text_18"/>
          <p:cNvSpPr txBox="1"/>
          <p:nvPr/>
        </p:nvSpPr>
        <p:spPr>
          <a:xfrm>
            <a:off x="7124700" y="42291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透過後續獎勵傳遞路徑價值</a:t>
            </a:r>
            <a:endParaRPr lang="zh-TW" sz="1900"/>
          </a:p>
        </p:txBody>
      </p:sp>
      <p:cxnSp>
        <p:nvCxnSpPr>
          <p:cNvPr id="19" name="line_19"/>
          <p:cNvCxnSpPr/>
          <p:nvPr/>
        </p:nvCxnSpPr>
        <p:spPr>
          <a:xfrm>
            <a:off x="685800" y="40640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0" name="line_20"/>
          <p:cNvCxnSpPr/>
          <p:nvPr/>
        </p:nvCxnSpPr>
        <p:spPr>
          <a:xfrm>
            <a:off x="685800" y="48768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1" name="line_21"/>
          <p:cNvCxnSpPr/>
          <p:nvPr/>
        </p:nvCxnSpPr>
        <p:spPr>
          <a:xfrm>
            <a:off x="6858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2" name="line_22"/>
          <p:cNvCxnSpPr/>
          <p:nvPr/>
        </p:nvCxnSpPr>
        <p:spPr>
          <a:xfrm>
            <a:off x="3454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3" name="line_23"/>
          <p:cNvCxnSpPr/>
          <p:nvPr/>
        </p:nvCxnSpPr>
        <p:spPr>
          <a:xfrm>
            <a:off x="7010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4" name="line_24"/>
          <p:cNvCxnSpPr/>
          <p:nvPr/>
        </p:nvCxnSpPr>
        <p:spPr>
          <a:xfrm>
            <a:off x="115062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36"/>
              </a:lnSpc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從表格走向 </a:t>
            </a:r>
            <a:r>
              <a:rPr lang="en-US" altLang="zh-TW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Deep Q-Network </a:t>
            </a:r>
            <a:endParaRPr lang="zh-TW" sz="3200" dirty="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E8065B97-6471-4F99-9CC6-90AAC14E1680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11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2307344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狀態輸入</a:t>
            </a:r>
            <a:endParaRPr lang="zh-TW" sz="2300"/>
          </a:p>
        </p:txBody>
      </p:sp>
      <p:sp>
        <p:nvSpPr>
          <p:cNvPr id="5" name="text_5"/>
          <p:cNvSpPr txBox="1"/>
          <p:nvPr/>
        </p:nvSpPr>
        <p:spPr>
          <a:xfrm>
            <a:off x="685800" y="3272544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影像或感測資訊</a:t>
            </a:r>
            <a:endParaRPr lang="zh-TW" sz="2000"/>
          </a:p>
        </p:txBody>
      </p:sp>
      <p:cxnSp>
        <p:nvCxnSpPr>
          <p:cNvPr id="6" name="line_6"/>
          <p:cNvCxnSpPr/>
          <p:nvPr/>
        </p:nvCxnSpPr>
        <p:spPr>
          <a:xfrm>
            <a:off x="3098800" y="3082044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7" name="text_7"/>
          <p:cNvSpPr txBox="1"/>
          <p:nvPr/>
        </p:nvSpPr>
        <p:spPr>
          <a:xfrm>
            <a:off x="3517900" y="2307344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深度網路</a:t>
            </a:r>
            <a:endParaRPr lang="zh-TW" sz="2300"/>
          </a:p>
        </p:txBody>
      </p:sp>
      <p:sp>
        <p:nvSpPr>
          <p:cNvPr id="8" name="text_8"/>
          <p:cNvSpPr txBox="1"/>
          <p:nvPr/>
        </p:nvSpPr>
        <p:spPr>
          <a:xfrm>
            <a:off x="3517900" y="3272544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近似動作價值函數</a:t>
            </a:r>
            <a:endParaRPr lang="zh-TW" sz="2000"/>
          </a:p>
        </p:txBody>
      </p:sp>
      <p:cxnSp>
        <p:nvCxnSpPr>
          <p:cNvPr id="9" name="line_9"/>
          <p:cNvCxnSpPr/>
          <p:nvPr/>
        </p:nvCxnSpPr>
        <p:spPr>
          <a:xfrm>
            <a:off x="5930900" y="3082044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0" name="text_10"/>
          <p:cNvSpPr txBox="1"/>
          <p:nvPr/>
        </p:nvSpPr>
        <p:spPr>
          <a:xfrm>
            <a:off x="6350000" y="2307344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Q 值輸出</a:t>
            </a:r>
            <a:endParaRPr lang="zh-TW" sz="2300"/>
          </a:p>
        </p:txBody>
      </p:sp>
      <p:sp>
        <p:nvSpPr>
          <p:cNvPr id="11" name="text_11"/>
          <p:cNvSpPr txBox="1"/>
          <p:nvPr/>
        </p:nvSpPr>
        <p:spPr>
          <a:xfrm>
            <a:off x="6350000" y="3272544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比較不同候選動作</a:t>
            </a:r>
            <a:endParaRPr lang="zh-TW" sz="2000"/>
          </a:p>
        </p:txBody>
      </p:sp>
      <p:cxnSp>
        <p:nvCxnSpPr>
          <p:cNvPr id="12" name="line_12"/>
          <p:cNvCxnSpPr/>
          <p:nvPr/>
        </p:nvCxnSpPr>
        <p:spPr>
          <a:xfrm>
            <a:off x="8763000" y="3082044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3" name="text_13"/>
          <p:cNvSpPr txBox="1"/>
          <p:nvPr/>
        </p:nvSpPr>
        <p:spPr>
          <a:xfrm>
            <a:off x="9182100" y="2307344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動作選擇</a:t>
            </a:r>
            <a:endParaRPr lang="zh-TW" sz="2300"/>
          </a:p>
        </p:txBody>
      </p:sp>
      <p:sp>
        <p:nvSpPr>
          <p:cNvPr id="14" name="text_14"/>
          <p:cNvSpPr txBox="1"/>
          <p:nvPr/>
        </p:nvSpPr>
        <p:spPr>
          <a:xfrm>
            <a:off x="9182100" y="3272544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執行並取得回饋</a:t>
            </a:r>
            <a:endParaRPr lang="zh-TW" sz="200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312663F8-E993-C79D-033F-D779C0522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388" y="3945644"/>
            <a:ext cx="7351224" cy="21067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en-US" altLang="zh-TW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Deep Q-Network </a:t>
            </a: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如何穩定學習？</a:t>
            </a:r>
            <a:endParaRPr lang="zh-TW" sz="3200" dirty="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F8C132D8-58D8-4A2E-8DCF-321F279C68BA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12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819088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函數近似</a:t>
            </a:r>
            <a:endParaRPr lang="zh-TW" sz="2100"/>
          </a:p>
        </p:txBody>
      </p:sp>
      <p:sp>
        <p:nvSpPr>
          <p:cNvPr id="5" name="text_5"/>
          <p:cNvSpPr txBox="1"/>
          <p:nvPr/>
        </p:nvSpPr>
        <p:spPr>
          <a:xfrm>
            <a:off x="3098800" y="1819088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以神經網路估計各動作的 Q 值，處理難以逐格列舉的高維狀態。</a:t>
            </a:r>
            <a:endParaRPr lang="zh-TW" sz="2000"/>
          </a:p>
        </p:txBody>
      </p:sp>
      <p:sp>
        <p:nvSpPr>
          <p:cNvPr id="6" name="text_6"/>
          <p:cNvSpPr txBox="1"/>
          <p:nvPr/>
        </p:nvSpPr>
        <p:spPr>
          <a:xfrm>
            <a:off x="685800" y="3127188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經驗回放</a:t>
            </a:r>
            <a:endParaRPr lang="zh-TW" sz="2100"/>
          </a:p>
        </p:txBody>
      </p:sp>
      <p:sp>
        <p:nvSpPr>
          <p:cNvPr id="7" name="text_7"/>
          <p:cNvSpPr txBox="1"/>
          <p:nvPr/>
        </p:nvSpPr>
        <p:spPr>
          <a:xfrm>
            <a:off x="3098800" y="3127188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儲存互動經驗並抽樣訓練，降低相鄰樣本的相關性，也提高資料重用率。</a:t>
            </a:r>
            <a:endParaRPr lang="zh-TW" sz="2000"/>
          </a:p>
        </p:txBody>
      </p:sp>
      <p:sp>
        <p:nvSpPr>
          <p:cNvPr id="8" name="text_8"/>
          <p:cNvSpPr txBox="1"/>
          <p:nvPr/>
        </p:nvSpPr>
        <p:spPr>
          <a:xfrm>
            <a:off x="685800" y="4435288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目標網路</a:t>
            </a:r>
            <a:endParaRPr lang="zh-TW" sz="2100"/>
          </a:p>
        </p:txBody>
      </p:sp>
      <p:sp>
        <p:nvSpPr>
          <p:cNvPr id="9" name="text_9"/>
          <p:cNvSpPr txBox="1"/>
          <p:nvPr/>
        </p:nvSpPr>
        <p:spPr>
          <a:xfrm>
            <a:off x="3098800" y="4435288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用較慢更新的網路計算訓練目標，減少目標隨同一個網路快速變動造成的不</a:t>
            </a:r>
            <a:endParaRPr lang="zh-TW" sz="2000"/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穩定。</a:t>
            </a:r>
            <a:endParaRPr lang="zh-TW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三種群體互動：目標與回饋不同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1FF958F7-E191-4FB9-AB43-A9F0BF56A81D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13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800100" y="17907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互動關係</a:t>
            </a:r>
            <a:endParaRPr lang="zh-TW" sz="1900"/>
          </a:p>
        </p:txBody>
      </p:sp>
      <p:sp>
        <p:nvSpPr>
          <p:cNvPr id="5" name="text_5"/>
          <p:cNvSpPr txBox="1"/>
          <p:nvPr/>
        </p:nvSpPr>
        <p:spPr>
          <a:xfrm>
            <a:off x="3568700" y="17907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學習目標</a:t>
            </a:r>
            <a:endParaRPr lang="zh-TW" sz="1900"/>
          </a:p>
        </p:txBody>
      </p:sp>
      <p:sp>
        <p:nvSpPr>
          <p:cNvPr id="6" name="text_6"/>
          <p:cNvSpPr txBox="1"/>
          <p:nvPr/>
        </p:nvSpPr>
        <p:spPr>
          <a:xfrm>
            <a:off x="7124700" y="17907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演講例子</a:t>
            </a:r>
            <a:endParaRPr lang="zh-TW" sz="1900"/>
          </a:p>
        </p:txBody>
      </p:sp>
      <p:cxnSp>
        <p:nvCxnSpPr>
          <p:cNvPr id="7" name="line_7"/>
          <p:cNvCxnSpPr/>
          <p:nvPr/>
        </p:nvCxnSpPr>
        <p:spPr>
          <a:xfrm>
            <a:off x="685800" y="16256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8" name="text_8"/>
          <p:cNvSpPr txBox="1"/>
          <p:nvPr/>
        </p:nvSpPr>
        <p:spPr>
          <a:xfrm>
            <a:off x="800100" y="26035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完全合作</a:t>
            </a:r>
            <a:endParaRPr lang="zh-TW" sz="1900"/>
          </a:p>
        </p:txBody>
      </p:sp>
      <p:sp>
        <p:nvSpPr>
          <p:cNvPr id="9" name="text_9"/>
          <p:cNvSpPr txBox="1"/>
          <p:nvPr/>
        </p:nvSpPr>
        <p:spPr>
          <a:xfrm>
            <a:off x="3568700" y="26035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共同完成群體任務</a:t>
            </a:r>
            <a:endParaRPr lang="zh-TW" sz="1900"/>
          </a:p>
        </p:txBody>
      </p:sp>
      <p:sp>
        <p:nvSpPr>
          <p:cNvPr id="10" name="text_10"/>
          <p:cNvSpPr txBox="1"/>
          <p:nvPr/>
        </p:nvSpPr>
        <p:spPr>
          <a:xfrm>
            <a:off x="7124700" y="26035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Overcooked 合作遊戲</a:t>
            </a:r>
            <a:endParaRPr lang="zh-TW" sz="1900"/>
          </a:p>
        </p:txBody>
      </p:sp>
      <p:cxnSp>
        <p:nvCxnSpPr>
          <p:cNvPr id="11" name="line_11"/>
          <p:cNvCxnSpPr/>
          <p:nvPr/>
        </p:nvCxnSpPr>
        <p:spPr>
          <a:xfrm>
            <a:off x="685800" y="24384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2" name="text_12"/>
          <p:cNvSpPr txBox="1"/>
          <p:nvPr/>
        </p:nvSpPr>
        <p:spPr>
          <a:xfrm>
            <a:off x="800100" y="34163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完全競爭</a:t>
            </a:r>
            <a:endParaRPr lang="zh-TW" sz="1900"/>
          </a:p>
        </p:txBody>
      </p:sp>
      <p:sp>
        <p:nvSpPr>
          <p:cNvPr id="13" name="text_13"/>
          <p:cNvSpPr txBox="1"/>
          <p:nvPr/>
        </p:nvSpPr>
        <p:spPr>
          <a:xfrm>
            <a:off x="3568700" y="34163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不同個體的目標衝突</a:t>
            </a:r>
            <a:endParaRPr lang="zh-TW" sz="1900"/>
          </a:p>
        </p:txBody>
      </p:sp>
      <p:sp>
        <p:nvSpPr>
          <p:cNvPr id="14" name="text_14"/>
          <p:cNvSpPr txBox="1"/>
          <p:nvPr/>
        </p:nvSpPr>
        <p:spPr>
          <a:xfrm>
            <a:off x="7124700" y="34163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Bomberman 類對抗環境</a:t>
            </a:r>
            <a:endParaRPr lang="zh-TW" sz="1900"/>
          </a:p>
        </p:txBody>
      </p:sp>
      <p:cxnSp>
        <p:nvCxnSpPr>
          <p:cNvPr id="15" name="line_15"/>
          <p:cNvCxnSpPr/>
          <p:nvPr/>
        </p:nvCxnSpPr>
        <p:spPr>
          <a:xfrm>
            <a:off x="685800" y="32512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6" name="text_16"/>
          <p:cNvSpPr txBox="1"/>
          <p:nvPr/>
        </p:nvSpPr>
        <p:spPr>
          <a:xfrm>
            <a:off x="800100" y="42291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合作與競爭並存</a:t>
            </a:r>
            <a:endParaRPr lang="zh-TW" sz="1900"/>
          </a:p>
        </p:txBody>
      </p:sp>
      <p:sp>
        <p:nvSpPr>
          <p:cNvPr id="17" name="text_17"/>
          <p:cNvSpPr txBox="1"/>
          <p:nvPr/>
        </p:nvSpPr>
        <p:spPr>
          <a:xfrm>
            <a:off x="3568700" y="42291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隊內合作，同時與對手競爭</a:t>
            </a:r>
            <a:endParaRPr lang="zh-TW" sz="1900"/>
          </a:p>
        </p:txBody>
      </p:sp>
      <p:sp>
        <p:nvSpPr>
          <p:cNvPr id="18" name="text_18"/>
          <p:cNvSpPr txBox="1"/>
          <p:nvPr/>
        </p:nvSpPr>
        <p:spPr>
          <a:xfrm>
            <a:off x="7124700" y="42291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Google Research Football</a:t>
            </a:r>
            <a:endParaRPr lang="zh-TW" sz="1900"/>
          </a:p>
        </p:txBody>
      </p:sp>
      <p:cxnSp>
        <p:nvCxnSpPr>
          <p:cNvPr id="19" name="line_19"/>
          <p:cNvCxnSpPr/>
          <p:nvPr/>
        </p:nvCxnSpPr>
        <p:spPr>
          <a:xfrm>
            <a:off x="685800" y="40640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0" name="line_20"/>
          <p:cNvCxnSpPr/>
          <p:nvPr/>
        </p:nvCxnSpPr>
        <p:spPr>
          <a:xfrm>
            <a:off x="685800" y="48768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1" name="line_21"/>
          <p:cNvCxnSpPr/>
          <p:nvPr/>
        </p:nvCxnSpPr>
        <p:spPr>
          <a:xfrm>
            <a:off x="6858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2" name="line_22"/>
          <p:cNvCxnSpPr/>
          <p:nvPr/>
        </p:nvCxnSpPr>
        <p:spPr>
          <a:xfrm>
            <a:off x="3454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3" name="line_23"/>
          <p:cNvCxnSpPr/>
          <p:nvPr/>
        </p:nvCxnSpPr>
        <p:spPr>
          <a:xfrm>
            <a:off x="7010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4" name="line_24"/>
          <p:cNvCxnSpPr/>
          <p:nvPr/>
        </p:nvCxnSpPr>
        <p:spPr>
          <a:xfrm>
            <a:off x="115062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通訊架構：資訊完整度與成本的取捨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AE08A347-AC54-4DEA-9760-C9FA8D1C1B17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14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800100" y="17907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架構</a:t>
            </a:r>
            <a:endParaRPr lang="zh-TW" sz="1900"/>
          </a:p>
        </p:txBody>
      </p:sp>
      <p:sp>
        <p:nvSpPr>
          <p:cNvPr id="5" name="text_5"/>
          <p:cNvSpPr txBox="1"/>
          <p:nvPr/>
        </p:nvSpPr>
        <p:spPr>
          <a:xfrm>
            <a:off x="3568700" y="17907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資訊流動</a:t>
            </a:r>
            <a:endParaRPr lang="zh-TW" sz="1900"/>
          </a:p>
        </p:txBody>
      </p:sp>
      <p:sp>
        <p:nvSpPr>
          <p:cNvPr id="6" name="text_6"/>
          <p:cNvSpPr txBox="1"/>
          <p:nvPr/>
        </p:nvSpPr>
        <p:spPr>
          <a:xfrm>
            <a:off x="7124700" y="17907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優點與限制</a:t>
            </a:r>
            <a:endParaRPr lang="zh-TW" sz="1900"/>
          </a:p>
        </p:txBody>
      </p:sp>
      <p:cxnSp>
        <p:nvCxnSpPr>
          <p:cNvPr id="7" name="line_7"/>
          <p:cNvCxnSpPr/>
          <p:nvPr/>
        </p:nvCxnSpPr>
        <p:spPr>
          <a:xfrm>
            <a:off x="685800" y="16256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8" name="text_8"/>
          <p:cNvSpPr txBox="1"/>
          <p:nvPr/>
        </p:nvSpPr>
        <p:spPr>
          <a:xfrm>
            <a:off x="800100" y="26035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完全通訊</a:t>
            </a:r>
            <a:endParaRPr lang="zh-TW" sz="1900"/>
          </a:p>
        </p:txBody>
      </p:sp>
      <p:sp>
        <p:nvSpPr>
          <p:cNvPr id="9" name="text_9"/>
          <p:cNvSpPr txBox="1"/>
          <p:nvPr/>
        </p:nvSpPr>
        <p:spPr>
          <a:xfrm>
            <a:off x="3568700" y="26035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交換廣泛的狀態與動作資訊</a:t>
            </a:r>
            <a:endParaRPr lang="zh-TW" sz="1900"/>
          </a:p>
        </p:txBody>
      </p:sp>
      <p:sp>
        <p:nvSpPr>
          <p:cNvPr id="10" name="text_10"/>
          <p:cNvSpPr txBox="1"/>
          <p:nvPr/>
        </p:nvSpPr>
        <p:spPr>
          <a:xfrm>
            <a:off x="7124700" y="26035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資訊完整，但聯合空間與傳輸成本較高</a:t>
            </a:r>
            <a:endParaRPr lang="zh-TW" sz="1900" dirty="0"/>
          </a:p>
        </p:txBody>
      </p:sp>
      <p:cxnSp>
        <p:nvCxnSpPr>
          <p:cNvPr id="11" name="line_11"/>
          <p:cNvCxnSpPr/>
          <p:nvPr/>
        </p:nvCxnSpPr>
        <p:spPr>
          <a:xfrm>
            <a:off x="685800" y="24384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2" name="text_12"/>
          <p:cNvSpPr txBox="1"/>
          <p:nvPr/>
        </p:nvSpPr>
        <p:spPr>
          <a:xfrm>
            <a:off x="800100" y="34163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部分通訊</a:t>
            </a:r>
            <a:endParaRPr lang="zh-TW" sz="1900"/>
          </a:p>
        </p:txBody>
      </p:sp>
      <p:sp>
        <p:nvSpPr>
          <p:cNvPr id="13" name="text_13"/>
          <p:cNvSpPr txBox="1"/>
          <p:nvPr/>
        </p:nvSpPr>
        <p:spPr>
          <a:xfrm>
            <a:off x="3568700" y="34163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分享指定的局部資訊</a:t>
            </a:r>
            <a:endParaRPr lang="zh-TW" sz="1900"/>
          </a:p>
        </p:txBody>
      </p:sp>
      <p:sp>
        <p:nvSpPr>
          <p:cNvPr id="14" name="text_14"/>
          <p:cNvSpPr txBox="1"/>
          <p:nvPr/>
        </p:nvSpPr>
        <p:spPr>
          <a:xfrm>
            <a:off x="7124700" y="34163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成本折衷，但須設計共享內容及頻率</a:t>
            </a:r>
            <a:endParaRPr lang="zh-TW" sz="1900" dirty="0"/>
          </a:p>
        </p:txBody>
      </p:sp>
      <p:cxnSp>
        <p:nvCxnSpPr>
          <p:cNvPr id="15" name="line_15"/>
          <p:cNvCxnSpPr/>
          <p:nvPr/>
        </p:nvCxnSpPr>
        <p:spPr>
          <a:xfrm>
            <a:off x="685800" y="32512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6" name="text_16"/>
          <p:cNvSpPr txBox="1"/>
          <p:nvPr/>
        </p:nvSpPr>
        <p:spPr>
          <a:xfrm>
            <a:off x="800100" y="42291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無通訊</a:t>
            </a:r>
            <a:endParaRPr lang="zh-TW" sz="1900"/>
          </a:p>
        </p:txBody>
      </p:sp>
      <p:sp>
        <p:nvSpPr>
          <p:cNvPr id="17" name="text_17"/>
          <p:cNvSpPr txBox="1"/>
          <p:nvPr/>
        </p:nvSpPr>
        <p:spPr>
          <a:xfrm>
            <a:off x="3568700" y="42291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依自身觀測與回饋學習</a:t>
            </a:r>
            <a:endParaRPr lang="zh-TW" sz="1900"/>
          </a:p>
        </p:txBody>
      </p:sp>
      <p:sp>
        <p:nvSpPr>
          <p:cNvPr id="18" name="text_18"/>
          <p:cNvSpPr txBox="1"/>
          <p:nvPr/>
        </p:nvSpPr>
        <p:spPr>
          <a:xfrm>
            <a:off x="7124700" y="42291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 dirty="0">
                <a:solidFill>
                  <a:srgbClr val="172536"/>
                </a:solidFill>
                <a:latin typeface="Microsoft JhengHei"/>
                <a:ea typeface="Microsoft JhengHei"/>
              </a:rPr>
              <a:t>通訊負擔低</a:t>
            </a:r>
            <a:r>
              <a:rPr lang="zh-TW" altLang="en-US" sz="1900" dirty="0">
                <a:solidFill>
                  <a:srgbClr val="172536"/>
                </a:solidFill>
                <a:latin typeface="Microsoft JhengHei"/>
                <a:ea typeface="Microsoft JhengHei"/>
              </a:rPr>
              <a:t>，但</a:t>
            </a:r>
            <a:r>
              <a:rPr lang="zh-TW" altLang="en-US" sz="1900" b="0" dirty="0">
                <a:solidFill>
                  <a:srgbClr val="172536"/>
                </a:solidFill>
                <a:latin typeface="Microsoft JhengHei"/>
                <a:ea typeface="Microsoft JhengHei"/>
              </a:rPr>
              <a:t>須推測夥伴行為</a:t>
            </a:r>
            <a:endParaRPr lang="zh-TW" sz="1900" dirty="0"/>
          </a:p>
        </p:txBody>
      </p:sp>
      <p:cxnSp>
        <p:nvCxnSpPr>
          <p:cNvPr id="19" name="line_19"/>
          <p:cNvCxnSpPr/>
          <p:nvPr/>
        </p:nvCxnSpPr>
        <p:spPr>
          <a:xfrm>
            <a:off x="685800" y="40640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0" name="line_20"/>
          <p:cNvCxnSpPr/>
          <p:nvPr/>
        </p:nvCxnSpPr>
        <p:spPr>
          <a:xfrm>
            <a:off x="685800" y="48768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1" name="line_21"/>
          <p:cNvCxnSpPr/>
          <p:nvPr/>
        </p:nvCxnSpPr>
        <p:spPr>
          <a:xfrm>
            <a:off x="6858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2" name="line_22"/>
          <p:cNvCxnSpPr/>
          <p:nvPr/>
        </p:nvCxnSpPr>
        <p:spPr>
          <a:xfrm>
            <a:off x="3454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3" name="line_23"/>
          <p:cNvCxnSpPr/>
          <p:nvPr/>
        </p:nvCxnSpPr>
        <p:spPr>
          <a:xfrm>
            <a:off x="7010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4" name="line_24"/>
          <p:cNvCxnSpPr/>
          <p:nvPr/>
        </p:nvCxnSpPr>
        <p:spPr>
          <a:xfrm>
            <a:off x="115062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多代理人環境並非靜止不變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A78B40E3-19D8-4A3C-96AD-2EE44B84ACCD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15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3229424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代理人 A</a:t>
            </a:r>
            <a:endParaRPr lang="zh-TW" sz="2300"/>
          </a:p>
        </p:txBody>
      </p:sp>
      <p:sp>
        <p:nvSpPr>
          <p:cNvPr id="5" name="text_5"/>
          <p:cNvSpPr txBox="1"/>
          <p:nvPr/>
        </p:nvSpPr>
        <p:spPr>
          <a:xfrm>
            <a:off x="685800" y="4194624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調整自己的策略</a:t>
            </a:r>
            <a:endParaRPr lang="zh-TW" sz="2000"/>
          </a:p>
        </p:txBody>
      </p:sp>
      <p:cxnSp>
        <p:nvCxnSpPr>
          <p:cNvPr id="6" name="line_6"/>
          <p:cNvCxnSpPr/>
          <p:nvPr/>
        </p:nvCxnSpPr>
        <p:spPr>
          <a:xfrm>
            <a:off x="3098800" y="4004124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7" name="text_7"/>
          <p:cNvSpPr txBox="1"/>
          <p:nvPr/>
        </p:nvSpPr>
        <p:spPr>
          <a:xfrm>
            <a:off x="3517900" y="3229424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互動分布</a:t>
            </a:r>
            <a:endParaRPr lang="zh-TW" sz="2300"/>
          </a:p>
        </p:txBody>
      </p:sp>
      <p:sp>
        <p:nvSpPr>
          <p:cNvPr id="8" name="text_8"/>
          <p:cNvSpPr txBox="1"/>
          <p:nvPr/>
        </p:nvSpPr>
        <p:spPr>
          <a:xfrm>
            <a:off x="3517900" y="4194624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影響 B 遇到的情況</a:t>
            </a:r>
            <a:endParaRPr lang="zh-TW" sz="2000"/>
          </a:p>
        </p:txBody>
      </p:sp>
      <p:cxnSp>
        <p:nvCxnSpPr>
          <p:cNvPr id="9" name="line_9"/>
          <p:cNvCxnSpPr/>
          <p:nvPr/>
        </p:nvCxnSpPr>
        <p:spPr>
          <a:xfrm>
            <a:off x="5930900" y="4004124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0" name="text_10"/>
          <p:cNvSpPr txBox="1"/>
          <p:nvPr/>
        </p:nvSpPr>
        <p:spPr>
          <a:xfrm>
            <a:off x="6350000" y="3229424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代理人 B</a:t>
            </a:r>
            <a:endParaRPr lang="zh-TW" sz="2300"/>
          </a:p>
        </p:txBody>
      </p:sp>
      <p:sp>
        <p:nvSpPr>
          <p:cNvPr id="11" name="text_11"/>
          <p:cNvSpPr txBox="1"/>
          <p:nvPr/>
        </p:nvSpPr>
        <p:spPr>
          <a:xfrm>
            <a:off x="6350000" y="4194624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隨學習改變策略</a:t>
            </a:r>
            <a:endParaRPr lang="zh-TW" sz="2000"/>
          </a:p>
        </p:txBody>
      </p:sp>
      <p:cxnSp>
        <p:nvCxnSpPr>
          <p:cNvPr id="12" name="line_12"/>
          <p:cNvCxnSpPr/>
          <p:nvPr/>
        </p:nvCxnSpPr>
        <p:spPr>
          <a:xfrm>
            <a:off x="8763000" y="4004124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3" name="text_13"/>
          <p:cNvSpPr txBox="1"/>
          <p:nvPr/>
        </p:nvSpPr>
        <p:spPr>
          <a:xfrm>
            <a:off x="9182100" y="3229424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再回到 A</a:t>
            </a:r>
            <a:endParaRPr lang="zh-TW" sz="2300"/>
          </a:p>
        </p:txBody>
      </p:sp>
      <p:sp>
        <p:nvSpPr>
          <p:cNvPr id="14" name="text_14"/>
          <p:cNvSpPr txBox="1"/>
          <p:nvPr/>
        </p:nvSpPr>
        <p:spPr>
          <a:xfrm>
            <a:off x="9182100" y="4194624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A 的學習環境改變</a:t>
            </a:r>
            <a:endParaRPr lang="zh-TW" sz="2000"/>
          </a:p>
        </p:txBody>
      </p:sp>
      <p:sp>
        <p:nvSpPr>
          <p:cNvPr id="17" name="text_4">
            <a:extLst>
              <a:ext uri="{FF2B5EF4-FFF2-40B4-BE49-F238E27FC236}">
                <a16:creationId xmlns:a16="http://schemas.microsoft.com/office/drawing/2014/main" id="{104A9964-D154-B45D-2780-379F05943125}"/>
              </a:ext>
            </a:extLst>
          </p:cNvPr>
          <p:cNvSpPr txBox="1"/>
          <p:nvPr/>
        </p:nvSpPr>
        <p:spPr>
          <a:xfrm>
            <a:off x="685800" y="2032000"/>
            <a:ext cx="10820400" cy="546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75"/>
              </a:lnSpc>
              <a:spcAft>
                <a:spcPts val="0"/>
              </a:spcAft>
            </a:pPr>
            <a:r>
              <a:rPr lang="zh-TW" altLang="en-US" sz="2500" b="1" dirty="0">
                <a:solidFill>
                  <a:srgbClr val="235DB5"/>
                </a:solidFill>
                <a:latin typeface="Microsoft JhengHei"/>
                <a:ea typeface="Microsoft JhengHei"/>
              </a:rPr>
              <a:t>當其他代理人也在更新策略，各自面對的環境也會持續改變，具有非平穩性。</a:t>
            </a:r>
            <a:endParaRPr lang="zh-TW" sz="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合作停滯：兩種不同的失敗來源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34F1CE3B-2DCF-4BE6-B1A5-1DA23F08AB3A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16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911296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環境型停滯</a:t>
            </a:r>
            <a:endParaRPr lang="zh-TW" sz="2100"/>
          </a:p>
        </p:txBody>
      </p:sp>
      <p:sp>
        <p:nvSpPr>
          <p:cNvPr id="5" name="text_5"/>
          <p:cNvSpPr txBox="1"/>
          <p:nvPr/>
        </p:nvSpPr>
        <p:spPr>
          <a:xfrm>
            <a:off x="3098800" y="1911296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物件搬運方向被牆壁或障礙阻擋，個體持續嘗試，整體任務仍無法前進。</a:t>
            </a:r>
            <a:endParaRPr lang="zh-TW" sz="20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3219396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非環境型停滯</a:t>
            </a:r>
            <a:endParaRPr lang="zh-TW" sz="2100"/>
          </a:p>
        </p:txBody>
      </p:sp>
      <p:sp>
        <p:nvSpPr>
          <p:cNvPr id="7" name="text_7"/>
          <p:cNvSpPr txBox="1"/>
          <p:nvPr/>
        </p:nvSpPr>
        <p:spPr>
          <a:xfrm>
            <a:off x="3098800" y="3219396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沒有障礙阻擋，但夥伴選擇不同方向而互相牽制，使物件或團隊停滯。</a:t>
            </a:r>
            <a:endParaRPr lang="zh-TW" sz="2000"/>
          </a:p>
        </p:txBody>
      </p:sp>
      <p:sp>
        <p:nvSpPr>
          <p:cNvPr id="8" name="text_8"/>
          <p:cNvSpPr txBox="1"/>
          <p:nvPr/>
        </p:nvSpPr>
        <p:spPr>
          <a:xfrm>
            <a:off x="685800" y="4527496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研究問題</a:t>
            </a:r>
            <a:endParaRPr lang="zh-TW" sz="2100"/>
          </a:p>
        </p:txBody>
      </p:sp>
      <p:sp>
        <p:nvSpPr>
          <p:cNvPr id="9" name="text_9"/>
          <p:cNvSpPr txBox="1"/>
          <p:nvPr/>
        </p:nvSpPr>
        <p:spPr>
          <a:xfrm>
            <a:off x="3098800" y="4527496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只依個體的行動價值選動作，可能忽略動作是否有利於整體合作。</a:t>
            </a:r>
            <a:endParaRPr lang="zh-TW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協同決策必須回答的三個問題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A8F41132-2101-4025-841B-DD45C94B6C88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17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879600"/>
            <a:ext cx="32385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我的下一步好嗎？</a:t>
            </a:r>
            <a:endParaRPr lang="zh-TW" sz="2300"/>
          </a:p>
        </p:txBody>
      </p:sp>
      <p:sp>
        <p:nvSpPr>
          <p:cNvPr id="5" name="text_5"/>
          <p:cNvSpPr txBox="1"/>
          <p:nvPr/>
        </p:nvSpPr>
        <p:spPr>
          <a:xfrm>
            <a:off x="685800" y="3302000"/>
            <a:ext cx="3238500" cy="157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用個體動作價值 Q，評估候</a:t>
            </a:r>
            <a:endParaRPr lang="zh-TW" sz="2100"/>
          </a:p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選行動。</a:t>
            </a:r>
            <a:endParaRPr lang="zh-TW" sz="2100"/>
          </a:p>
        </p:txBody>
      </p:sp>
      <p:sp>
        <p:nvSpPr>
          <p:cNvPr id="6" name="text_6"/>
          <p:cNvSpPr txBox="1"/>
          <p:nvPr/>
        </p:nvSpPr>
        <p:spPr>
          <a:xfrm>
            <a:off x="4368800" y="1879600"/>
            <a:ext cx="32385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這一步有助合作嗎？</a:t>
            </a:r>
            <a:endParaRPr lang="zh-TW" sz="2300"/>
          </a:p>
        </p:txBody>
      </p:sp>
      <p:sp>
        <p:nvSpPr>
          <p:cNvPr id="7" name="text_7"/>
          <p:cNvSpPr txBox="1"/>
          <p:nvPr/>
        </p:nvSpPr>
        <p:spPr>
          <a:xfrm>
            <a:off x="4368800" y="3302000"/>
            <a:ext cx="3238500" cy="157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用合作價值 C，估計行動對</a:t>
            </a:r>
            <a:endParaRPr lang="zh-TW" sz="2100"/>
          </a:p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協作的影響。</a:t>
            </a:r>
            <a:endParaRPr lang="zh-TW" sz="2100"/>
          </a:p>
        </p:txBody>
      </p:sp>
      <p:sp>
        <p:nvSpPr>
          <p:cNvPr id="8" name="text_8"/>
          <p:cNvSpPr txBox="1"/>
          <p:nvPr/>
        </p:nvSpPr>
        <p:spPr>
          <a:xfrm>
            <a:off x="8051800" y="1879600"/>
            <a:ext cx="32385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如何知道夥伴在做什麼？</a:t>
            </a:r>
            <a:endParaRPr lang="zh-TW" sz="2300"/>
          </a:p>
        </p:txBody>
      </p:sp>
      <p:sp>
        <p:nvSpPr>
          <p:cNvPr id="9" name="text_9"/>
          <p:cNvSpPr txBox="1"/>
          <p:nvPr/>
        </p:nvSpPr>
        <p:spPr>
          <a:xfrm>
            <a:off x="8051800" y="3302000"/>
            <a:ext cx="3238500" cy="157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在可觀測資訊與通訊成本之</a:t>
            </a:r>
            <a:endParaRPr lang="zh-TW" sz="2100"/>
          </a:p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172536"/>
                </a:solidFill>
                <a:latin typeface="Microsoft JhengHei"/>
                <a:ea typeface="Microsoft JhengHei"/>
              </a:rPr>
              <a:t>間取捨。</a:t>
            </a:r>
            <a:endParaRPr lang="zh-TW" sz="2100"/>
          </a:p>
        </p:txBody>
      </p:sp>
      <p:sp>
        <p:nvSpPr>
          <p:cNvPr id="10" name="text_10"/>
          <p:cNvSpPr txBox="1"/>
          <p:nvPr/>
        </p:nvSpPr>
        <p:spPr>
          <a:xfrm>
            <a:off x="685800" y="5461000"/>
            <a:ext cx="108204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536273"/>
                </a:solidFill>
                <a:latin typeface="Microsoft JhengHei"/>
                <a:ea typeface="Microsoft JhengHei"/>
              </a:rPr>
              <a:t>目標是估計合作需求，而不只追求自己的 Q 值。</a:t>
            </a:r>
            <a:endParaRPr lang="zh-TW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無通訊下的深度合作學習架構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4587F360-356D-4D80-888B-496CD3CE3B39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18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2184400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局部狀態</a:t>
            </a:r>
            <a:endParaRPr lang="zh-TW" sz="2300"/>
          </a:p>
        </p:txBody>
      </p:sp>
      <p:sp>
        <p:nvSpPr>
          <p:cNvPr id="5" name="text_5"/>
          <p:cNvSpPr txBox="1"/>
          <p:nvPr/>
        </p:nvSpPr>
        <p:spPr>
          <a:xfrm>
            <a:off x="685800" y="3149600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各代理人自行觀測</a:t>
            </a:r>
            <a:endParaRPr lang="zh-TW" sz="2000"/>
          </a:p>
        </p:txBody>
      </p:sp>
      <p:cxnSp>
        <p:nvCxnSpPr>
          <p:cNvPr id="6" name="line_6"/>
          <p:cNvCxnSpPr/>
          <p:nvPr/>
        </p:nvCxnSpPr>
        <p:spPr>
          <a:xfrm>
            <a:off x="3098800" y="2959100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7" name="text_7"/>
          <p:cNvSpPr txBox="1"/>
          <p:nvPr/>
        </p:nvSpPr>
        <p:spPr>
          <a:xfrm>
            <a:off x="3517900" y="2184400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DQN 與 DCM</a:t>
            </a:r>
            <a:endParaRPr lang="zh-TW" sz="2300"/>
          </a:p>
        </p:txBody>
      </p:sp>
      <p:sp>
        <p:nvSpPr>
          <p:cNvPr id="8" name="text_8"/>
          <p:cNvSpPr txBox="1"/>
          <p:nvPr/>
        </p:nvSpPr>
        <p:spPr>
          <a:xfrm>
            <a:off x="3517900" y="3149600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分別估計 Q 與 C</a:t>
            </a:r>
            <a:endParaRPr lang="zh-TW" sz="2000"/>
          </a:p>
        </p:txBody>
      </p:sp>
      <p:cxnSp>
        <p:nvCxnSpPr>
          <p:cNvPr id="9" name="line_9"/>
          <p:cNvCxnSpPr/>
          <p:nvPr/>
        </p:nvCxnSpPr>
        <p:spPr>
          <a:xfrm>
            <a:off x="5930900" y="2959100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0" name="text_10"/>
          <p:cNvSpPr txBox="1"/>
          <p:nvPr/>
        </p:nvSpPr>
        <p:spPr>
          <a:xfrm>
            <a:off x="6350000" y="2184400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ADF</a:t>
            </a:r>
            <a:endParaRPr lang="zh-TW" sz="2300"/>
          </a:p>
        </p:txBody>
      </p:sp>
      <p:sp>
        <p:nvSpPr>
          <p:cNvPr id="11" name="text_11"/>
          <p:cNvSpPr txBox="1"/>
          <p:nvPr/>
        </p:nvSpPr>
        <p:spPr>
          <a:xfrm>
            <a:off x="6350000" y="3149600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融合兩類評估</a:t>
            </a:r>
            <a:endParaRPr lang="zh-TW" sz="2000"/>
          </a:p>
        </p:txBody>
      </p:sp>
      <p:cxnSp>
        <p:nvCxnSpPr>
          <p:cNvPr id="12" name="line_12"/>
          <p:cNvCxnSpPr/>
          <p:nvPr/>
        </p:nvCxnSpPr>
        <p:spPr>
          <a:xfrm>
            <a:off x="8763000" y="2959100"/>
            <a:ext cx="3302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3" name="text_13"/>
          <p:cNvSpPr txBox="1"/>
          <p:nvPr/>
        </p:nvSpPr>
        <p:spPr>
          <a:xfrm>
            <a:off x="9182100" y="2184400"/>
            <a:ext cx="23241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最終行動</a:t>
            </a:r>
            <a:endParaRPr lang="zh-TW" sz="2300"/>
          </a:p>
        </p:txBody>
      </p:sp>
      <p:sp>
        <p:nvSpPr>
          <p:cNvPr id="14" name="text_14"/>
          <p:cNvSpPr txBox="1"/>
          <p:nvPr/>
        </p:nvSpPr>
        <p:spPr>
          <a:xfrm>
            <a:off x="9182100" y="3149600"/>
            <a:ext cx="23241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執行並接收回饋</a:t>
            </a:r>
            <a:endParaRPr lang="zh-TW" sz="2000"/>
          </a:p>
        </p:txBody>
      </p:sp>
      <p:sp>
        <p:nvSpPr>
          <p:cNvPr id="15" name="text_15"/>
          <p:cNvSpPr txBox="1"/>
          <p:nvPr/>
        </p:nvSpPr>
        <p:spPr>
          <a:xfrm>
            <a:off x="685800" y="5194300"/>
            <a:ext cx="10820400" cy="101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536273"/>
                </a:solidFill>
                <a:latin typeface="Microsoft JhengHei"/>
                <a:ea typeface="Microsoft JhengHei"/>
              </a:rPr>
              <a:t>DQN：</a:t>
            </a:r>
            <a:r>
              <a:rPr lang="zh-TW" altLang="en-US" sz="2000" dirty="0">
                <a:solidFill>
                  <a:srgbClr val="536273"/>
                </a:solidFill>
                <a:latin typeface="Microsoft JhengHei"/>
                <a:ea typeface="Microsoft JhengHei"/>
              </a:rPr>
              <a:t>深度</a:t>
            </a:r>
            <a:r>
              <a:rPr lang="en-US" altLang="zh-TW" sz="2000" dirty="0">
                <a:solidFill>
                  <a:srgbClr val="536273"/>
                </a:solidFill>
                <a:latin typeface="Microsoft JhengHei"/>
                <a:ea typeface="Microsoft JhengHei"/>
              </a:rPr>
              <a:t>Q</a:t>
            </a:r>
            <a:r>
              <a:rPr lang="zh-TW" altLang="en-US" sz="2000" dirty="0">
                <a:solidFill>
                  <a:srgbClr val="536273"/>
                </a:solidFill>
                <a:latin typeface="Microsoft JhengHei"/>
                <a:ea typeface="Microsoft JhengHei"/>
              </a:rPr>
              <a:t>網路</a:t>
            </a:r>
            <a:r>
              <a:rPr lang="zh-TW" altLang="en-US" sz="2000" b="0" dirty="0">
                <a:solidFill>
                  <a:srgbClr val="536273"/>
                </a:solidFill>
                <a:latin typeface="Microsoft JhengHei"/>
                <a:ea typeface="Microsoft JhengHei"/>
              </a:rPr>
              <a:t>；DCM：深度合作模型；ADF：價值融合。</a:t>
            </a:r>
            <a:endParaRPr lang="zh-TW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DQN 與 DCM</a:t>
            </a:r>
            <a:endParaRPr lang="zh-TW" sz="3200" dirty="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7CA753F3-D7D2-4CA3-BD6D-A9F03DF85727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19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800100" y="17907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模組</a:t>
            </a:r>
            <a:endParaRPr lang="zh-TW" sz="1900"/>
          </a:p>
        </p:txBody>
      </p:sp>
      <p:sp>
        <p:nvSpPr>
          <p:cNvPr id="5" name="text_5"/>
          <p:cNvSpPr txBox="1"/>
          <p:nvPr/>
        </p:nvSpPr>
        <p:spPr>
          <a:xfrm>
            <a:off x="3568700" y="17907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主要輸出</a:t>
            </a:r>
            <a:endParaRPr lang="zh-TW" sz="1900"/>
          </a:p>
        </p:txBody>
      </p:sp>
      <p:sp>
        <p:nvSpPr>
          <p:cNvPr id="6" name="text_6"/>
          <p:cNvSpPr txBox="1"/>
          <p:nvPr/>
        </p:nvSpPr>
        <p:spPr>
          <a:xfrm>
            <a:off x="7124700" y="17907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用途</a:t>
            </a:r>
            <a:endParaRPr lang="zh-TW" sz="1900"/>
          </a:p>
        </p:txBody>
      </p:sp>
      <p:cxnSp>
        <p:nvCxnSpPr>
          <p:cNvPr id="7" name="line_7"/>
          <p:cNvCxnSpPr/>
          <p:nvPr/>
        </p:nvCxnSpPr>
        <p:spPr>
          <a:xfrm>
            <a:off x="685800" y="16256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8" name="text_8"/>
          <p:cNvSpPr txBox="1"/>
          <p:nvPr/>
        </p:nvSpPr>
        <p:spPr>
          <a:xfrm>
            <a:off x="800100" y="26035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DQN</a:t>
            </a:r>
            <a:endParaRPr lang="zh-TW" sz="1900"/>
          </a:p>
        </p:txBody>
      </p:sp>
      <p:sp>
        <p:nvSpPr>
          <p:cNvPr id="9" name="text_9"/>
          <p:cNvSpPr txBox="1"/>
          <p:nvPr/>
        </p:nvSpPr>
        <p:spPr>
          <a:xfrm>
            <a:off x="3568700" y="26035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Q(s, a)：動作價值</a:t>
            </a:r>
            <a:endParaRPr lang="zh-TW" sz="1900"/>
          </a:p>
        </p:txBody>
      </p:sp>
      <p:sp>
        <p:nvSpPr>
          <p:cNvPr id="10" name="text_10"/>
          <p:cNvSpPr txBox="1"/>
          <p:nvPr/>
        </p:nvSpPr>
        <p:spPr>
          <a:xfrm>
            <a:off x="7124700" y="26035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評估候選動作對個體回報的價值</a:t>
            </a:r>
            <a:endParaRPr lang="zh-TW" sz="1900"/>
          </a:p>
        </p:txBody>
      </p:sp>
      <p:cxnSp>
        <p:nvCxnSpPr>
          <p:cNvPr id="11" name="line_11"/>
          <p:cNvCxnSpPr/>
          <p:nvPr/>
        </p:nvCxnSpPr>
        <p:spPr>
          <a:xfrm>
            <a:off x="685800" y="24384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2" name="text_12"/>
          <p:cNvSpPr txBox="1"/>
          <p:nvPr/>
        </p:nvSpPr>
        <p:spPr>
          <a:xfrm>
            <a:off x="800100" y="34163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DCM</a:t>
            </a:r>
            <a:endParaRPr lang="zh-TW" sz="1900"/>
          </a:p>
        </p:txBody>
      </p:sp>
      <p:sp>
        <p:nvSpPr>
          <p:cNvPr id="13" name="text_13"/>
          <p:cNvSpPr txBox="1"/>
          <p:nvPr/>
        </p:nvSpPr>
        <p:spPr>
          <a:xfrm>
            <a:off x="3568700" y="34163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C(s, a)：合作傾向值</a:t>
            </a:r>
            <a:endParaRPr lang="zh-TW" sz="1900"/>
          </a:p>
        </p:txBody>
      </p:sp>
      <p:sp>
        <p:nvSpPr>
          <p:cNvPr id="14" name="text_14"/>
          <p:cNvSpPr txBox="1"/>
          <p:nvPr/>
        </p:nvSpPr>
        <p:spPr>
          <a:xfrm>
            <a:off x="7124700" y="34163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估計狀態與候選動作的合作傾向</a:t>
            </a:r>
            <a:endParaRPr lang="zh-TW" sz="1900"/>
          </a:p>
        </p:txBody>
      </p:sp>
      <p:cxnSp>
        <p:nvCxnSpPr>
          <p:cNvPr id="15" name="line_15"/>
          <p:cNvCxnSpPr/>
          <p:nvPr/>
        </p:nvCxnSpPr>
        <p:spPr>
          <a:xfrm>
            <a:off x="685800" y="32512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6" name="text_16"/>
          <p:cNvSpPr txBox="1"/>
          <p:nvPr/>
        </p:nvSpPr>
        <p:spPr>
          <a:xfrm>
            <a:off x="800100" y="42291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ADF</a:t>
            </a:r>
            <a:endParaRPr lang="zh-TW" sz="1900"/>
          </a:p>
        </p:txBody>
      </p:sp>
      <p:sp>
        <p:nvSpPr>
          <p:cNvPr id="17" name="text_17"/>
          <p:cNvSpPr txBox="1"/>
          <p:nvPr/>
        </p:nvSpPr>
        <p:spPr>
          <a:xfrm>
            <a:off x="3568700" y="42291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融合後的決策評估</a:t>
            </a:r>
            <a:endParaRPr lang="zh-TW" sz="1900"/>
          </a:p>
        </p:txBody>
      </p:sp>
      <p:sp>
        <p:nvSpPr>
          <p:cNvPr id="18" name="text_18"/>
          <p:cNvSpPr txBox="1"/>
          <p:nvPr/>
        </p:nvSpPr>
        <p:spPr>
          <a:xfrm>
            <a:off x="7124700" y="42291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讓動作選擇同時考慮個體與合作</a:t>
            </a:r>
            <a:endParaRPr lang="zh-TW" sz="1900"/>
          </a:p>
        </p:txBody>
      </p:sp>
      <p:cxnSp>
        <p:nvCxnSpPr>
          <p:cNvPr id="19" name="line_19"/>
          <p:cNvCxnSpPr/>
          <p:nvPr/>
        </p:nvCxnSpPr>
        <p:spPr>
          <a:xfrm>
            <a:off x="685800" y="40640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0" name="line_20"/>
          <p:cNvCxnSpPr/>
          <p:nvPr/>
        </p:nvCxnSpPr>
        <p:spPr>
          <a:xfrm>
            <a:off x="685800" y="48768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1" name="line_21"/>
          <p:cNvCxnSpPr/>
          <p:nvPr/>
        </p:nvCxnSpPr>
        <p:spPr>
          <a:xfrm>
            <a:off x="6858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2" name="line_22"/>
          <p:cNvCxnSpPr/>
          <p:nvPr/>
        </p:nvCxnSpPr>
        <p:spPr>
          <a:xfrm>
            <a:off x="3454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3" name="line_23"/>
          <p:cNvCxnSpPr/>
          <p:nvPr/>
        </p:nvCxnSpPr>
        <p:spPr>
          <a:xfrm>
            <a:off x="7010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4" name="line_24"/>
          <p:cNvCxnSpPr/>
          <p:nvPr/>
        </p:nvCxnSpPr>
        <p:spPr>
          <a:xfrm>
            <a:off x="115062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DCM：根據合作停滯修正合作價值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AE2DE563-0641-4600-801C-BBF873188A7F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20</a:t>
            </a:fld>
            <a:endParaRPr lang="zh-TW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_4"/>
              <p:cNvSpPr txBox="1"/>
              <p:nvPr/>
            </p:nvSpPr>
            <p:spPr>
              <a:xfrm>
                <a:off x="685800" y="1574800"/>
                <a:ext cx="10820400" cy="104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>
                  <a:lnSpc>
                    <a:spcPts val="2583"/>
                  </a:lnSpc>
                  <a:spcAft>
                    <a:spcPts val="0"/>
                  </a:spcAft>
                </a:pPr>
                <a:r>
                  <a:rPr lang="zh-TW" altLang="en-US" sz="2100" b="1" dirty="0">
                    <a:solidFill>
                      <a:srgbClr val="235DB5"/>
                    </a:solidFill>
                    <a:latin typeface="Microsoft JhengHei"/>
                    <a:ea typeface="Microsoft JhengHei"/>
                  </a:rPr>
                  <a:t>合作失敗或停滯：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100" b="1" i="1" dirty="0" smtClean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TW" altLang="en-US" sz="2100" b="1" i="0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sz="2100" b="1" dirty="0">
                    <a:solidFill>
                      <a:srgbClr val="235DB5"/>
                    </a:solidFill>
                    <a:latin typeface="Microsoft JhengHei"/>
                    <a:ea typeface="Microsoft JhengHei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sz="2100" b="1" dirty="0">
                    <a:solidFill>
                      <a:srgbClr val="235DB5"/>
                    </a:solidFill>
                    <a:latin typeface="Microsoft JhengHei"/>
                    <a:ea typeface="Microsoft JhengHei"/>
                  </a:rPr>
                  <a:t> - ρc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TW" sz="2100" dirty="0"/>
              </a:p>
              <a:p>
                <a:pPr algn="ctr">
                  <a:lnSpc>
                    <a:spcPts val="2583"/>
                  </a:lnSpc>
                  <a:spcAft>
                    <a:spcPts val="0"/>
                  </a:spcAft>
                </a:pPr>
                <a:r>
                  <a:rPr lang="zh-TW" altLang="en-US" sz="2100" b="1" dirty="0">
                    <a:solidFill>
                      <a:srgbClr val="235DB5"/>
                    </a:solidFill>
                    <a:latin typeface="Microsoft JhengHei"/>
                    <a:ea typeface="Microsoft JhengHei"/>
                  </a:rPr>
                  <a:t>未發生失敗：</a:t>
                </a:r>
                <a:r>
                  <a:rPr lang="zh-TW" altLang="en-US" sz="2100" b="1" dirty="0">
                    <a:solidFill>
                      <a:srgbClr val="235DB5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TW" altLang="en-US" sz="2100" b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TW" altLang="en-US" sz="2100" b="1" i="1" dirty="0">
                        <a:solidFill>
                          <a:srgbClr val="235DB5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100" b="1" dirty="0">
                    <a:solidFill>
                      <a:srgbClr val="235DB5"/>
                    </a:solidFill>
                    <a:latin typeface="Microsoft JhengHei"/>
                    <a:ea typeface="Microsoft JhengHei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TW" altLang="en-US" sz="2100" b="1" i="1" dirty="0">
                        <a:solidFill>
                          <a:srgbClr val="235DB5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100" b="1" dirty="0">
                    <a:solidFill>
                      <a:srgbClr val="235DB5"/>
                    </a:solidFill>
                    <a:latin typeface="Microsoft JhengHei"/>
                    <a:ea typeface="Microsoft JhengHei"/>
                  </a:rPr>
                  <a:t>+ ρw × (1 -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zh-TW" altLang="en-US" sz="2100" b="1" i="1" dirty="0">
                            <a:solidFill>
                              <a:srgbClr val="235DB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sz="2100" b="1" dirty="0">
                    <a:solidFill>
                      <a:srgbClr val="235DB5"/>
                    </a:solidFill>
                    <a:latin typeface="Microsoft JhengHei"/>
                    <a:ea typeface="Microsoft JhengHei"/>
                  </a:rPr>
                  <a:t>)</a:t>
                </a:r>
                <a:endParaRPr lang="zh-TW" sz="2100" dirty="0"/>
              </a:p>
            </p:txBody>
          </p:sp>
        </mc:Choice>
        <mc:Fallback xmlns="">
          <p:sp>
            <p:nvSpPr>
              <p:cNvPr id="4" name="text_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574800"/>
                <a:ext cx="10820400" cy="1041400"/>
              </a:xfrm>
              <a:prstGeom prst="rect">
                <a:avLst/>
              </a:prstGeom>
              <a:blipFill>
                <a:blip r:embed="rId2"/>
                <a:stretch>
                  <a:fillRect t="-87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_5"/>
          <p:cNvSpPr txBox="1"/>
          <p:nvPr/>
        </p:nvSpPr>
        <p:spPr>
          <a:xfrm>
            <a:off x="685800" y="2984500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發生失敗</a:t>
            </a:r>
            <a:endParaRPr lang="zh-TW" sz="2100"/>
          </a:p>
        </p:txBody>
      </p:sp>
      <p:sp>
        <p:nvSpPr>
          <p:cNvPr id="6" name="text_6"/>
          <p:cNvSpPr txBox="1"/>
          <p:nvPr/>
        </p:nvSpPr>
        <p:spPr>
          <a:xfrm>
            <a:off x="3098800" y="2984500"/>
            <a:ext cx="840740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降低該狀態與行動的合作評分，避免反覆採取導致停滯的選擇。</a:t>
            </a:r>
            <a:endParaRPr lang="zh-TW" sz="2000"/>
          </a:p>
        </p:txBody>
      </p:sp>
      <p:sp>
        <p:nvSpPr>
          <p:cNvPr id="7" name="text_7"/>
          <p:cNvSpPr txBox="1"/>
          <p:nvPr/>
        </p:nvSpPr>
        <p:spPr>
          <a:xfrm>
            <a:off x="685800" y="4038600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沒有失敗</a:t>
            </a:r>
            <a:endParaRPr lang="zh-TW" sz="2100"/>
          </a:p>
        </p:txBody>
      </p:sp>
      <p:sp>
        <p:nvSpPr>
          <p:cNvPr id="8" name="text_8"/>
          <p:cNvSpPr txBox="1"/>
          <p:nvPr/>
        </p:nvSpPr>
        <p:spPr>
          <a:xfrm>
            <a:off x="3098800" y="4038600"/>
            <a:ext cx="840740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提高該狀態與行動的合作評分，保留可行的合作經驗。</a:t>
            </a:r>
            <a:endParaRPr lang="zh-TW" sz="2000"/>
          </a:p>
        </p:txBody>
      </p:sp>
      <p:sp>
        <p:nvSpPr>
          <p:cNvPr id="9" name="text_9"/>
          <p:cNvSpPr txBox="1"/>
          <p:nvPr/>
        </p:nvSpPr>
        <p:spPr>
          <a:xfrm>
            <a:off x="685800" y="5092700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參數意義</a:t>
            </a:r>
            <a:endParaRPr lang="zh-TW" sz="2100"/>
          </a:p>
        </p:txBody>
      </p:sp>
      <p:sp>
        <p:nvSpPr>
          <p:cNvPr id="10" name="text_10"/>
          <p:cNvSpPr txBox="1"/>
          <p:nvPr/>
        </p:nvSpPr>
        <p:spPr>
          <a:xfrm>
            <a:off x="3098800" y="5092700"/>
            <a:ext cx="840740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ρc、ρw 是更新幅度參數。</a:t>
            </a:r>
            <a:endParaRPr lang="zh-TW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追捕模擬：先明確定義任務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A2B143D2-4255-49D9-820D-531704453B09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21</a:t>
            </a:fld>
            <a:endParaRPr lang="zh-TW" sz="1400" dirty="0"/>
          </a:p>
        </p:txBody>
      </p:sp>
      <p:sp>
        <p:nvSpPr>
          <p:cNvPr id="4" name="text_4"/>
          <p:cNvSpPr txBox="1"/>
          <p:nvPr/>
        </p:nvSpPr>
        <p:spPr>
          <a:xfrm>
            <a:off x="685800" y="1911296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互動對象</a:t>
            </a:r>
            <a:endParaRPr lang="zh-TW" sz="2100"/>
          </a:p>
        </p:txBody>
      </p:sp>
      <p:sp>
        <p:nvSpPr>
          <p:cNvPr id="5" name="text_5"/>
          <p:cNvSpPr txBox="1"/>
          <p:nvPr/>
        </p:nvSpPr>
        <p:spPr>
          <a:xfrm>
            <a:off x="3098800" y="1911296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方格式環境包含兩個掠食者與一個獵物，觀察代理人如何形成合作包圍。</a:t>
            </a:r>
            <a:endParaRPr lang="zh-TW" sz="2000"/>
          </a:p>
        </p:txBody>
      </p:sp>
      <p:sp>
        <p:nvSpPr>
          <p:cNvPr id="6" name="text_6"/>
          <p:cNvSpPr txBox="1"/>
          <p:nvPr/>
        </p:nvSpPr>
        <p:spPr>
          <a:xfrm>
            <a:off x="685800" y="3219396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獵物移動</a:t>
            </a:r>
            <a:endParaRPr lang="zh-TW" sz="2100"/>
          </a:p>
        </p:txBody>
      </p:sp>
      <p:sp>
        <p:nvSpPr>
          <p:cNvPr id="7" name="text_7"/>
          <p:cNvSpPr txBox="1"/>
          <p:nvPr/>
        </p:nvSpPr>
        <p:spPr>
          <a:xfrm>
            <a:off x="3098800" y="3219396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固定模式沿矩形軌跡移動，隨機模式往四個方向各 15%，原地停留 40%。</a:t>
            </a:r>
            <a:endParaRPr lang="zh-TW" sz="2000" dirty="0"/>
          </a:p>
        </p:txBody>
      </p:sp>
      <p:sp>
        <p:nvSpPr>
          <p:cNvPr id="8" name="text_8"/>
          <p:cNvSpPr txBox="1"/>
          <p:nvPr/>
        </p:nvSpPr>
        <p:spPr>
          <a:xfrm>
            <a:off x="685800" y="4527496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成功條件</a:t>
            </a:r>
            <a:endParaRPr lang="zh-TW" sz="2100"/>
          </a:p>
        </p:txBody>
      </p:sp>
      <p:sp>
        <p:nvSpPr>
          <p:cNvPr id="9" name="text_9"/>
          <p:cNvSpPr txBox="1"/>
          <p:nvPr/>
        </p:nvSpPr>
        <p:spPr>
          <a:xfrm>
            <a:off x="3098800" y="4527496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演講以兩個獵人包圍獵物、距離條件不超過 1 作為獎勵設定的一部分。</a:t>
            </a:r>
            <a:endParaRPr lang="zh-TW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追捕任務的獎勵與懲罰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2D720358-C617-4FDE-92DC-00114730A793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22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800100" y="17907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事件</a:t>
            </a:r>
            <a:endParaRPr lang="zh-TW" sz="1900"/>
          </a:p>
        </p:txBody>
      </p:sp>
      <p:sp>
        <p:nvSpPr>
          <p:cNvPr id="5" name="text_5"/>
          <p:cNvSpPr txBox="1"/>
          <p:nvPr/>
        </p:nvSpPr>
        <p:spPr>
          <a:xfrm>
            <a:off x="3568700" y="17907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演講設定</a:t>
            </a:r>
            <a:endParaRPr lang="zh-TW" sz="1900"/>
          </a:p>
        </p:txBody>
      </p:sp>
      <p:sp>
        <p:nvSpPr>
          <p:cNvPr id="6" name="text_6"/>
          <p:cNvSpPr txBox="1"/>
          <p:nvPr/>
        </p:nvSpPr>
        <p:spPr>
          <a:xfrm>
            <a:off x="7124700" y="17907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對應的目標</a:t>
            </a:r>
            <a:endParaRPr lang="zh-TW" sz="1900"/>
          </a:p>
        </p:txBody>
      </p:sp>
      <p:cxnSp>
        <p:nvCxnSpPr>
          <p:cNvPr id="7" name="line_7"/>
          <p:cNvCxnSpPr/>
          <p:nvPr/>
        </p:nvCxnSpPr>
        <p:spPr>
          <a:xfrm>
            <a:off x="685800" y="16256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8" name="text_8"/>
          <p:cNvSpPr txBox="1"/>
          <p:nvPr/>
        </p:nvSpPr>
        <p:spPr>
          <a:xfrm>
            <a:off x="800100" y="26035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兩個獵人形成包圍</a:t>
            </a:r>
            <a:endParaRPr lang="zh-TW" sz="1900"/>
          </a:p>
        </p:txBody>
      </p:sp>
      <p:sp>
        <p:nvSpPr>
          <p:cNvPr id="9" name="text_9"/>
          <p:cNvSpPr txBox="1"/>
          <p:nvPr/>
        </p:nvSpPr>
        <p:spPr>
          <a:xfrm>
            <a:off x="3568700" y="26035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+50</a:t>
            </a:r>
            <a:endParaRPr lang="zh-TW" sz="1900"/>
          </a:p>
        </p:txBody>
      </p:sp>
      <p:sp>
        <p:nvSpPr>
          <p:cNvPr id="10" name="text_10"/>
          <p:cNvSpPr txBox="1"/>
          <p:nvPr/>
        </p:nvSpPr>
        <p:spPr>
          <a:xfrm>
            <a:off x="7124700" y="26035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鼓勵共同完成追捕</a:t>
            </a:r>
            <a:endParaRPr lang="zh-TW" sz="1900"/>
          </a:p>
        </p:txBody>
      </p:sp>
      <p:cxnSp>
        <p:nvCxnSpPr>
          <p:cNvPr id="11" name="line_11"/>
          <p:cNvCxnSpPr/>
          <p:nvPr/>
        </p:nvCxnSpPr>
        <p:spPr>
          <a:xfrm>
            <a:off x="685800" y="24384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2" name="text_12"/>
          <p:cNvSpPr txBox="1"/>
          <p:nvPr/>
        </p:nvSpPr>
        <p:spPr>
          <a:xfrm>
            <a:off x="800100" y="34163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碰撞或超出邊界</a:t>
            </a:r>
            <a:endParaRPr lang="zh-TW" sz="1900"/>
          </a:p>
        </p:txBody>
      </p:sp>
      <p:sp>
        <p:nvSpPr>
          <p:cNvPr id="13" name="text_13"/>
          <p:cNvSpPr txBox="1"/>
          <p:nvPr/>
        </p:nvSpPr>
        <p:spPr>
          <a:xfrm>
            <a:off x="3568700" y="34163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-10</a:t>
            </a:r>
            <a:endParaRPr lang="zh-TW" sz="1900"/>
          </a:p>
        </p:txBody>
      </p:sp>
      <p:sp>
        <p:nvSpPr>
          <p:cNvPr id="14" name="text_14"/>
          <p:cNvSpPr txBox="1"/>
          <p:nvPr/>
        </p:nvSpPr>
        <p:spPr>
          <a:xfrm>
            <a:off x="7124700" y="34163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避免碰撞與無效移動</a:t>
            </a:r>
            <a:endParaRPr lang="zh-TW" sz="1900"/>
          </a:p>
        </p:txBody>
      </p:sp>
      <p:cxnSp>
        <p:nvCxnSpPr>
          <p:cNvPr id="15" name="line_15"/>
          <p:cNvCxnSpPr/>
          <p:nvPr/>
        </p:nvCxnSpPr>
        <p:spPr>
          <a:xfrm>
            <a:off x="685800" y="32512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6" name="text_16"/>
          <p:cNvSpPr txBox="1"/>
          <p:nvPr/>
        </p:nvSpPr>
        <p:spPr>
          <a:xfrm>
            <a:off x="800100" y="42291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其他情況</a:t>
            </a:r>
            <a:endParaRPr lang="zh-TW" sz="1900"/>
          </a:p>
        </p:txBody>
      </p:sp>
      <p:sp>
        <p:nvSpPr>
          <p:cNvPr id="17" name="text_17"/>
          <p:cNvSpPr txBox="1"/>
          <p:nvPr/>
        </p:nvSpPr>
        <p:spPr>
          <a:xfrm>
            <a:off x="3568700" y="42291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-0.1</a:t>
            </a:r>
            <a:endParaRPr lang="zh-TW" sz="1900"/>
          </a:p>
        </p:txBody>
      </p:sp>
      <p:sp>
        <p:nvSpPr>
          <p:cNvPr id="18" name="text_18"/>
          <p:cNvSpPr txBox="1"/>
          <p:nvPr/>
        </p:nvSpPr>
        <p:spPr>
          <a:xfrm>
            <a:off x="7124700" y="42291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降低無限拖延的誘因</a:t>
            </a:r>
            <a:endParaRPr lang="zh-TW" sz="1900"/>
          </a:p>
        </p:txBody>
      </p:sp>
      <p:cxnSp>
        <p:nvCxnSpPr>
          <p:cNvPr id="19" name="line_19"/>
          <p:cNvCxnSpPr/>
          <p:nvPr/>
        </p:nvCxnSpPr>
        <p:spPr>
          <a:xfrm>
            <a:off x="685800" y="40640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0" name="line_20"/>
          <p:cNvCxnSpPr/>
          <p:nvPr/>
        </p:nvCxnSpPr>
        <p:spPr>
          <a:xfrm>
            <a:off x="685800" y="48768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1" name="line_21"/>
          <p:cNvCxnSpPr/>
          <p:nvPr/>
        </p:nvCxnSpPr>
        <p:spPr>
          <a:xfrm>
            <a:off x="6858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2" name="line_22"/>
          <p:cNvCxnSpPr/>
          <p:nvPr/>
        </p:nvCxnSpPr>
        <p:spPr>
          <a:xfrm>
            <a:off x="3454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3" name="line_23"/>
          <p:cNvCxnSpPr/>
          <p:nvPr/>
        </p:nvCxnSpPr>
        <p:spPr>
          <a:xfrm>
            <a:off x="7010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4" name="line_24"/>
          <p:cNvCxnSpPr/>
          <p:nvPr/>
        </p:nvCxnSpPr>
        <p:spPr>
          <a:xfrm>
            <a:off x="115062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合作搬運：在障礙環境中共同前進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6D009335-D9DF-440D-A856-0374EA872E8F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23</a:t>
            </a:fld>
            <a:endParaRPr lang="zh-TW" sz="1400"/>
          </a:p>
        </p:txBody>
      </p:sp>
      <p:pic>
        <p:nvPicPr>
          <p:cNvPr id="4" name="Lecture figure car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15" y="1727200"/>
            <a:ext cx="4225370" cy="4114800"/>
          </a:xfrm>
          <a:prstGeom prst="rect">
            <a:avLst/>
          </a:prstGeom>
        </p:spPr>
      </p:pic>
      <p:sp>
        <p:nvSpPr>
          <p:cNvPr id="5" name="text_5"/>
          <p:cNvSpPr txBox="1"/>
          <p:nvPr/>
        </p:nvSpPr>
        <p:spPr>
          <a:xfrm>
            <a:off x="6477000" y="1676400"/>
            <a:ext cx="5029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環境</a:t>
            </a:r>
            <a:endParaRPr lang="zh-TW" sz="2100"/>
          </a:p>
        </p:txBody>
      </p:sp>
      <p:sp>
        <p:nvSpPr>
          <p:cNvPr id="6" name="text_6"/>
          <p:cNvSpPr txBox="1"/>
          <p:nvPr/>
        </p:nvSpPr>
        <p:spPr>
          <a:xfrm>
            <a:off x="6477000" y="2184400"/>
            <a:ext cx="50292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7 × 7 方格，包含障礙與目標區域。</a:t>
            </a:r>
            <a:endParaRPr lang="zh-TW" sz="2000"/>
          </a:p>
        </p:txBody>
      </p:sp>
      <p:sp>
        <p:nvSpPr>
          <p:cNvPr id="7" name="text_7"/>
          <p:cNvSpPr txBox="1"/>
          <p:nvPr/>
        </p:nvSpPr>
        <p:spPr>
          <a:xfrm>
            <a:off x="6477000" y="3213100"/>
            <a:ext cx="5029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任務</a:t>
            </a:r>
            <a:endParaRPr lang="zh-TW" sz="2100"/>
          </a:p>
        </p:txBody>
      </p:sp>
      <p:sp>
        <p:nvSpPr>
          <p:cNvPr id="8" name="text_8"/>
          <p:cNvSpPr txBox="1"/>
          <p:nvPr/>
        </p:nvSpPr>
        <p:spPr>
          <a:xfrm>
            <a:off x="6477000" y="3721100"/>
            <a:ext cx="50292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兩個代理人合作將物件搬到目的地，同時處</a:t>
            </a:r>
            <a:endParaRPr lang="zh-TW" sz="2000"/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理避障。</a:t>
            </a:r>
            <a:endParaRPr lang="zh-TW" sz="2000"/>
          </a:p>
        </p:txBody>
      </p:sp>
      <p:sp>
        <p:nvSpPr>
          <p:cNvPr id="9" name="text_9"/>
          <p:cNvSpPr txBox="1"/>
          <p:nvPr/>
        </p:nvSpPr>
        <p:spPr>
          <a:xfrm>
            <a:off x="6477000" y="4749800"/>
            <a:ext cx="5029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獎勵</a:t>
            </a:r>
            <a:endParaRPr lang="zh-TW" sz="2100"/>
          </a:p>
        </p:txBody>
      </p:sp>
      <p:sp>
        <p:nvSpPr>
          <p:cNvPr id="10" name="text_10"/>
          <p:cNvSpPr txBox="1"/>
          <p:nvPr/>
        </p:nvSpPr>
        <p:spPr>
          <a:xfrm>
            <a:off x="6477000" y="5257800"/>
            <a:ext cx="50292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物件送達目標區域時，獲得獎勵 +50。</a:t>
            </a:r>
            <a:endParaRPr lang="zh-TW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實體機器人合作展示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0280AB37-4D83-4CE2-B1D9-C299AD0B9A01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24</a:t>
            </a:fld>
            <a:endParaRPr lang="zh-TW" sz="1400"/>
          </a:p>
        </p:txBody>
      </p:sp>
      <p:pic>
        <p:nvPicPr>
          <p:cNvPr id="4" name="Lecture figure rob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8458"/>
            <a:ext cx="5334000" cy="3452283"/>
          </a:xfrm>
          <a:prstGeom prst="rect">
            <a:avLst/>
          </a:prstGeom>
        </p:spPr>
      </p:pic>
      <p:sp>
        <p:nvSpPr>
          <p:cNvPr id="5" name="text_5"/>
          <p:cNvSpPr txBox="1"/>
          <p:nvPr/>
        </p:nvSpPr>
        <p:spPr>
          <a:xfrm>
            <a:off x="6477000" y="2221964"/>
            <a:ext cx="5029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畫面內容</a:t>
            </a:r>
            <a:endParaRPr lang="zh-TW" sz="2100"/>
          </a:p>
        </p:txBody>
      </p:sp>
      <p:sp>
        <p:nvSpPr>
          <p:cNvPr id="6" name="text_6"/>
          <p:cNvSpPr txBox="1"/>
          <p:nvPr/>
        </p:nvSpPr>
        <p:spPr>
          <a:xfrm>
            <a:off x="6477000" y="2729964"/>
            <a:ext cx="50292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兩個輪式機器人位於設有障礙的場地中，進</a:t>
            </a:r>
            <a:endParaRPr lang="zh-TW" sz="2000" dirty="0"/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行合作任務展示。</a:t>
            </a:r>
            <a:endParaRPr lang="zh-TW" sz="2000" dirty="0"/>
          </a:p>
        </p:txBody>
      </p:sp>
      <p:sp>
        <p:nvSpPr>
          <p:cNvPr id="7" name="text_7"/>
          <p:cNvSpPr txBox="1"/>
          <p:nvPr/>
        </p:nvSpPr>
        <p:spPr>
          <a:xfrm>
            <a:off x="6477000" y="3758664"/>
            <a:ext cx="5029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 dirty="0">
                <a:solidFill>
                  <a:srgbClr val="235DB5"/>
                </a:solidFill>
                <a:latin typeface="Microsoft JhengHei"/>
                <a:ea typeface="Microsoft JhengHei"/>
              </a:rPr>
              <a:t>任務重點</a:t>
            </a:r>
            <a:endParaRPr lang="zh-TW" sz="2100" dirty="0"/>
          </a:p>
        </p:txBody>
      </p:sp>
      <p:sp>
        <p:nvSpPr>
          <p:cNvPr id="8" name="text_8"/>
          <p:cNvSpPr txBox="1"/>
          <p:nvPr/>
        </p:nvSpPr>
        <p:spPr>
          <a:xfrm>
            <a:off x="6477000" y="4266664"/>
            <a:ext cx="50292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60"/>
              </a:lnSpc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動作必須配合夥伴與場域，</a:t>
            </a: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兩個輪式機器人</a:t>
            </a:r>
            <a:endParaRPr lang="en-US" altLang="zh-TW" sz="200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pPr>
              <a:lnSpc>
                <a:spcPts val="246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需要互相合作通過障礙中間的小縫。</a:t>
            </a:r>
            <a:endParaRPr lang="zh-TW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從平面式控制走向階層式控制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CAD3DC15-CC1D-49D1-9CE0-DE390CF3B5AC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25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800100" y="17907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方式</a:t>
            </a:r>
            <a:endParaRPr lang="zh-TW" sz="1900"/>
          </a:p>
        </p:txBody>
      </p:sp>
      <p:sp>
        <p:nvSpPr>
          <p:cNvPr id="5" name="text_5"/>
          <p:cNvSpPr txBox="1"/>
          <p:nvPr/>
        </p:nvSpPr>
        <p:spPr>
          <a:xfrm>
            <a:off x="3568700" y="17907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決策安排</a:t>
            </a:r>
            <a:endParaRPr lang="zh-TW" sz="1900"/>
          </a:p>
        </p:txBody>
      </p:sp>
      <p:sp>
        <p:nvSpPr>
          <p:cNvPr id="6" name="text_6"/>
          <p:cNvSpPr txBox="1"/>
          <p:nvPr/>
        </p:nvSpPr>
        <p:spPr>
          <a:xfrm>
            <a:off x="7124700" y="17907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演講指出的考量</a:t>
            </a:r>
            <a:endParaRPr lang="zh-TW" sz="1900"/>
          </a:p>
        </p:txBody>
      </p:sp>
      <p:cxnSp>
        <p:nvCxnSpPr>
          <p:cNvPr id="7" name="line_7"/>
          <p:cNvCxnSpPr/>
          <p:nvPr/>
        </p:nvCxnSpPr>
        <p:spPr>
          <a:xfrm>
            <a:off x="685800" y="16256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8" name="text_8"/>
          <p:cNvSpPr txBox="1"/>
          <p:nvPr/>
        </p:nvSpPr>
        <p:spPr>
          <a:xfrm>
            <a:off x="800100" y="26035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平面式學習</a:t>
            </a:r>
            <a:endParaRPr lang="zh-TW" sz="1900"/>
          </a:p>
        </p:txBody>
      </p:sp>
      <p:sp>
        <p:nvSpPr>
          <p:cNvPr id="9" name="text_9"/>
          <p:cNvSpPr txBox="1"/>
          <p:nvPr/>
        </p:nvSpPr>
        <p:spPr>
          <a:xfrm>
            <a:off x="3568700" y="26035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單一決策層直接選動作</a:t>
            </a:r>
            <a:endParaRPr lang="zh-TW" sz="1900"/>
          </a:p>
        </p:txBody>
      </p:sp>
      <p:sp>
        <p:nvSpPr>
          <p:cNvPr id="10" name="text_10"/>
          <p:cNvSpPr txBox="1"/>
          <p:nvPr/>
        </p:nvSpPr>
        <p:spPr>
          <a:xfrm>
            <a:off x="7124700" y="26035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複雜任務可能需要較長探索</a:t>
            </a:r>
            <a:endParaRPr lang="zh-TW" sz="1900"/>
          </a:p>
        </p:txBody>
      </p:sp>
      <p:cxnSp>
        <p:nvCxnSpPr>
          <p:cNvPr id="11" name="line_11"/>
          <p:cNvCxnSpPr/>
          <p:nvPr/>
        </p:nvCxnSpPr>
        <p:spPr>
          <a:xfrm>
            <a:off x="685800" y="24384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2" name="text_12"/>
          <p:cNvSpPr txBox="1"/>
          <p:nvPr/>
        </p:nvSpPr>
        <p:spPr>
          <a:xfrm>
            <a:off x="800100" y="34163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階層式學習</a:t>
            </a:r>
            <a:endParaRPr lang="zh-TW" sz="1900"/>
          </a:p>
        </p:txBody>
      </p:sp>
      <p:sp>
        <p:nvSpPr>
          <p:cNvPr id="13" name="text_13"/>
          <p:cNvSpPr txBox="1"/>
          <p:nvPr/>
        </p:nvSpPr>
        <p:spPr>
          <a:xfrm>
            <a:off x="3568700" y="34163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高層策略與低層技能分工</a:t>
            </a:r>
            <a:endParaRPr lang="zh-TW" sz="1900"/>
          </a:p>
        </p:txBody>
      </p:sp>
      <p:sp>
        <p:nvSpPr>
          <p:cNvPr id="14" name="text_14"/>
          <p:cNvSpPr txBox="1"/>
          <p:nvPr/>
        </p:nvSpPr>
        <p:spPr>
          <a:xfrm>
            <a:off x="7124700" y="34163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把複雜任務拆成可重用子技能</a:t>
            </a:r>
            <a:endParaRPr lang="zh-TW" sz="1900"/>
          </a:p>
        </p:txBody>
      </p:sp>
      <p:cxnSp>
        <p:nvCxnSpPr>
          <p:cNvPr id="15" name="line_15"/>
          <p:cNvCxnSpPr/>
          <p:nvPr/>
        </p:nvCxnSpPr>
        <p:spPr>
          <a:xfrm>
            <a:off x="685800" y="32512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6" name="text_16"/>
          <p:cNvSpPr txBox="1"/>
          <p:nvPr/>
        </p:nvSpPr>
        <p:spPr>
          <a:xfrm>
            <a:off x="800100" y="42291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技能重用</a:t>
            </a:r>
            <a:endParaRPr lang="zh-TW" sz="1900"/>
          </a:p>
        </p:txBody>
      </p:sp>
      <p:sp>
        <p:nvSpPr>
          <p:cNvPr id="17" name="text_17"/>
          <p:cNvSpPr txBox="1"/>
          <p:nvPr/>
        </p:nvSpPr>
        <p:spPr>
          <a:xfrm>
            <a:off x="3568700" y="42291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既有能力供後續任務整合</a:t>
            </a:r>
            <a:endParaRPr lang="zh-TW" sz="1900"/>
          </a:p>
        </p:txBody>
      </p:sp>
      <p:sp>
        <p:nvSpPr>
          <p:cNvPr id="18" name="text_18"/>
          <p:cNvSpPr txBox="1"/>
          <p:nvPr/>
        </p:nvSpPr>
        <p:spPr>
          <a:xfrm>
            <a:off x="7124700" y="4229100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效果取決於技能設計與訓練方式</a:t>
            </a:r>
            <a:endParaRPr lang="zh-TW" sz="1900"/>
          </a:p>
        </p:txBody>
      </p:sp>
      <p:cxnSp>
        <p:nvCxnSpPr>
          <p:cNvPr id="19" name="line_19"/>
          <p:cNvCxnSpPr/>
          <p:nvPr/>
        </p:nvCxnSpPr>
        <p:spPr>
          <a:xfrm>
            <a:off x="685800" y="40640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0" name="line_20"/>
          <p:cNvCxnSpPr/>
          <p:nvPr/>
        </p:nvCxnSpPr>
        <p:spPr>
          <a:xfrm>
            <a:off x="685800" y="4876800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1" name="line_21"/>
          <p:cNvCxnSpPr/>
          <p:nvPr/>
        </p:nvCxnSpPr>
        <p:spPr>
          <a:xfrm>
            <a:off x="6858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2" name="line_22"/>
          <p:cNvCxnSpPr/>
          <p:nvPr/>
        </p:nvCxnSpPr>
        <p:spPr>
          <a:xfrm>
            <a:off x="3454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3" name="line_23"/>
          <p:cNvCxnSpPr/>
          <p:nvPr/>
        </p:nvCxnSpPr>
        <p:spPr>
          <a:xfrm>
            <a:off x="70104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4" name="line_24"/>
          <p:cNvCxnSpPr/>
          <p:nvPr/>
        </p:nvCxnSpPr>
        <p:spPr>
          <a:xfrm>
            <a:off x="11506200" y="1625600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任務分解：讓子模型各自有明確目標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EBD44174-3A6A-406A-8E34-07F4C8D3D145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26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800100" y="2566784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子行為</a:t>
            </a:r>
            <a:endParaRPr lang="zh-TW" sz="1900"/>
          </a:p>
        </p:txBody>
      </p:sp>
      <p:sp>
        <p:nvSpPr>
          <p:cNvPr id="5" name="text_5"/>
          <p:cNvSpPr txBox="1"/>
          <p:nvPr/>
        </p:nvSpPr>
        <p:spPr>
          <a:xfrm>
            <a:off x="3568700" y="2566784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目標</a:t>
            </a:r>
            <a:endParaRPr lang="zh-TW" sz="1900"/>
          </a:p>
        </p:txBody>
      </p:sp>
      <p:sp>
        <p:nvSpPr>
          <p:cNvPr id="6" name="text_6"/>
          <p:cNvSpPr txBox="1"/>
          <p:nvPr/>
        </p:nvSpPr>
        <p:spPr>
          <a:xfrm>
            <a:off x="7124700" y="2566784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回饋設計方向</a:t>
            </a:r>
            <a:endParaRPr lang="zh-TW" sz="1900"/>
          </a:p>
        </p:txBody>
      </p:sp>
      <p:cxnSp>
        <p:nvCxnSpPr>
          <p:cNvPr id="7" name="line_7"/>
          <p:cNvCxnSpPr/>
          <p:nvPr/>
        </p:nvCxnSpPr>
        <p:spPr>
          <a:xfrm>
            <a:off x="685800" y="2401684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8" name="text_8"/>
          <p:cNvSpPr txBox="1"/>
          <p:nvPr/>
        </p:nvSpPr>
        <p:spPr>
          <a:xfrm>
            <a:off x="800100" y="3379584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導航與避障</a:t>
            </a:r>
            <a:endParaRPr lang="zh-TW" sz="1900"/>
          </a:p>
        </p:txBody>
      </p:sp>
      <p:sp>
        <p:nvSpPr>
          <p:cNvPr id="9" name="text_9"/>
          <p:cNvSpPr txBox="1"/>
          <p:nvPr/>
        </p:nvSpPr>
        <p:spPr>
          <a:xfrm>
            <a:off x="3568700" y="3379584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接近目標並維持安全</a:t>
            </a:r>
            <a:endParaRPr lang="zh-TW" sz="1900"/>
          </a:p>
        </p:txBody>
      </p:sp>
      <p:sp>
        <p:nvSpPr>
          <p:cNvPr id="10" name="text_10"/>
          <p:cNvSpPr txBox="1"/>
          <p:nvPr/>
        </p:nvSpPr>
        <p:spPr>
          <a:xfrm>
            <a:off x="7124700" y="3379584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對應移動成功與碰撞結果</a:t>
            </a:r>
            <a:endParaRPr lang="zh-TW" sz="1900"/>
          </a:p>
        </p:txBody>
      </p:sp>
      <p:cxnSp>
        <p:nvCxnSpPr>
          <p:cNvPr id="11" name="line_11"/>
          <p:cNvCxnSpPr/>
          <p:nvPr/>
        </p:nvCxnSpPr>
        <p:spPr>
          <a:xfrm>
            <a:off x="685800" y="3214484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2" name="text_12"/>
          <p:cNvSpPr txBox="1"/>
          <p:nvPr/>
        </p:nvSpPr>
        <p:spPr>
          <a:xfrm>
            <a:off x="800100" y="4192384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進攻</a:t>
            </a:r>
            <a:endParaRPr lang="zh-TW" sz="1900"/>
          </a:p>
        </p:txBody>
      </p:sp>
      <p:sp>
        <p:nvSpPr>
          <p:cNvPr id="13" name="text_13"/>
          <p:cNvSpPr txBox="1"/>
          <p:nvPr/>
        </p:nvSpPr>
        <p:spPr>
          <a:xfrm>
            <a:off x="3568700" y="4192384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達成得分條件</a:t>
            </a:r>
            <a:endParaRPr lang="zh-TW" sz="1900"/>
          </a:p>
        </p:txBody>
      </p:sp>
      <p:sp>
        <p:nvSpPr>
          <p:cNvPr id="14" name="text_14"/>
          <p:cNvSpPr txBox="1"/>
          <p:nvPr/>
        </p:nvSpPr>
        <p:spPr>
          <a:xfrm>
            <a:off x="7124700" y="4192384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聚焦進攻成功訊號</a:t>
            </a:r>
            <a:endParaRPr lang="zh-TW" sz="1900"/>
          </a:p>
        </p:txBody>
      </p:sp>
      <p:cxnSp>
        <p:nvCxnSpPr>
          <p:cNvPr id="15" name="line_15"/>
          <p:cNvCxnSpPr/>
          <p:nvPr/>
        </p:nvCxnSpPr>
        <p:spPr>
          <a:xfrm>
            <a:off x="685800" y="4027284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16" name="text_16"/>
          <p:cNvSpPr txBox="1"/>
          <p:nvPr/>
        </p:nvSpPr>
        <p:spPr>
          <a:xfrm>
            <a:off x="800100" y="5005184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防守</a:t>
            </a:r>
            <a:endParaRPr lang="zh-TW" sz="1900"/>
          </a:p>
        </p:txBody>
      </p:sp>
      <p:sp>
        <p:nvSpPr>
          <p:cNvPr id="17" name="text_17"/>
          <p:cNvSpPr txBox="1"/>
          <p:nvPr/>
        </p:nvSpPr>
        <p:spPr>
          <a:xfrm>
            <a:off x="3568700" y="5005184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阻止失分</a:t>
            </a:r>
            <a:endParaRPr lang="zh-TW" sz="1900"/>
          </a:p>
        </p:txBody>
      </p:sp>
      <p:sp>
        <p:nvSpPr>
          <p:cNvPr id="18" name="text_18"/>
          <p:cNvSpPr txBox="1"/>
          <p:nvPr/>
        </p:nvSpPr>
        <p:spPr>
          <a:xfrm>
            <a:off x="7124700" y="5005184"/>
            <a:ext cx="4267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聚焦防守成功訊號</a:t>
            </a:r>
            <a:endParaRPr lang="zh-TW" sz="1900"/>
          </a:p>
        </p:txBody>
      </p:sp>
      <p:cxnSp>
        <p:nvCxnSpPr>
          <p:cNvPr id="19" name="line_19"/>
          <p:cNvCxnSpPr/>
          <p:nvPr/>
        </p:nvCxnSpPr>
        <p:spPr>
          <a:xfrm>
            <a:off x="685800" y="4840084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0" name="line_20"/>
          <p:cNvCxnSpPr/>
          <p:nvPr/>
        </p:nvCxnSpPr>
        <p:spPr>
          <a:xfrm>
            <a:off x="685800" y="5652884"/>
            <a:ext cx="10820400" cy="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1" name="line_21"/>
          <p:cNvCxnSpPr/>
          <p:nvPr/>
        </p:nvCxnSpPr>
        <p:spPr>
          <a:xfrm>
            <a:off x="685800" y="2401684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2" name="line_22"/>
          <p:cNvCxnSpPr/>
          <p:nvPr/>
        </p:nvCxnSpPr>
        <p:spPr>
          <a:xfrm>
            <a:off x="3454400" y="2401684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3" name="line_23"/>
          <p:cNvCxnSpPr/>
          <p:nvPr/>
        </p:nvCxnSpPr>
        <p:spPr>
          <a:xfrm>
            <a:off x="7010400" y="2401684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cxnSp>
        <p:nvCxnSpPr>
          <p:cNvPr id="24" name="line_24"/>
          <p:cNvCxnSpPr/>
          <p:nvPr/>
        </p:nvCxnSpPr>
        <p:spPr>
          <a:xfrm>
            <a:off x="11506200" y="2401684"/>
            <a:ext cx="0" cy="3251200"/>
          </a:xfrm>
          <a:prstGeom prst="line">
            <a:avLst/>
          </a:prstGeom>
          <a:ln w="12700">
            <a:solidFill>
              <a:srgbClr val="CAD2DA"/>
            </a:solidFill>
          </a:ln>
        </p:spPr>
      </p:cxnSp>
      <p:sp>
        <p:nvSpPr>
          <p:cNvPr id="25" name="text_4">
            <a:extLst>
              <a:ext uri="{FF2B5EF4-FFF2-40B4-BE49-F238E27FC236}">
                <a16:creationId xmlns:a16="http://schemas.microsoft.com/office/drawing/2014/main" id="{B195C157-20B6-FA5E-9CE6-23BB0F71FD78}"/>
              </a:ext>
            </a:extLst>
          </p:cNvPr>
          <p:cNvSpPr txBox="1"/>
          <p:nvPr/>
        </p:nvSpPr>
        <p:spPr>
          <a:xfrm>
            <a:off x="685800" y="1614285"/>
            <a:ext cx="10820400" cy="546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75"/>
              </a:lnSpc>
              <a:spcAft>
                <a:spcPts val="0"/>
              </a:spcAft>
            </a:pPr>
            <a:r>
              <a:rPr lang="zh-TW" altLang="en-US" sz="2500" b="1" dirty="0">
                <a:solidFill>
                  <a:srgbClr val="235DB5"/>
                </a:solidFill>
                <a:latin typeface="Microsoft JhengHei"/>
                <a:ea typeface="Microsoft JhengHei"/>
              </a:rPr>
              <a:t>將足球任務切成可訓練的子行為</a:t>
            </a:r>
            <a:endParaRPr lang="zh-TW" sz="2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行為融合：依狀態調整各技能的影響力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B90F07CE-6148-48A6-AA87-115323306E83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27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968500"/>
            <a:ext cx="26416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影像／狀態特徵</a:t>
            </a:r>
            <a:endParaRPr lang="zh-TW" sz="2300"/>
          </a:p>
        </p:txBody>
      </p:sp>
      <p:sp>
        <p:nvSpPr>
          <p:cNvPr id="5" name="text_5"/>
          <p:cNvSpPr txBox="1"/>
          <p:nvPr/>
        </p:nvSpPr>
        <p:spPr>
          <a:xfrm>
            <a:off x="685800" y="2628900"/>
            <a:ext cx="2641600" cy="101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依當前狀態調整決策</a:t>
            </a:r>
            <a:endParaRPr lang="zh-TW" sz="2000"/>
          </a:p>
        </p:txBody>
      </p:sp>
      <p:sp>
        <p:nvSpPr>
          <p:cNvPr id="6" name="text_6"/>
          <p:cNvSpPr txBox="1"/>
          <p:nvPr/>
        </p:nvSpPr>
        <p:spPr>
          <a:xfrm>
            <a:off x="4775200" y="1968500"/>
            <a:ext cx="26416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NET_FW</a:t>
            </a:r>
            <a:endParaRPr lang="zh-TW" sz="2300"/>
          </a:p>
        </p:txBody>
      </p:sp>
      <p:sp>
        <p:nvSpPr>
          <p:cNvPr id="7" name="text_7"/>
          <p:cNvSpPr txBox="1"/>
          <p:nvPr/>
        </p:nvSpPr>
        <p:spPr>
          <a:xfrm>
            <a:off x="4775200" y="2628900"/>
            <a:ext cx="2641600" cy="101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生成各子行為權重</a:t>
            </a:r>
            <a:endParaRPr lang="zh-TW" sz="2000"/>
          </a:p>
        </p:txBody>
      </p:sp>
      <p:sp>
        <p:nvSpPr>
          <p:cNvPr id="8" name="text_8"/>
          <p:cNvSpPr txBox="1"/>
          <p:nvPr/>
        </p:nvSpPr>
        <p:spPr>
          <a:xfrm>
            <a:off x="8864600" y="1968500"/>
            <a:ext cx="26416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最終行動</a:t>
            </a:r>
            <a:endParaRPr lang="zh-TW" sz="2300"/>
          </a:p>
        </p:txBody>
      </p:sp>
      <p:sp>
        <p:nvSpPr>
          <p:cNvPr id="9" name="text_9"/>
          <p:cNvSpPr txBox="1"/>
          <p:nvPr/>
        </p:nvSpPr>
        <p:spPr>
          <a:xfrm>
            <a:off x="8864600" y="2628900"/>
            <a:ext cx="2641600" cy="101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整合子行為動作建議</a:t>
            </a:r>
            <a:endParaRPr lang="zh-TW" sz="2000"/>
          </a:p>
        </p:txBody>
      </p:sp>
      <p:cxnSp>
        <p:nvCxnSpPr>
          <p:cNvPr id="10" name="line_10"/>
          <p:cNvCxnSpPr/>
          <p:nvPr/>
        </p:nvCxnSpPr>
        <p:spPr>
          <a:xfrm>
            <a:off x="3416300" y="2768600"/>
            <a:ext cx="11430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cxnSp>
        <p:nvCxnSpPr>
          <p:cNvPr id="11" name="line_11"/>
          <p:cNvCxnSpPr/>
          <p:nvPr/>
        </p:nvCxnSpPr>
        <p:spPr>
          <a:xfrm>
            <a:off x="7505700" y="2768600"/>
            <a:ext cx="11430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2" name="text_12"/>
          <p:cNvSpPr txBox="1"/>
          <p:nvPr/>
        </p:nvSpPr>
        <p:spPr>
          <a:xfrm>
            <a:off x="4775200" y="4229100"/>
            <a:ext cx="26416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829"/>
              </a:lnSpc>
              <a:spcAft>
                <a:spcPts val="0"/>
              </a:spcAft>
            </a:pPr>
            <a:r>
              <a:rPr lang="zh-TW" altLang="en-US" sz="2300" b="1">
                <a:solidFill>
                  <a:srgbClr val="235DB5"/>
                </a:solidFill>
                <a:latin typeface="Microsoft JhengHei"/>
                <a:ea typeface="Microsoft JhengHei"/>
              </a:rPr>
              <a:t>NET_RF</a:t>
            </a:r>
            <a:endParaRPr lang="zh-TW" sz="2300"/>
          </a:p>
        </p:txBody>
      </p:sp>
      <p:sp>
        <p:nvSpPr>
          <p:cNvPr id="13" name="text_13"/>
          <p:cNvSpPr txBox="1"/>
          <p:nvPr/>
        </p:nvSpPr>
        <p:spPr>
          <a:xfrm>
            <a:off x="4775200" y="4813300"/>
            <a:ext cx="26416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預測回饋與學習訊號</a:t>
            </a:r>
            <a:endParaRPr lang="zh-TW" sz="2000"/>
          </a:p>
        </p:txBody>
      </p:sp>
      <p:cxnSp>
        <p:nvCxnSpPr>
          <p:cNvPr id="14" name="line_14"/>
          <p:cNvCxnSpPr/>
          <p:nvPr/>
        </p:nvCxnSpPr>
        <p:spPr>
          <a:xfrm>
            <a:off x="2006600" y="3619500"/>
            <a:ext cx="0" cy="876300"/>
          </a:xfrm>
          <a:prstGeom prst="line">
            <a:avLst/>
          </a:prstGeom>
          <a:ln w="28575">
            <a:solidFill>
              <a:srgbClr val="235DB5"/>
            </a:solidFill>
          </a:ln>
        </p:spPr>
      </p:cxnSp>
      <p:cxnSp>
        <p:nvCxnSpPr>
          <p:cNvPr id="15" name="line_15"/>
          <p:cNvCxnSpPr/>
          <p:nvPr/>
        </p:nvCxnSpPr>
        <p:spPr>
          <a:xfrm>
            <a:off x="2006600" y="4495800"/>
            <a:ext cx="2552700" cy="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cxnSp>
        <p:nvCxnSpPr>
          <p:cNvPr id="16" name="line_16"/>
          <p:cNvCxnSpPr/>
          <p:nvPr/>
        </p:nvCxnSpPr>
        <p:spPr>
          <a:xfrm flipV="1">
            <a:off x="6096000" y="3594100"/>
            <a:ext cx="0" cy="558800"/>
          </a:xfrm>
          <a:prstGeom prst="line">
            <a:avLst/>
          </a:prstGeom>
          <a:ln w="28575">
            <a:solidFill>
              <a:srgbClr val="235DB5"/>
            </a:solidFill>
            <a:tailEnd type="triangle"/>
          </a:ln>
        </p:spPr>
      </p:cxnSp>
      <p:sp>
        <p:nvSpPr>
          <p:cNvPr id="17" name="text_17"/>
          <p:cNvSpPr txBox="1"/>
          <p:nvPr/>
        </p:nvSpPr>
        <p:spPr>
          <a:xfrm>
            <a:off x="6286500" y="3733800"/>
            <a:ext cx="23495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91"/>
              </a:lnSpc>
              <a:spcAft>
                <a:spcPts val="0"/>
              </a:spcAft>
            </a:pPr>
            <a:r>
              <a:rPr lang="zh-TW" altLang="en-US" sz="1700" b="0">
                <a:solidFill>
                  <a:srgbClr val="536273"/>
                </a:solidFill>
                <a:latin typeface="Microsoft JhengHei"/>
                <a:ea typeface="Microsoft JhengHei"/>
              </a:rPr>
              <a:t>協助訓練</a:t>
            </a:r>
            <a:endParaRPr lang="zh-TW" sz="1700"/>
          </a:p>
        </p:txBody>
      </p:sp>
      <p:sp>
        <p:nvSpPr>
          <p:cNvPr id="18" name="text_18"/>
          <p:cNvSpPr txBox="1"/>
          <p:nvPr/>
        </p:nvSpPr>
        <p:spPr>
          <a:xfrm>
            <a:off x="685800" y="58420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>
                <a:solidFill>
                  <a:srgbClr val="536273"/>
                </a:solidFill>
                <a:latin typeface="Microsoft JhengHei"/>
                <a:ea typeface="Microsoft JhengHei"/>
              </a:rPr>
              <a:t>NET_FW 決定子行為權重；NET_RF 提供回饋預測與學習訊號，協助訓練權重網路。</a:t>
            </a:r>
            <a:endParaRPr lang="zh-TW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Webots 足球：多種行為在同一任務整合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930FF6BD-10A6-43B5-B790-E37F8298B819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28</a:t>
            </a:fld>
            <a:endParaRPr lang="zh-TW" sz="1400"/>
          </a:p>
        </p:txBody>
      </p:sp>
      <p:pic>
        <p:nvPicPr>
          <p:cNvPr id="4" name="Lecture figure footb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49593"/>
            <a:ext cx="5334000" cy="2870015"/>
          </a:xfrm>
          <a:prstGeom prst="rect">
            <a:avLst/>
          </a:prstGeom>
        </p:spPr>
      </p:pic>
      <p:sp>
        <p:nvSpPr>
          <p:cNvPr id="5" name="text_5"/>
          <p:cNvSpPr txBox="1"/>
          <p:nvPr/>
        </p:nvSpPr>
        <p:spPr>
          <a:xfrm>
            <a:off x="6477000" y="2329540"/>
            <a:ext cx="5029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展示環境</a:t>
            </a:r>
            <a:endParaRPr lang="zh-TW" sz="2100"/>
          </a:p>
        </p:txBody>
      </p:sp>
      <p:sp>
        <p:nvSpPr>
          <p:cNvPr id="6" name="text_6"/>
          <p:cNvSpPr txBox="1"/>
          <p:nvPr/>
        </p:nvSpPr>
        <p:spPr>
          <a:xfrm>
            <a:off x="6477000" y="2837540"/>
            <a:ext cx="50292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Webots 足球場：先控制一個機器人，並將三</a:t>
            </a:r>
            <a:endParaRPr lang="zh-TW" sz="2000"/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個對手設為靜態障礙，以簡化問題。</a:t>
            </a:r>
            <a:endParaRPr lang="zh-TW" sz="2000"/>
          </a:p>
        </p:txBody>
      </p:sp>
      <p:sp>
        <p:nvSpPr>
          <p:cNvPr id="7" name="text_7"/>
          <p:cNvSpPr txBox="1"/>
          <p:nvPr/>
        </p:nvSpPr>
        <p:spPr>
          <a:xfrm>
            <a:off x="6477000" y="3866240"/>
            <a:ext cx="5029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整合需求</a:t>
            </a:r>
            <a:endParaRPr lang="zh-TW" sz="2100"/>
          </a:p>
        </p:txBody>
      </p:sp>
      <p:sp>
        <p:nvSpPr>
          <p:cNvPr id="8" name="text_8"/>
          <p:cNvSpPr txBox="1"/>
          <p:nvPr/>
        </p:nvSpPr>
        <p:spPr>
          <a:xfrm>
            <a:off x="6477000" y="4374240"/>
            <a:ext cx="502920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依狀態整合移動、避障與射門等子行為，講</a:t>
            </a:r>
            <a:endParaRPr lang="zh-TW" sz="2000" dirty="0"/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者說明此研究仍在進行。</a:t>
            </a:r>
            <a:endParaRPr lang="zh-TW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星海爭霸：合作與競爭並存的展示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35BED4E4-42D6-46EC-8168-5135A056FED8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29</a:t>
            </a:fld>
            <a:endParaRPr lang="zh-TW" sz="1400"/>
          </a:p>
        </p:txBody>
      </p:sp>
      <p:pic>
        <p:nvPicPr>
          <p:cNvPr id="4" name="Lecture figure starcra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58515"/>
            <a:ext cx="10820400" cy="3464771"/>
          </a:xfrm>
          <a:prstGeom prst="rect">
            <a:avLst/>
          </a:prstGeom>
        </p:spPr>
      </p:pic>
      <p:sp>
        <p:nvSpPr>
          <p:cNvPr id="5" name="text_5"/>
          <p:cNvSpPr txBox="1"/>
          <p:nvPr/>
        </p:nvSpPr>
        <p:spPr>
          <a:xfrm>
            <a:off x="685800" y="5384800"/>
            <a:ext cx="52832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左：我方 5 個單位，對上敵方 6 個。</a:t>
            </a:r>
            <a:endParaRPr lang="zh-TW" sz="1900"/>
          </a:p>
        </p:txBody>
      </p:sp>
      <p:sp>
        <p:nvSpPr>
          <p:cNvPr id="6" name="text_6"/>
          <p:cNvSpPr txBox="1"/>
          <p:nvPr/>
        </p:nvSpPr>
        <p:spPr>
          <a:xfrm>
            <a:off x="6223000" y="5384800"/>
            <a:ext cx="52832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235DB5"/>
                </a:solidFill>
                <a:latin typeface="Microsoft JhengHei"/>
                <a:ea typeface="Microsoft JhengHei"/>
              </a:rPr>
              <a:t>右：我方 8 個單位，對上敵方 9 個。</a:t>
            </a:r>
            <a:endParaRPr lang="zh-TW" sz="1900"/>
          </a:p>
        </p:txBody>
      </p:sp>
      <p:sp>
        <p:nvSpPr>
          <p:cNvPr id="7" name="text_7"/>
          <p:cNvSpPr txBox="1"/>
          <p:nvPr/>
        </p:nvSpPr>
        <p:spPr>
          <a:xfrm>
            <a:off x="685800" y="5969000"/>
            <a:ext cx="108204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68"/>
              </a:lnSpc>
              <a:spcAft>
                <a:spcPts val="0"/>
              </a:spcAft>
            </a:pPr>
            <a:r>
              <a:rPr lang="zh-TW" altLang="en-US" sz="1600" b="0" dirty="0">
                <a:solidFill>
                  <a:srgbClr val="536273"/>
                </a:solidFill>
                <a:latin typeface="Microsoft JhengHei"/>
                <a:ea typeface="Microsoft JhengHei"/>
              </a:rPr>
              <a:t>放到星海爭霸的環境測試多機器人協作。</a:t>
            </a:r>
            <a:endParaRPr lang="zh-TW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演講結論：合作能力取決於設計與驗證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79B46142-F083-4FA1-9B4C-085442CED729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30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980452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決策架構</a:t>
            </a:r>
            <a:endParaRPr lang="zh-TW" sz="2100"/>
          </a:p>
        </p:txBody>
      </p:sp>
      <p:sp>
        <p:nvSpPr>
          <p:cNvPr id="5" name="text_5"/>
          <p:cNvSpPr txBox="1"/>
          <p:nvPr/>
        </p:nvSpPr>
        <p:spPr>
          <a:xfrm>
            <a:off x="3098800" y="1980452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平面式直接選動作，而階層式透過高層與低層分工，整合多個子技能。</a:t>
            </a:r>
            <a:endParaRPr lang="zh-TW" sz="20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3288552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技能重用</a:t>
            </a:r>
            <a:endParaRPr lang="zh-TW" sz="2100"/>
          </a:p>
        </p:txBody>
      </p:sp>
      <p:sp>
        <p:nvSpPr>
          <p:cNvPr id="7" name="text_7"/>
          <p:cNvSpPr txBox="1"/>
          <p:nvPr/>
        </p:nvSpPr>
        <p:spPr>
          <a:xfrm>
            <a:off x="3098800" y="3288552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>
                <a:solidFill>
                  <a:srgbClr val="172536"/>
                </a:solidFill>
                <a:latin typeface="Microsoft JhengHei"/>
                <a:ea typeface="Microsoft JhengHei"/>
              </a:rPr>
              <a:t>有助減少重複學習，並可能提升複雜任務的學習效率。</a:t>
            </a:r>
            <a:endParaRPr lang="zh-TW" sz="2000"/>
          </a:p>
        </p:txBody>
      </p:sp>
      <p:sp>
        <p:nvSpPr>
          <p:cNvPr id="8" name="text_8"/>
          <p:cNvSpPr txBox="1"/>
          <p:nvPr/>
        </p:nvSpPr>
        <p:spPr>
          <a:xfrm>
            <a:off x="685800" y="4596652"/>
            <a:ext cx="2108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有效範圍</a:t>
            </a:r>
            <a:endParaRPr lang="zh-TW" sz="2100"/>
          </a:p>
        </p:txBody>
      </p:sp>
      <p:sp>
        <p:nvSpPr>
          <p:cNvPr id="9" name="text_9"/>
          <p:cNvSpPr txBox="1"/>
          <p:nvPr/>
        </p:nvSpPr>
        <p:spPr>
          <a:xfrm>
            <a:off x="3098800" y="4596652"/>
            <a:ext cx="8407400" cy="1206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階層式融合仍在研究中，合作能力取決於技能與訓練設計。</a:t>
            </a:r>
            <a:endParaRPr lang="zh-TW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心得報告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113A32CD-035F-496F-995B-5B1417853917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31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574800"/>
            <a:ext cx="10820400" cy="482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這次演講讓我重新思考，讓多個機器人各自學會行動，與讓它們共同完成任務，是兩個需要分別</a:t>
            </a:r>
            <a:endParaRPr lang="zh-TW" sz="2000" dirty="0"/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驗證的問題。單一代理人認為有利的動作，可能造成夥伴碰撞、互相拉扯或整體停滯。講者從 Q</a:t>
            </a:r>
            <a:endParaRPr lang="zh-TW" sz="2000" dirty="0"/>
          </a:p>
          <a:p>
            <a:pPr>
              <a:lnSpc>
                <a:spcPts val="2460"/>
              </a:lnSpc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值延伸到根據問題所提出的合作價值 C 值，讓我理解研究方法</a:t>
            </a: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是如何真正</a:t>
            </a: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對準的失敗原因，而去</a:t>
            </a:r>
            <a:endParaRPr lang="en-US" altLang="zh-TW" sz="2000" b="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pPr>
              <a:lnSpc>
                <a:spcPts val="2460"/>
              </a:lnSpc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解決問題的必要性</a:t>
            </a: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。</a:t>
            </a:r>
            <a:endParaRPr lang="en-US" altLang="zh-TW" sz="2000" b="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pPr algn="l">
              <a:lnSpc>
                <a:spcPts val="2460"/>
              </a:lnSpc>
              <a:spcAft>
                <a:spcPts val="0"/>
              </a:spcAft>
            </a:pPr>
            <a:endParaRPr lang="en-US" altLang="zh-TW" sz="200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我也體會到，資訊限制本身就是研究設計的一部分。完全通訊、部分通訊與無通訊各有成本和其</a:t>
            </a:r>
            <a:endParaRPr lang="en-US" altLang="zh-TW" sz="2000" b="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能力邊界，比較不同方法時，應交代清楚，評估也應分開觀察任務完成、合作停滯與碰撞情形，</a:t>
            </a:r>
            <a:endParaRPr lang="en-US" altLang="zh-TW" sz="2000" b="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pPr algn="l">
              <a:lnSpc>
                <a:spcPts val="2460"/>
              </a:lnSpc>
              <a:spcAft>
                <a:spcPts val="0"/>
              </a:spcAft>
            </a:pPr>
            <a:r>
              <a:rPr lang="zh-TW" altLang="en-US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  <a:t>才能辨別改善來自合作機制，還是更有利的實驗條件。</a:t>
            </a:r>
            <a:endParaRPr lang="en-US" altLang="zh-TW" sz="2000" b="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pPr>
              <a:lnSpc>
                <a:spcPts val="2460"/>
              </a:lnSpc>
            </a:pPr>
            <a:br>
              <a:rPr lang="en-US" altLang="zh-TW" sz="2000" b="0" dirty="0">
                <a:solidFill>
                  <a:srgbClr val="172536"/>
                </a:solidFill>
                <a:latin typeface="Microsoft JhengHei"/>
                <a:ea typeface="Microsoft JhengHei"/>
              </a:rPr>
            </a:b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從無通訊合作到階層式行為融合，講者展示了如何把導航、避障、進攻與防守拆成較明確的子問</a:t>
            </a:r>
            <a:endParaRPr lang="zh-TW" altLang="zh-TW" sz="2000" dirty="0"/>
          </a:p>
          <a:p>
            <a:pPr>
              <a:lnSpc>
                <a:spcPts val="246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題，再依狀態整合能力，向我展示了一個論文題目如何先建立可驗證的最小流程，界定每個模組</a:t>
            </a:r>
            <a:endParaRPr lang="en-US" altLang="zh-TW" sz="200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pPr>
              <a:lnSpc>
                <a:spcPts val="2460"/>
              </a:lnSpc>
            </a:pPr>
            <a:r>
              <a:rPr lang="zh-TW" altLang="en-US" sz="2000" dirty="0">
                <a:solidFill>
                  <a:srgbClr val="172536"/>
                </a:solidFill>
                <a:latin typeface="Microsoft JhengHei"/>
                <a:ea typeface="Microsoft JhengHei"/>
              </a:rPr>
              <a:t>的責任與指標，再用公平比較檢查新增能力的價值。</a:t>
            </a:r>
            <a:endParaRPr lang="zh-TW" altLang="en-US" sz="2000" b="0" dirty="0">
              <a:solidFill>
                <a:srgbClr val="172536"/>
              </a:solidFill>
              <a:latin typeface="Microsoft JhengHei"/>
              <a:ea typeface="Microsoft JhengHei"/>
            </a:endParaRPr>
          </a:p>
          <a:p>
            <a:pPr algn="l">
              <a:lnSpc>
                <a:spcPts val="2460"/>
              </a:lnSpc>
              <a:spcAft>
                <a:spcPts val="0"/>
              </a:spcAft>
            </a:pPr>
            <a:endParaRPr lang="zh-TW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172536"/>
                </a:solidFill>
                <a:latin typeface="Microsoft JhengHei"/>
                <a:ea typeface="Microsoft JhengHei"/>
              </a:rPr>
              <a:t>關鍵字</a:t>
            </a:r>
            <a:endParaRPr lang="zh-TW" sz="320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963F250C-B8AA-4135-B5AD-1F0630E4B5BC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32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7272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75"/>
              </a:lnSpc>
              <a:spcAft>
                <a:spcPts val="0"/>
              </a:spcAft>
            </a:pPr>
            <a:r>
              <a:rPr lang="zh-TW" altLang="en-US" sz="2500" b="1" dirty="0">
                <a:solidFill>
                  <a:srgbClr val="235DB5"/>
                </a:solidFill>
                <a:latin typeface="Microsoft JhengHei"/>
                <a:ea typeface="Microsoft JhengHei"/>
              </a:rPr>
              <a:t>強化學習</a:t>
            </a:r>
            <a:endParaRPr lang="zh-TW" sz="2500" dirty="0"/>
          </a:p>
        </p:txBody>
      </p:sp>
      <p:sp>
        <p:nvSpPr>
          <p:cNvPr id="5" name="text_5"/>
          <p:cNvSpPr txBox="1"/>
          <p:nvPr/>
        </p:nvSpPr>
        <p:spPr>
          <a:xfrm>
            <a:off x="685800" y="25908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075"/>
              </a:lnSpc>
            </a:pPr>
            <a:r>
              <a:rPr lang="zh-TW" altLang="en-US" sz="2500" b="1" dirty="0">
                <a:solidFill>
                  <a:srgbClr val="235DB5"/>
                </a:solidFill>
                <a:latin typeface="Microsoft JhengHei"/>
                <a:ea typeface="Microsoft JhengHei"/>
              </a:rPr>
              <a:t>Q-learning</a:t>
            </a:r>
            <a:endParaRPr lang="zh-TW" sz="2500" dirty="0"/>
          </a:p>
        </p:txBody>
      </p:sp>
      <p:sp>
        <p:nvSpPr>
          <p:cNvPr id="6" name="text_6"/>
          <p:cNvSpPr txBox="1"/>
          <p:nvPr/>
        </p:nvSpPr>
        <p:spPr>
          <a:xfrm>
            <a:off x="685800" y="34544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75"/>
              </a:lnSpc>
              <a:spcAft>
                <a:spcPts val="0"/>
              </a:spcAft>
            </a:pPr>
            <a:r>
              <a:rPr lang="en-US" altLang="zh-TW" sz="2500" b="1" dirty="0">
                <a:solidFill>
                  <a:srgbClr val="235DB5"/>
                </a:solidFill>
                <a:latin typeface="Microsoft JhengHei"/>
                <a:ea typeface="Microsoft JhengHei"/>
              </a:rPr>
              <a:t>Deep Q-Network </a:t>
            </a:r>
            <a:endParaRPr lang="zh-TW" sz="2500" dirty="0"/>
          </a:p>
        </p:txBody>
      </p:sp>
      <p:sp>
        <p:nvSpPr>
          <p:cNvPr id="7" name="text_7"/>
          <p:cNvSpPr txBox="1"/>
          <p:nvPr/>
        </p:nvSpPr>
        <p:spPr>
          <a:xfrm>
            <a:off x="685800" y="43180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75"/>
              </a:lnSpc>
              <a:spcAft>
                <a:spcPts val="0"/>
              </a:spcAft>
            </a:pPr>
            <a:r>
              <a:rPr lang="zh-TW" altLang="en-US" sz="2500" b="1" dirty="0">
                <a:solidFill>
                  <a:srgbClr val="235DB5"/>
                </a:solidFill>
                <a:latin typeface="Microsoft JhengHei"/>
                <a:ea typeface="Microsoft JhengHei"/>
              </a:rPr>
              <a:t>多機器人協作</a:t>
            </a:r>
            <a:endParaRPr lang="zh-TW" sz="2500" dirty="0"/>
          </a:p>
        </p:txBody>
      </p:sp>
      <p:sp>
        <p:nvSpPr>
          <p:cNvPr id="8" name="text_8"/>
          <p:cNvSpPr txBox="1"/>
          <p:nvPr/>
        </p:nvSpPr>
        <p:spPr>
          <a:xfrm>
            <a:off x="685800" y="51816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75"/>
              </a:lnSpc>
              <a:spcAft>
                <a:spcPts val="0"/>
              </a:spcAft>
            </a:pPr>
            <a:r>
              <a:rPr lang="zh-TW" altLang="en-US" sz="2500" b="1" dirty="0">
                <a:solidFill>
                  <a:srgbClr val="235DB5"/>
                </a:solidFill>
                <a:latin typeface="Microsoft JhengHei"/>
                <a:ea typeface="Microsoft JhengHei"/>
              </a:rPr>
              <a:t>無通訊學習</a:t>
            </a:r>
            <a:endParaRPr lang="zh-TW" sz="2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參考文獻</a:t>
            </a:r>
            <a:endParaRPr lang="zh-TW" sz="3200" dirty="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67A64D49-45A8-4911-8D52-1A87059750F6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33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600200"/>
            <a:ext cx="5334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[1]</a:t>
            </a:r>
            <a:endParaRPr lang="zh-TW" sz="2100"/>
          </a:p>
        </p:txBody>
      </p:sp>
      <p:sp>
        <p:nvSpPr>
          <p:cNvPr id="5" name="text_5"/>
          <p:cNvSpPr txBox="1"/>
          <p:nvPr/>
        </p:nvSpPr>
        <p:spPr>
          <a:xfrm>
            <a:off x="1333500" y="1600200"/>
            <a:ext cx="101727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Kaelbling, L. P., Littman, M. L., &amp; Moore, A. W. (1996).</a:t>
            </a:r>
            <a:endParaRPr lang="zh-TW" sz="1900"/>
          </a:p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Reinforcement Learning: A Survey.</a:t>
            </a:r>
            <a:endParaRPr lang="zh-TW" sz="1900"/>
          </a:p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Journal of Artificial Intelligence Research, 4, 237–285.</a:t>
            </a:r>
            <a:endParaRPr lang="zh-TW" sz="1900"/>
          </a:p>
        </p:txBody>
      </p:sp>
      <p:sp>
        <p:nvSpPr>
          <p:cNvPr id="6" name="text_6"/>
          <p:cNvSpPr txBox="1"/>
          <p:nvPr/>
        </p:nvSpPr>
        <p:spPr>
          <a:xfrm>
            <a:off x="1333500" y="3365500"/>
            <a:ext cx="101727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>
                <a:solidFill>
                  <a:srgbClr val="235DB5"/>
                </a:solidFill>
                <a:latin typeface="Microsoft JhengHei"/>
                <a:ea typeface="Microsoft JhengHei"/>
                <a:hlinkClick r:id="rId2"/>
              </a:rPr>
              <a:t>https://doi.org/10.1613/jair.301</a:t>
            </a:r>
            <a:endParaRPr lang="zh-TW" sz="1800"/>
          </a:p>
        </p:txBody>
      </p:sp>
      <p:sp>
        <p:nvSpPr>
          <p:cNvPr id="7" name="text_7"/>
          <p:cNvSpPr txBox="1"/>
          <p:nvPr/>
        </p:nvSpPr>
        <p:spPr>
          <a:xfrm>
            <a:off x="685800" y="3987800"/>
            <a:ext cx="5334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[2]</a:t>
            </a:r>
            <a:endParaRPr lang="zh-TW" sz="2100"/>
          </a:p>
        </p:txBody>
      </p:sp>
      <p:sp>
        <p:nvSpPr>
          <p:cNvPr id="8" name="text_8"/>
          <p:cNvSpPr txBox="1"/>
          <p:nvPr/>
        </p:nvSpPr>
        <p:spPr>
          <a:xfrm>
            <a:off x="1333500" y="3987800"/>
            <a:ext cx="101727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Watkins, C. J. C. H., &amp; Dayan, P. (1992).</a:t>
            </a:r>
            <a:endParaRPr lang="zh-TW" sz="1900"/>
          </a:p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Q-learning.</a:t>
            </a:r>
            <a:endParaRPr lang="zh-TW" sz="1900"/>
          </a:p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Machine Learning, 8, 279–292.</a:t>
            </a:r>
            <a:endParaRPr lang="zh-TW" sz="1900"/>
          </a:p>
        </p:txBody>
      </p:sp>
      <p:sp>
        <p:nvSpPr>
          <p:cNvPr id="9" name="text_9"/>
          <p:cNvSpPr txBox="1"/>
          <p:nvPr/>
        </p:nvSpPr>
        <p:spPr>
          <a:xfrm>
            <a:off x="1333500" y="5753100"/>
            <a:ext cx="101727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>
                <a:solidFill>
                  <a:srgbClr val="235DB5"/>
                </a:solidFill>
                <a:latin typeface="Microsoft JhengHei"/>
                <a:ea typeface="Microsoft JhengHei"/>
                <a:hlinkClick r:id="rId3"/>
              </a:rPr>
              <a:t>https://doi.org/10.1007/BF00992698</a:t>
            </a:r>
            <a:endParaRPr lang="zh-TW"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"/>
          <p:cNvSpPr txBox="1"/>
          <p:nvPr/>
        </p:nvSpPr>
        <p:spPr>
          <a:xfrm>
            <a:off x="685800" y="457200"/>
            <a:ext cx="108204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936"/>
              </a:lnSpc>
              <a:spcAft>
                <a:spcPts val="0"/>
              </a:spcAft>
            </a:pPr>
            <a:r>
              <a:rPr lang="zh-TW" altLang="en-US" sz="3200" b="1" dirty="0">
                <a:solidFill>
                  <a:srgbClr val="172536"/>
                </a:solidFill>
                <a:latin typeface="Microsoft JhengHei"/>
                <a:ea typeface="Microsoft JhengHei"/>
              </a:rPr>
              <a:t>參考文獻</a:t>
            </a:r>
            <a:endParaRPr lang="zh-TW" sz="3200" dirty="0"/>
          </a:p>
        </p:txBody>
      </p:sp>
      <p:sp>
        <p:nvSpPr>
          <p:cNvPr id="3" name="text_3"/>
          <p:cNvSpPr txBox="1">
            <a:spLocks noGrp="1"/>
          </p:cNvSpPr>
          <p:nvPr>
            <p:ph type="sldNum" idx="12"/>
          </p:nvPr>
        </p:nvSpPr>
        <p:spPr>
          <a:xfrm>
            <a:off x="11049000" y="6400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22"/>
              </a:lnSpc>
              <a:spcAft>
                <a:spcPts val="0"/>
              </a:spcAft>
            </a:pPr>
            <a:fld id="{C0A5B9CF-10D5-449C-96BF-96F6E6BA5708}" type="slidenum">
              <a:rPr lang="zh-TW" altLang="en-US" sz="1400" b="0">
                <a:solidFill>
                  <a:srgbClr val="536273"/>
                </a:solidFill>
                <a:latin typeface="Microsoft JhengHei"/>
                <a:ea typeface="Microsoft JhengHei"/>
              </a:rPr>
              <a:t>34</a:t>
            </a:fld>
            <a:endParaRPr lang="zh-TW" sz="1400"/>
          </a:p>
        </p:txBody>
      </p:sp>
      <p:sp>
        <p:nvSpPr>
          <p:cNvPr id="4" name="text_4"/>
          <p:cNvSpPr txBox="1"/>
          <p:nvPr/>
        </p:nvSpPr>
        <p:spPr>
          <a:xfrm>
            <a:off x="685800" y="1600200"/>
            <a:ext cx="5334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83"/>
              </a:lnSpc>
              <a:spcAft>
                <a:spcPts val="0"/>
              </a:spcAft>
            </a:pPr>
            <a:r>
              <a:rPr lang="zh-TW" altLang="en-US" sz="2100" b="1">
                <a:solidFill>
                  <a:srgbClr val="235DB5"/>
                </a:solidFill>
                <a:latin typeface="Microsoft JhengHei"/>
                <a:ea typeface="Microsoft JhengHei"/>
              </a:rPr>
              <a:t>[3]</a:t>
            </a:r>
            <a:endParaRPr lang="zh-TW" sz="2100"/>
          </a:p>
        </p:txBody>
      </p:sp>
      <p:sp>
        <p:nvSpPr>
          <p:cNvPr id="5" name="text_5"/>
          <p:cNvSpPr txBox="1"/>
          <p:nvPr/>
        </p:nvSpPr>
        <p:spPr>
          <a:xfrm>
            <a:off x="1333500" y="1600200"/>
            <a:ext cx="101727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Mnih, V., et al. (2015).</a:t>
            </a:r>
            <a:endParaRPr lang="zh-TW" sz="1900"/>
          </a:p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Human-level control through deep reinforcement learning.</a:t>
            </a:r>
            <a:endParaRPr lang="zh-TW" sz="1900"/>
          </a:p>
          <a:p>
            <a:pPr algn="l">
              <a:lnSpc>
                <a:spcPts val="2337"/>
              </a:lnSpc>
              <a:spcAft>
                <a:spcPts val="0"/>
              </a:spcAft>
            </a:pPr>
            <a:r>
              <a:rPr lang="zh-TW" altLang="en-US" sz="1900" b="0">
                <a:solidFill>
                  <a:srgbClr val="172536"/>
                </a:solidFill>
                <a:latin typeface="Microsoft JhengHei"/>
                <a:ea typeface="Microsoft JhengHei"/>
              </a:rPr>
              <a:t>Nature, 518, 529–533.</a:t>
            </a:r>
            <a:endParaRPr lang="zh-TW" sz="1900"/>
          </a:p>
        </p:txBody>
      </p:sp>
      <p:sp>
        <p:nvSpPr>
          <p:cNvPr id="6" name="text_6"/>
          <p:cNvSpPr txBox="1"/>
          <p:nvPr/>
        </p:nvSpPr>
        <p:spPr>
          <a:xfrm>
            <a:off x="1333500" y="3365500"/>
            <a:ext cx="101727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14"/>
              </a:lnSpc>
              <a:spcAft>
                <a:spcPts val="0"/>
              </a:spcAft>
            </a:pPr>
            <a:r>
              <a:rPr lang="zh-TW" altLang="en-US" sz="1800" b="0" dirty="0">
                <a:solidFill>
                  <a:srgbClr val="235DB5"/>
                </a:solidFill>
                <a:latin typeface="Microsoft JhengHei"/>
                <a:ea typeface="Microsoft JhengHei"/>
                <a:hlinkClick r:id="rId2"/>
              </a:rPr>
              <a:t>https://doi.org/10.1038/nature14236</a:t>
            </a:r>
            <a:endParaRPr lang="zh-TW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2668</Words>
  <Application>Microsoft Office PowerPoint</Application>
  <PresentationFormat>寬螢幕</PresentationFormat>
  <Paragraphs>381</Paragraphs>
  <Slides>34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9" baseType="lpstr">
      <vt:lpstr>Microsoft JhengHei</vt:lpstr>
      <vt:lpstr>Arial</vt:lpstr>
      <vt:lpstr>Calibri</vt:lpstr>
      <vt:lpstr>Cambria Math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深度強化學習於多機器人系統學習與控制</dc:title>
  <dc:creator>Oki dai</dc:creator>
  <cp:lastModifiedBy>Oki dai</cp:lastModifiedBy>
  <cp:revision>6</cp:revision>
  <dcterms:created xsi:type="dcterms:W3CDTF">2026-10-15T04:23:33Z</dcterms:created>
  <dcterms:modified xsi:type="dcterms:W3CDTF">2026-10-25T15:32:48Z</dcterms:modified>
</cp:coreProperties>
</file>