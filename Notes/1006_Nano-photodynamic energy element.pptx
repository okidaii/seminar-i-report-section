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5"/>
  </p:notesMasterIdLst>
  <p:handoutMasterIdLst>
    <p:handoutMasterId r:id="rId16"/>
  </p:handoutMasterIdLst>
  <p:sldIdLst>
    <p:sldId id="284" r:id="rId2"/>
    <p:sldId id="389" r:id="rId3"/>
    <p:sldId id="446" r:id="rId4"/>
    <p:sldId id="452" r:id="rId5"/>
    <p:sldId id="530" r:id="rId6"/>
    <p:sldId id="541" r:id="rId7"/>
    <p:sldId id="547" r:id="rId8"/>
    <p:sldId id="548" r:id="rId9"/>
    <p:sldId id="531" r:id="rId10"/>
    <p:sldId id="543" r:id="rId11"/>
    <p:sldId id="544" r:id="rId12"/>
    <p:sldId id="545" r:id="rId13"/>
    <p:sldId id="265"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頭 芋" initials="頭" lastIdx="1" clrIdx="0">
    <p:extLst>
      <p:ext uri="{19B8F6BF-5375-455C-9EA6-DF929625EA0E}">
        <p15:presenceInfo xmlns:p15="http://schemas.microsoft.com/office/powerpoint/2012/main" userId="ea54bbee7b24dc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92D050"/>
    <a:srgbClr val="00B0F0"/>
    <a:srgbClr val="A7E4F9"/>
    <a:srgbClr val="E9ABEF"/>
    <a:srgbClr val="9966FF"/>
    <a:srgbClr val="0C0C0C"/>
    <a:srgbClr val="8FAADC"/>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等深淺樣式 3 - 輔色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0" autoAdjust="0"/>
    <p:restoredTop sz="87021" autoAdjust="0"/>
  </p:normalViewPr>
  <p:slideViewPr>
    <p:cSldViewPr snapToGrid="0">
      <p:cViewPr varScale="1">
        <p:scale>
          <a:sx n="96" d="100"/>
          <a:sy n="96" d="100"/>
        </p:scale>
        <p:origin x="1128" y="96"/>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142F4CBD-CDBF-889B-181E-5DA6F30299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77FC4326-5F44-30FC-57B0-9F09151AA7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96DC2A-8C08-46CB-B0AC-8A85B798D43A}" type="datetimeFigureOut">
              <a:rPr lang="zh-TW" altLang="en-US" smtClean="0"/>
              <a:t>2026/10/6</a:t>
            </a:fld>
            <a:endParaRPr lang="zh-TW" altLang="en-US"/>
          </a:p>
        </p:txBody>
      </p:sp>
      <p:sp>
        <p:nvSpPr>
          <p:cNvPr id="4" name="頁尾版面配置區 3">
            <a:extLst>
              <a:ext uri="{FF2B5EF4-FFF2-40B4-BE49-F238E27FC236}">
                <a16:creationId xmlns:a16="http://schemas.microsoft.com/office/drawing/2014/main" id="{05B129BB-56D9-D4F1-5C37-480271CD3A9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2A0AF85-34F4-3ABA-1C4E-58C7C613768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94F727-02A4-470A-9AAF-390F16553B58}" type="slidenum">
              <a:rPr lang="zh-TW" altLang="en-US" smtClean="0"/>
              <a:t>‹#›</a:t>
            </a:fld>
            <a:endParaRPr lang="zh-TW" altLang="en-US"/>
          </a:p>
        </p:txBody>
      </p:sp>
    </p:spTree>
    <p:extLst>
      <p:ext uri="{BB962C8B-B14F-4D97-AF65-F5344CB8AC3E}">
        <p14:creationId xmlns:p14="http://schemas.microsoft.com/office/powerpoint/2010/main" val="4143240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9B3DE7-9129-45A7-8751-D04716C26067}" type="datetimeFigureOut">
              <a:rPr lang="zh-TW" altLang="en-US" smtClean="0"/>
              <a:t>2026/10/6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CFD6F0-2D1B-4ADC-A920-0C559ABD6C9C}" type="slidenum">
              <a:rPr lang="zh-TW" altLang="en-US" smtClean="0"/>
              <a:t>‹#›</a:t>
            </a:fld>
            <a:endParaRPr lang="zh-TW" altLang="en-US"/>
          </a:p>
        </p:txBody>
      </p:sp>
    </p:spTree>
    <p:extLst>
      <p:ext uri="{BB962C8B-B14F-4D97-AF65-F5344CB8AC3E}">
        <p14:creationId xmlns:p14="http://schemas.microsoft.com/office/powerpoint/2010/main" val="68423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1</a:t>
            </a:fld>
            <a:endParaRPr lang="zh-TW" altLang="en-US"/>
          </a:p>
        </p:txBody>
      </p:sp>
    </p:spTree>
    <p:extLst>
      <p:ext uri="{BB962C8B-B14F-4D97-AF65-F5344CB8AC3E}">
        <p14:creationId xmlns:p14="http://schemas.microsoft.com/office/powerpoint/2010/main" val="76648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3</a:t>
            </a:fld>
            <a:endParaRPr lang="zh-TW" altLang="en-US"/>
          </a:p>
        </p:txBody>
      </p:sp>
    </p:spTree>
    <p:extLst>
      <p:ext uri="{BB962C8B-B14F-4D97-AF65-F5344CB8AC3E}">
        <p14:creationId xmlns:p14="http://schemas.microsoft.com/office/powerpoint/2010/main" val="3268603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5</a:t>
            </a:fld>
            <a:endParaRPr lang="zh-TW" altLang="en-US"/>
          </a:p>
        </p:txBody>
      </p:sp>
    </p:spTree>
    <p:extLst>
      <p:ext uri="{BB962C8B-B14F-4D97-AF65-F5344CB8AC3E}">
        <p14:creationId xmlns:p14="http://schemas.microsoft.com/office/powerpoint/2010/main" val="2673992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6</a:t>
            </a:fld>
            <a:endParaRPr lang="zh-TW" altLang="en-US"/>
          </a:p>
        </p:txBody>
      </p:sp>
    </p:spTree>
    <p:extLst>
      <p:ext uri="{BB962C8B-B14F-4D97-AF65-F5344CB8AC3E}">
        <p14:creationId xmlns:p14="http://schemas.microsoft.com/office/powerpoint/2010/main" val="197894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7</a:t>
            </a:fld>
            <a:endParaRPr lang="zh-TW" altLang="en-US"/>
          </a:p>
        </p:txBody>
      </p:sp>
    </p:spTree>
    <p:extLst>
      <p:ext uri="{BB962C8B-B14F-4D97-AF65-F5344CB8AC3E}">
        <p14:creationId xmlns:p14="http://schemas.microsoft.com/office/powerpoint/2010/main" val="2864465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9</a:t>
            </a:fld>
            <a:endParaRPr lang="zh-TW" altLang="en-US"/>
          </a:p>
        </p:txBody>
      </p:sp>
    </p:spTree>
    <p:extLst>
      <p:ext uri="{BB962C8B-B14F-4D97-AF65-F5344CB8AC3E}">
        <p14:creationId xmlns:p14="http://schemas.microsoft.com/office/powerpoint/2010/main" val="2993063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10</a:t>
            </a:fld>
            <a:endParaRPr lang="zh-TW" altLang="en-US"/>
          </a:p>
        </p:txBody>
      </p:sp>
    </p:spTree>
    <p:extLst>
      <p:ext uri="{BB962C8B-B14F-4D97-AF65-F5344CB8AC3E}">
        <p14:creationId xmlns:p14="http://schemas.microsoft.com/office/powerpoint/2010/main" val="1367382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11</a:t>
            </a:fld>
            <a:endParaRPr lang="zh-TW" altLang="en-US"/>
          </a:p>
        </p:txBody>
      </p:sp>
    </p:spTree>
    <p:extLst>
      <p:ext uri="{BB962C8B-B14F-4D97-AF65-F5344CB8AC3E}">
        <p14:creationId xmlns:p14="http://schemas.microsoft.com/office/powerpoint/2010/main" val="491633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Font typeface="Arial" panose="020B0604020202020204" pitchFamily="34" charset="0"/>
              <a:buNone/>
            </a:pPr>
            <a:endParaRPr lang="en-US" altLang="zh-TW"/>
          </a:p>
        </p:txBody>
      </p:sp>
      <p:sp>
        <p:nvSpPr>
          <p:cNvPr id="4" name="投影片編號版面配置區 3"/>
          <p:cNvSpPr>
            <a:spLocks noGrp="1"/>
          </p:cNvSpPr>
          <p:nvPr>
            <p:ph type="sldNum" sz="quarter" idx="5"/>
          </p:nvPr>
        </p:nvSpPr>
        <p:spPr/>
        <p:txBody>
          <a:bodyPr/>
          <a:lstStyle/>
          <a:p>
            <a:fld id="{86CFD6F0-2D1B-4ADC-A920-0C559ABD6C9C}" type="slidenum">
              <a:rPr lang="zh-TW" altLang="en-US" smtClean="0"/>
              <a:t>12</a:t>
            </a:fld>
            <a:endParaRPr lang="zh-TW" altLang="en-US"/>
          </a:p>
        </p:txBody>
      </p:sp>
    </p:spTree>
    <p:extLst>
      <p:ext uri="{BB962C8B-B14F-4D97-AF65-F5344CB8AC3E}">
        <p14:creationId xmlns:p14="http://schemas.microsoft.com/office/powerpoint/2010/main" val="1993304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897023-E6AF-F51A-4C56-B31C1AA9817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C6FE30D-EF9C-4D74-570C-DD357BB724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826D0C6E-D82F-9D20-F01E-17F3280F619B}"/>
              </a:ext>
            </a:extLst>
          </p:cNvPr>
          <p:cNvSpPr>
            <a:spLocks noGrp="1"/>
          </p:cNvSpPr>
          <p:nvPr>
            <p:ph type="dt" sz="half" idx="10"/>
          </p:nvPr>
        </p:nvSpPr>
        <p:spPr/>
        <p:txBody>
          <a:bodyPr/>
          <a:lstStyle/>
          <a:p>
            <a:fld id="{B1CA8DEE-7FDD-4340-B660-1D6F7691C8F2}" type="datetime1">
              <a:rPr lang="zh-CN" altLang="en-US" smtClean="0"/>
              <a:t>2026/10/6</a:t>
            </a:fld>
            <a:endParaRPr lang="zh-TW" altLang="en-US"/>
          </a:p>
        </p:txBody>
      </p:sp>
      <p:sp>
        <p:nvSpPr>
          <p:cNvPr id="5" name="頁尾版面配置區 4">
            <a:extLst>
              <a:ext uri="{FF2B5EF4-FFF2-40B4-BE49-F238E27FC236}">
                <a16:creationId xmlns:a16="http://schemas.microsoft.com/office/drawing/2014/main" id="{37CC2FAA-5407-99B7-4014-E3F6FC26C8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93B54F3-7ECD-1A53-2BEF-38B6851AD574}"/>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1058214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EDD6064-51B4-E1BB-BADF-F2E8E75EB488}"/>
              </a:ext>
            </a:extLst>
          </p:cNvPr>
          <p:cNvSpPr>
            <a:spLocks noGrp="1"/>
          </p:cNvSpPr>
          <p:nvPr>
            <p:ph idx="1"/>
          </p:nvPr>
        </p:nvSpPr>
        <p:spPr>
          <a:xfrm>
            <a:off x="838200" y="1338544"/>
            <a:ext cx="10515600" cy="4838419"/>
          </a:xfrm>
        </p:spPr>
        <p:txBody>
          <a:bodyPr>
            <a:normAutofit/>
          </a:bodyPr>
          <a:lstStyle>
            <a:lvl1pPr marL="228600" indent="-228600">
              <a:buFontTx/>
              <a:buBlip>
                <a:blip r:embed="rId2"/>
              </a:buBlip>
              <a:defRPr lang="zh-TW" altLang="en-US" sz="2400" b="0" kern="1200" baseline="0" dirty="0">
                <a:solidFill>
                  <a:schemeClr val="tx1"/>
                </a:solidFill>
                <a:latin typeface="Noto Sans TC" panose="020B0500000000000000"/>
                <a:ea typeface="標楷體" panose="03000509000000000000" pitchFamily="65" charset="-120"/>
                <a:cs typeface="+mn-cs"/>
              </a:defRPr>
            </a:lvl1pPr>
            <a:lvl2pPr marL="685800" indent="-228600">
              <a:buFontTx/>
              <a:buBlip>
                <a:blip r:embed="rId3"/>
              </a:buBlip>
              <a:defRPr lang="zh-TW" altLang="en-US" sz="2000" b="0" kern="1200" baseline="0" dirty="0">
                <a:solidFill>
                  <a:schemeClr val="tx1"/>
                </a:solidFill>
                <a:latin typeface="Noto Sans TC" panose="020B0500000000000000"/>
                <a:ea typeface="標楷體" panose="03000509000000000000" pitchFamily="65" charset="-120"/>
                <a:cs typeface="+mn-cs"/>
              </a:defRPr>
            </a:lvl2pPr>
            <a:lvl3pPr marL="1143000" indent="-228600">
              <a:buFontTx/>
              <a:buBlip>
                <a:blip r:embed="rId4"/>
              </a:buBlip>
              <a:defRPr lang="zh-TW" altLang="en-US" sz="1800" b="0" kern="1200" baseline="0" dirty="0">
                <a:solidFill>
                  <a:schemeClr val="tx1"/>
                </a:solidFill>
                <a:latin typeface="Noto Sans TC" panose="020B0500000000000000"/>
                <a:ea typeface="標楷體" panose="03000509000000000000" pitchFamily="65" charset="-120"/>
                <a:cs typeface="+mn-cs"/>
              </a:defRPr>
            </a:lvl3pPr>
            <a:lvl4pPr marL="1600200" indent="-228600">
              <a:buFontTx/>
              <a:buBlip>
                <a:blip r:embed="rId5"/>
              </a:buBlip>
              <a:defRPr lang="zh-TW" altLang="en-US" sz="1800" b="0" kern="1200" baseline="0" dirty="0">
                <a:solidFill>
                  <a:schemeClr val="tx1"/>
                </a:solidFill>
                <a:latin typeface="Noto Sans TC" panose="020B0500000000000000"/>
                <a:ea typeface="標楷體" panose="03000509000000000000" pitchFamily="65" charset="-120"/>
                <a:cs typeface="+mn-cs"/>
              </a:defRPr>
            </a:lvl4pPr>
            <a:lvl5pPr marL="2057400" indent="-228600">
              <a:buFontTx/>
              <a:buBlip>
                <a:blip r:embed="rId6"/>
              </a:buBlip>
              <a:defRPr lang="zh-TW" altLang="en-US" sz="1800" b="0" kern="1200" baseline="0" dirty="0">
                <a:solidFill>
                  <a:schemeClr val="tx1"/>
                </a:solidFill>
                <a:latin typeface="Noto Sans TC" panose="020B0500000000000000"/>
                <a:ea typeface="標楷體" panose="03000509000000000000" pitchFamily="65" charset="-120"/>
                <a:cs typeface="+mn-cs"/>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a:extLst>
              <a:ext uri="{FF2B5EF4-FFF2-40B4-BE49-F238E27FC236}">
                <a16:creationId xmlns:a16="http://schemas.microsoft.com/office/drawing/2014/main" id="{D7EC7A5E-6C39-3C29-29C2-2C9AD405FD2B}"/>
              </a:ext>
            </a:extLst>
          </p:cNvPr>
          <p:cNvSpPr>
            <a:spLocks noGrp="1"/>
          </p:cNvSpPr>
          <p:nvPr>
            <p:ph type="dt" sz="half" idx="10"/>
          </p:nvPr>
        </p:nvSpPr>
        <p:spPr/>
        <p:txBody>
          <a:bodyPr/>
          <a:lstStyle/>
          <a:p>
            <a:fld id="{D78CF8A4-AF2A-4D4E-9B51-3178D5BC1227}" type="datetime1">
              <a:rPr lang="zh-CN" altLang="en-US" smtClean="0"/>
              <a:t>2026/10/6</a:t>
            </a:fld>
            <a:endParaRPr lang="zh-TW" altLang="en-US"/>
          </a:p>
        </p:txBody>
      </p:sp>
      <p:sp>
        <p:nvSpPr>
          <p:cNvPr id="5" name="頁尾版面配置區 4">
            <a:extLst>
              <a:ext uri="{FF2B5EF4-FFF2-40B4-BE49-F238E27FC236}">
                <a16:creationId xmlns:a16="http://schemas.microsoft.com/office/drawing/2014/main" id="{3BD504E1-3BC1-CF2A-57C2-300C4CD04C3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03E844F-67FF-04C4-AE70-764DCBFC47A4}"/>
              </a:ext>
            </a:extLst>
          </p:cNvPr>
          <p:cNvSpPr>
            <a:spLocks noGrp="1"/>
          </p:cNvSpPr>
          <p:nvPr>
            <p:ph type="sldNum" sz="quarter" idx="12"/>
          </p:nvPr>
        </p:nvSpPr>
        <p:spPr/>
        <p:txBody>
          <a:bodyPr/>
          <a:lstStyle>
            <a:lvl1pPr>
              <a:defRPr lang="zh-TW" altLang="en-US" sz="2000" kern="1200" smtClean="0">
                <a:solidFill>
                  <a:schemeClr val="tx1">
                    <a:lumMod val="65000"/>
                    <a:lumOff val="35000"/>
                  </a:schemeClr>
                </a:solidFill>
                <a:latin typeface="Yu Gothic UI Semibold" panose="020B0700000000000000" pitchFamily="34" charset="-128"/>
                <a:ea typeface="Yu Gothic UI Semibold" panose="020B0700000000000000" pitchFamily="34" charset="-128"/>
                <a:cs typeface="Segoe UI" panose="020B0502040204020203" pitchFamily="34" charset="0"/>
              </a:defRPr>
            </a:lvl1pPr>
          </a:lstStyle>
          <a:p>
            <a:fld id="{A6C4F607-EBAE-4F4B-BF62-778A00D92850}" type="slidenum">
              <a:rPr lang="en-US" altLang="zh-TW" smtClean="0"/>
              <a:pPr/>
              <a:t>‹#›</a:t>
            </a:fld>
            <a:endParaRPr lang="en-US" dirty="0"/>
          </a:p>
        </p:txBody>
      </p:sp>
      <p:grpSp>
        <p:nvGrpSpPr>
          <p:cNvPr id="7" name="组合 69">
            <a:extLst>
              <a:ext uri="{FF2B5EF4-FFF2-40B4-BE49-F238E27FC236}">
                <a16:creationId xmlns:a16="http://schemas.microsoft.com/office/drawing/2014/main" id="{E7FC2324-5CD9-5D60-4C24-FEF81532854D}"/>
              </a:ext>
            </a:extLst>
          </p:cNvPr>
          <p:cNvGrpSpPr/>
          <p:nvPr userDrawn="1"/>
        </p:nvGrpSpPr>
        <p:grpSpPr>
          <a:xfrm>
            <a:off x="-6508" y="0"/>
            <a:ext cx="1501840" cy="1200863"/>
            <a:chOff x="-259891" y="-1"/>
            <a:chExt cx="1501840" cy="1200863"/>
          </a:xfrm>
        </p:grpSpPr>
        <p:sp>
          <p:nvSpPr>
            <p:cNvPr id="8" name="图文框 70">
              <a:extLst>
                <a:ext uri="{FF2B5EF4-FFF2-40B4-BE49-F238E27FC236}">
                  <a16:creationId xmlns:a16="http://schemas.microsoft.com/office/drawing/2014/main" id="{F547B038-3577-DE64-785C-16002FAEA9E1}"/>
                </a:ext>
              </a:extLst>
            </p:cNvPr>
            <p:cNvSpPr/>
            <p:nvPr/>
          </p:nvSpPr>
          <p:spPr>
            <a:xfrm>
              <a:off x="269620" y="258143"/>
              <a:ext cx="822256" cy="822256"/>
            </a:xfrm>
            <a:prstGeom prst="frame">
              <a:avLst>
                <a:gd name="adj1" fmla="val 240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9" name="图片 71">
              <a:extLst>
                <a:ext uri="{FF2B5EF4-FFF2-40B4-BE49-F238E27FC236}">
                  <a16:creationId xmlns:a16="http://schemas.microsoft.com/office/drawing/2014/main" id="{6B640C1A-B4C1-70A5-2CA5-7ED10F677EF8}"/>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l="28398"/>
            <a:stretch>
              <a:fillRect/>
            </a:stretch>
          </p:blipFill>
          <p:spPr>
            <a:xfrm rot="5400000">
              <a:off x="-109403" y="-150489"/>
              <a:ext cx="1200863" cy="1501840"/>
            </a:xfrm>
            <a:prstGeom prst="rect">
              <a:avLst/>
            </a:prstGeom>
          </p:spPr>
        </p:pic>
      </p:grpSp>
      <p:sp>
        <p:nvSpPr>
          <p:cNvPr id="19" name="文字版面配置區 18">
            <a:extLst>
              <a:ext uri="{FF2B5EF4-FFF2-40B4-BE49-F238E27FC236}">
                <a16:creationId xmlns:a16="http://schemas.microsoft.com/office/drawing/2014/main" id="{77583E69-A175-505C-18EA-C907958635D5}"/>
              </a:ext>
            </a:extLst>
          </p:cNvPr>
          <p:cNvSpPr>
            <a:spLocks noGrp="1"/>
          </p:cNvSpPr>
          <p:nvPr>
            <p:ph type="body" sz="quarter" idx="13"/>
          </p:nvPr>
        </p:nvSpPr>
        <p:spPr>
          <a:xfrm>
            <a:off x="621102" y="400049"/>
            <a:ext cx="724157" cy="621427"/>
          </a:xfrm>
        </p:spPr>
        <p:txBody>
          <a:bodyPr/>
          <a:lstStyle>
            <a:lvl1pPr marL="0" indent="0">
              <a:buNone/>
              <a:defRPr sz="3600" baseline="0">
                <a:latin typeface="Impact" panose="020B0806030902050204" pitchFamily="34" charset="0"/>
                <a:ea typeface="標楷體" panose="03000509000000000000" pitchFamily="65" charset="-120"/>
              </a:defRPr>
            </a:lvl1pPr>
            <a:lvl3pPr marL="914400" indent="0">
              <a:buNone/>
              <a:defRPr>
                <a:latin typeface="Yu Gothic UI Semibold" panose="020B0700000000000000" pitchFamily="34" charset="-128"/>
                <a:ea typeface="Yu Gothic UI Semibold" panose="020B0700000000000000" pitchFamily="34" charset="-128"/>
              </a:defRPr>
            </a:lvl3pPr>
            <a:lvl4pPr marL="1371600" indent="0">
              <a:buNone/>
              <a:defRPr>
                <a:latin typeface="Yu Gothic UI Semibold" panose="020B0700000000000000" pitchFamily="34" charset="-128"/>
                <a:ea typeface="Yu Gothic UI Semibold" panose="020B0700000000000000" pitchFamily="34" charset="-128"/>
              </a:defRPr>
            </a:lvl4pPr>
            <a:lvl5pPr marL="1828800" indent="0">
              <a:buNone/>
              <a:defRPr>
                <a:latin typeface="Yu Gothic UI Semibold" panose="020B0700000000000000" pitchFamily="34" charset="-128"/>
                <a:ea typeface="Yu Gothic UI Semibold" panose="020B0700000000000000" pitchFamily="34" charset="-128"/>
              </a:defRPr>
            </a:lvl5pPr>
          </a:lstStyle>
          <a:p>
            <a:pPr lvl="0"/>
            <a:endParaRPr lang="zh-TW" altLang="en-US" dirty="0"/>
          </a:p>
        </p:txBody>
      </p:sp>
      <p:sp>
        <p:nvSpPr>
          <p:cNvPr id="21" name="內容版面配置區 20">
            <a:extLst>
              <a:ext uri="{FF2B5EF4-FFF2-40B4-BE49-F238E27FC236}">
                <a16:creationId xmlns:a16="http://schemas.microsoft.com/office/drawing/2014/main" id="{07743784-288B-9EBE-D190-D8B747E140A7}"/>
              </a:ext>
            </a:extLst>
          </p:cNvPr>
          <p:cNvSpPr>
            <a:spLocks noGrp="1"/>
          </p:cNvSpPr>
          <p:nvPr>
            <p:ph sz="quarter" idx="14"/>
          </p:nvPr>
        </p:nvSpPr>
        <p:spPr>
          <a:xfrm>
            <a:off x="1443358" y="460690"/>
            <a:ext cx="9910442" cy="553245"/>
          </a:xfrm>
        </p:spPr>
        <p:txBody>
          <a:bodyPr/>
          <a:lstStyle>
            <a:lvl1pPr marL="0" indent="0">
              <a:buNone/>
              <a:defRPr sz="2800">
                <a:latin typeface="Yu Gothic UI Semibold" panose="020B0700000000000000" pitchFamily="34" charset="-128"/>
                <a:ea typeface="Yu Gothic UI Semibold" panose="020B0700000000000000" pitchFamily="34" charset="-128"/>
              </a:defRPr>
            </a:lvl1pPr>
            <a:lvl2pPr marL="457200" indent="0">
              <a:buNone/>
              <a:defRPr sz="2400"/>
            </a:lvl2pPr>
            <a:lvl3pPr marL="914400" indent="0">
              <a:buNone/>
              <a:defRPr/>
            </a:lvl3pPr>
            <a:lvl4pPr marL="1371600" indent="0">
              <a:buNone/>
              <a:defRPr/>
            </a:lvl4pPr>
            <a:lvl5pPr marL="1828800" indent="0">
              <a:buNone/>
              <a:defRPr/>
            </a:lvl5pPr>
          </a:lstStyle>
          <a:p>
            <a:pPr lvl="0"/>
            <a:r>
              <a:rPr lang="zh-TW" altLang="en-US" dirty="0"/>
              <a:t>按一下以編輯母片</a:t>
            </a:r>
            <a:r>
              <a:rPr lang="zh-TW" altLang="en-US"/>
              <a:t>文字樣式</a:t>
            </a:r>
            <a:endParaRPr lang="zh-TW" altLang="en-US" dirty="0"/>
          </a:p>
        </p:txBody>
      </p:sp>
    </p:spTree>
    <p:extLst>
      <p:ext uri="{BB962C8B-B14F-4D97-AF65-F5344CB8AC3E}">
        <p14:creationId xmlns:p14="http://schemas.microsoft.com/office/powerpoint/2010/main" val="2274484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950263-887A-6192-0006-7D07E7BDD54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5685CEF-E57D-FBE0-79BF-1EC7D90455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0147C377-302E-924C-5672-7303CDA6A16B}"/>
              </a:ext>
            </a:extLst>
          </p:cNvPr>
          <p:cNvSpPr>
            <a:spLocks noGrp="1"/>
          </p:cNvSpPr>
          <p:nvPr>
            <p:ph type="dt" sz="half" idx="10"/>
          </p:nvPr>
        </p:nvSpPr>
        <p:spPr/>
        <p:txBody>
          <a:bodyPr/>
          <a:lstStyle/>
          <a:p>
            <a:fld id="{646D6069-CE43-448A-87B7-AC01F0325C7F}" type="datetime1">
              <a:rPr lang="zh-CN" altLang="en-US" smtClean="0"/>
              <a:t>2026/10/6</a:t>
            </a:fld>
            <a:endParaRPr lang="zh-TW" altLang="en-US"/>
          </a:p>
        </p:txBody>
      </p:sp>
      <p:sp>
        <p:nvSpPr>
          <p:cNvPr id="5" name="頁尾版面配置區 4">
            <a:extLst>
              <a:ext uri="{FF2B5EF4-FFF2-40B4-BE49-F238E27FC236}">
                <a16:creationId xmlns:a16="http://schemas.microsoft.com/office/drawing/2014/main" id="{49ADA280-5099-DCDE-1589-78E52F56F0E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CB00827-FD48-0746-A7E2-53EBBAEEEA26}"/>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1826414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205BD-76E4-2535-57BE-A2D59043E8B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B6B4B5F-F9D8-B168-76C3-B8530C0820C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51D563B-A93E-E8D6-49E7-34AEA00E0805}"/>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16EE00D-9005-6974-7714-0AA2FBF4C725}"/>
              </a:ext>
            </a:extLst>
          </p:cNvPr>
          <p:cNvSpPr>
            <a:spLocks noGrp="1"/>
          </p:cNvSpPr>
          <p:nvPr>
            <p:ph type="dt" sz="half" idx="10"/>
          </p:nvPr>
        </p:nvSpPr>
        <p:spPr/>
        <p:txBody>
          <a:bodyPr/>
          <a:lstStyle/>
          <a:p>
            <a:fld id="{5BCFBBA1-D63F-473D-804B-6506B6C6D37F}" type="datetime1">
              <a:rPr lang="zh-CN" altLang="en-US" smtClean="0"/>
              <a:t>2026/10/6</a:t>
            </a:fld>
            <a:endParaRPr lang="zh-TW" altLang="en-US"/>
          </a:p>
        </p:txBody>
      </p:sp>
      <p:sp>
        <p:nvSpPr>
          <p:cNvPr id="6" name="頁尾版面配置區 5">
            <a:extLst>
              <a:ext uri="{FF2B5EF4-FFF2-40B4-BE49-F238E27FC236}">
                <a16:creationId xmlns:a16="http://schemas.microsoft.com/office/drawing/2014/main" id="{F947DF0B-0DEA-D991-7509-E999E0143A0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BFEB125-1055-2A89-9F0C-44E52A733D46}"/>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1774588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35C7B-C306-4CEC-3B71-97D43F9CBAC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F04B253-24FC-BFC9-6BD9-36C626E521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48871199-9225-6097-FFD0-54C32109A79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DDFA38B-59B9-9336-CBE7-B5F587A70C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40AB019E-7208-8F8F-1F12-23FD07F69CD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0613BE6-3352-1046-53E4-F417303D28AE}"/>
              </a:ext>
            </a:extLst>
          </p:cNvPr>
          <p:cNvSpPr>
            <a:spLocks noGrp="1"/>
          </p:cNvSpPr>
          <p:nvPr>
            <p:ph type="dt" sz="half" idx="10"/>
          </p:nvPr>
        </p:nvSpPr>
        <p:spPr/>
        <p:txBody>
          <a:bodyPr/>
          <a:lstStyle/>
          <a:p>
            <a:fld id="{A6E56CB7-C9F2-4039-B61D-7255A5437C4E}" type="datetime1">
              <a:rPr lang="zh-CN" altLang="en-US" smtClean="0"/>
              <a:t>2026/10/6</a:t>
            </a:fld>
            <a:endParaRPr lang="zh-TW" altLang="en-US"/>
          </a:p>
        </p:txBody>
      </p:sp>
      <p:sp>
        <p:nvSpPr>
          <p:cNvPr id="8" name="頁尾版面配置區 7">
            <a:extLst>
              <a:ext uri="{FF2B5EF4-FFF2-40B4-BE49-F238E27FC236}">
                <a16:creationId xmlns:a16="http://schemas.microsoft.com/office/drawing/2014/main" id="{12B41862-C707-8AE2-19F3-95814F4343B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32AD494-E488-C42F-4DF6-D7A3179B8C9F}"/>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3064019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3" name="日期版面配置區 2">
            <a:extLst>
              <a:ext uri="{FF2B5EF4-FFF2-40B4-BE49-F238E27FC236}">
                <a16:creationId xmlns:a16="http://schemas.microsoft.com/office/drawing/2014/main" id="{1D761D6D-68EE-79FC-2D99-3E130CBE9A17}"/>
              </a:ext>
            </a:extLst>
          </p:cNvPr>
          <p:cNvSpPr>
            <a:spLocks noGrp="1"/>
          </p:cNvSpPr>
          <p:nvPr>
            <p:ph type="dt" sz="half" idx="10"/>
          </p:nvPr>
        </p:nvSpPr>
        <p:spPr/>
        <p:txBody>
          <a:bodyPr/>
          <a:lstStyle/>
          <a:p>
            <a:fld id="{C2355D34-6BBF-43CB-9103-199F94C41776}" type="datetime1">
              <a:rPr lang="zh-CN" altLang="en-US" smtClean="0"/>
              <a:t>2026/10/6</a:t>
            </a:fld>
            <a:endParaRPr lang="zh-TW" altLang="en-US"/>
          </a:p>
        </p:txBody>
      </p:sp>
      <p:sp>
        <p:nvSpPr>
          <p:cNvPr id="4" name="頁尾版面配置區 3">
            <a:extLst>
              <a:ext uri="{FF2B5EF4-FFF2-40B4-BE49-F238E27FC236}">
                <a16:creationId xmlns:a16="http://schemas.microsoft.com/office/drawing/2014/main" id="{D92CBFFA-7257-70F7-359B-9E216A26DC9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4D702D5-B7DB-1B35-39DA-7FAF83B8716D}"/>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2390283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5594AD4-4397-3535-0F06-30B856B32241}"/>
              </a:ext>
            </a:extLst>
          </p:cNvPr>
          <p:cNvSpPr>
            <a:spLocks noGrp="1"/>
          </p:cNvSpPr>
          <p:nvPr>
            <p:ph type="dt" sz="half" idx="10"/>
          </p:nvPr>
        </p:nvSpPr>
        <p:spPr/>
        <p:txBody>
          <a:bodyPr/>
          <a:lstStyle/>
          <a:p>
            <a:fld id="{2D353DF1-F7C7-49D4-BC5A-4FF6C5AFEEAB}" type="datetime1">
              <a:rPr lang="zh-CN" altLang="en-US" smtClean="0"/>
              <a:t>2026/10/6</a:t>
            </a:fld>
            <a:endParaRPr lang="zh-TW" altLang="en-US"/>
          </a:p>
        </p:txBody>
      </p:sp>
      <p:sp>
        <p:nvSpPr>
          <p:cNvPr id="3" name="頁尾版面配置區 2">
            <a:extLst>
              <a:ext uri="{FF2B5EF4-FFF2-40B4-BE49-F238E27FC236}">
                <a16:creationId xmlns:a16="http://schemas.microsoft.com/office/drawing/2014/main" id="{3168AA73-D0CA-208D-7B52-A53EB0B472A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EEA6999-4C3A-5B8A-8F1A-DEF7044576E8}"/>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2612789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6FF409-57C6-396A-747C-535039F0E9E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F725C5C-56B9-3E30-1EA1-A85680B6FA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CAB0368-5A3A-E45D-118D-AB69D761EE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7C6A42-677A-02A3-FE1F-98593304CD9C}"/>
              </a:ext>
            </a:extLst>
          </p:cNvPr>
          <p:cNvSpPr>
            <a:spLocks noGrp="1"/>
          </p:cNvSpPr>
          <p:nvPr>
            <p:ph type="dt" sz="half" idx="10"/>
          </p:nvPr>
        </p:nvSpPr>
        <p:spPr/>
        <p:txBody>
          <a:bodyPr/>
          <a:lstStyle/>
          <a:p>
            <a:fld id="{769ABF7D-2347-4FE0-9200-B62D284906B3}" type="datetime1">
              <a:rPr lang="zh-CN" altLang="en-US" smtClean="0"/>
              <a:t>2026/10/6</a:t>
            </a:fld>
            <a:endParaRPr lang="zh-TW" altLang="en-US"/>
          </a:p>
        </p:txBody>
      </p:sp>
      <p:sp>
        <p:nvSpPr>
          <p:cNvPr id="6" name="頁尾版面配置區 5">
            <a:extLst>
              <a:ext uri="{FF2B5EF4-FFF2-40B4-BE49-F238E27FC236}">
                <a16:creationId xmlns:a16="http://schemas.microsoft.com/office/drawing/2014/main" id="{DC5E0AD0-8D85-B67E-8D79-FD7C42950DF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FA9480-20D1-BCE2-A3B2-9FEDE80BAEEF}"/>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3207842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AEC3FF-0DD4-DAEC-0419-3C3FB9670DC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31A1A57-E08F-E58D-F8B1-86EB650C22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B2F093A-EEBA-C158-A039-29AB5096A8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F3D9762-74C9-55C2-7F92-A7B9316B549F}"/>
              </a:ext>
            </a:extLst>
          </p:cNvPr>
          <p:cNvSpPr>
            <a:spLocks noGrp="1"/>
          </p:cNvSpPr>
          <p:nvPr>
            <p:ph type="dt" sz="half" idx="10"/>
          </p:nvPr>
        </p:nvSpPr>
        <p:spPr/>
        <p:txBody>
          <a:bodyPr/>
          <a:lstStyle/>
          <a:p>
            <a:fld id="{168977F4-0A41-49E4-9959-93B4B3DD1DA3}" type="datetime1">
              <a:rPr lang="zh-CN" altLang="en-US" smtClean="0"/>
              <a:t>2026/10/6</a:t>
            </a:fld>
            <a:endParaRPr lang="zh-TW" altLang="en-US"/>
          </a:p>
        </p:txBody>
      </p:sp>
      <p:sp>
        <p:nvSpPr>
          <p:cNvPr id="6" name="頁尾版面配置區 5">
            <a:extLst>
              <a:ext uri="{FF2B5EF4-FFF2-40B4-BE49-F238E27FC236}">
                <a16:creationId xmlns:a16="http://schemas.microsoft.com/office/drawing/2014/main" id="{E920874B-3C9C-3064-FF62-BFEAA9EDFFE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FD395F7-B45B-1DD5-F92B-4CB2AD66F34A}"/>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2656065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69ABEF-BA4C-609E-E437-CB50747BD41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0608081-CBE8-331B-41FA-8B69128924C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781BDE4-266C-5DF7-87FA-C87C00E5BDD7}"/>
              </a:ext>
            </a:extLst>
          </p:cNvPr>
          <p:cNvSpPr>
            <a:spLocks noGrp="1"/>
          </p:cNvSpPr>
          <p:nvPr>
            <p:ph type="dt" sz="half" idx="10"/>
          </p:nvPr>
        </p:nvSpPr>
        <p:spPr/>
        <p:txBody>
          <a:bodyPr/>
          <a:lstStyle/>
          <a:p>
            <a:fld id="{5E1F2509-FEA0-47DA-A211-5B97B419D580}" type="datetime1">
              <a:rPr lang="zh-CN" altLang="en-US" smtClean="0"/>
              <a:t>2026/10/6</a:t>
            </a:fld>
            <a:endParaRPr lang="zh-TW" altLang="en-US"/>
          </a:p>
        </p:txBody>
      </p:sp>
      <p:sp>
        <p:nvSpPr>
          <p:cNvPr id="5" name="頁尾版面配置區 4">
            <a:extLst>
              <a:ext uri="{FF2B5EF4-FFF2-40B4-BE49-F238E27FC236}">
                <a16:creationId xmlns:a16="http://schemas.microsoft.com/office/drawing/2014/main" id="{EFE6DC46-E306-297A-3582-E6323D1F465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31FBA7-3329-DB9B-DAEF-7A9C960E9662}"/>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517314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6ED68D-25C5-B980-A69F-53F455AD06F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4F4FBFB-987A-8D94-D003-225A6B683F4F}"/>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B8CE7C2-0131-47A5-866A-5D456D740E1D}"/>
              </a:ext>
            </a:extLst>
          </p:cNvPr>
          <p:cNvSpPr>
            <a:spLocks noGrp="1"/>
          </p:cNvSpPr>
          <p:nvPr>
            <p:ph type="dt" sz="half" idx="10"/>
          </p:nvPr>
        </p:nvSpPr>
        <p:spPr/>
        <p:txBody>
          <a:bodyPr/>
          <a:lstStyle/>
          <a:p>
            <a:fld id="{7E13F9E1-8169-4D8F-93DA-1391FCBDAC3F}" type="datetime1">
              <a:rPr lang="zh-CN" altLang="en-US" smtClean="0"/>
              <a:t>2026/10/6</a:t>
            </a:fld>
            <a:endParaRPr lang="zh-TW" altLang="en-US"/>
          </a:p>
        </p:txBody>
      </p:sp>
      <p:sp>
        <p:nvSpPr>
          <p:cNvPr id="5" name="頁尾版面配置區 4">
            <a:extLst>
              <a:ext uri="{FF2B5EF4-FFF2-40B4-BE49-F238E27FC236}">
                <a16:creationId xmlns:a16="http://schemas.microsoft.com/office/drawing/2014/main" id="{F293C8F6-4840-0315-A68D-031A4E9C92A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9339154-C024-70F4-28F5-C59E853C6330}"/>
              </a:ext>
            </a:extLst>
          </p:cNvPr>
          <p:cNvSpPr>
            <a:spLocks noGrp="1"/>
          </p:cNvSpPr>
          <p:nvPr>
            <p:ph type="sldNum" sz="quarter" idx="12"/>
          </p:nvPr>
        </p:nvSpPr>
        <p:spPr/>
        <p:txBody>
          <a:body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350914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B79E7E7-1A6A-444B-8BC4-05258C288F0E}" type="datetime1">
              <a:rPr lang="zh-CN" altLang="en-US" smtClean="0"/>
              <a:t>2026/10/6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marL="0" algn="r" defTabSz="914400" rtl="0" eaLnBrk="1" latinLnBrk="0" hangingPunct="1">
              <a:defRPr lang="zh-CN" altLang="en-US" sz="2000" kern="1200" smtClean="0">
                <a:solidFill>
                  <a:schemeClr val="tx1">
                    <a:lumMod val="65000"/>
                    <a:lumOff val="35000"/>
                  </a:schemeClr>
                </a:solidFill>
                <a:latin typeface="Yu Gothic UI Semibold" panose="020B0700000000000000" pitchFamily="34" charset="-128"/>
                <a:ea typeface="Yu Gothic UI Semibold" panose="020B0700000000000000" pitchFamily="34" charset="-128"/>
                <a:cs typeface="Segoe UI" panose="020B0502040204020203" pitchFamily="34" charset="0"/>
              </a:defRPr>
            </a:lvl1pPr>
          </a:lstStyle>
          <a:p>
            <a:fld id="{726FD8BB-E3C9-46DF-9B94-1AF8F33E9E37}" type="slidenum">
              <a:rPr lang="en-US" altLang="zh-TW" smtClean="0"/>
              <a:pPr/>
              <a:t>‹#›</a:t>
            </a:fld>
            <a:endParaRPr lang="zh-TW" dirty="0"/>
          </a:p>
        </p:txBody>
      </p:sp>
    </p:spTree>
    <p:extLst>
      <p:ext uri="{BB962C8B-B14F-4D97-AF65-F5344CB8AC3E}">
        <p14:creationId xmlns:p14="http://schemas.microsoft.com/office/powerpoint/2010/main" val="2990314628"/>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95B3C8A-5A11-D2EF-C6F1-B072D2B54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4D50545-9FF4-49E7-32B5-E6617F650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A8BA9B3-E10D-C6EE-DA51-96820D4B5B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B42702-F307-4F56-A702-D0E8B84E3864}" type="datetime1">
              <a:rPr lang="zh-CN" altLang="en-US" smtClean="0"/>
              <a:t>2026/10/6</a:t>
            </a:fld>
            <a:endParaRPr lang="zh-TW" altLang="en-US"/>
          </a:p>
        </p:txBody>
      </p:sp>
      <p:sp>
        <p:nvSpPr>
          <p:cNvPr id="5" name="頁尾版面配置區 4">
            <a:extLst>
              <a:ext uri="{FF2B5EF4-FFF2-40B4-BE49-F238E27FC236}">
                <a16:creationId xmlns:a16="http://schemas.microsoft.com/office/drawing/2014/main" id="{C0FB3720-30B7-F5E1-FC07-B4AF4E6A2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33475AE-8D69-DDBC-4232-D97E754D80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C4F607-EBAE-4F4B-BF62-778A00D92850}" type="slidenum">
              <a:rPr lang="zh-TW" altLang="en-US" smtClean="0"/>
              <a:t>‹#›</a:t>
            </a:fld>
            <a:endParaRPr lang="zh-TW" altLang="en-US"/>
          </a:p>
        </p:txBody>
      </p:sp>
    </p:spTree>
    <p:extLst>
      <p:ext uri="{BB962C8B-B14F-4D97-AF65-F5344CB8AC3E}">
        <p14:creationId xmlns:p14="http://schemas.microsoft.com/office/powerpoint/2010/main" val="4003420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椭圆 35"/>
          <p:cNvSpPr/>
          <p:nvPr/>
        </p:nvSpPr>
        <p:spPr>
          <a:xfrm>
            <a:off x="1861500" y="-805500"/>
            <a:ext cx="8469000" cy="8469000"/>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2074950" y="-592050"/>
            <a:ext cx="8042100" cy="8042100"/>
          </a:xfrm>
          <a:prstGeom prst="ellipse">
            <a:avLst/>
          </a:prstGeom>
          <a:solidFill>
            <a:schemeClr val="bg1">
              <a:lumMod val="9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5105172" y="4347299"/>
            <a:ext cx="1981654" cy="605575"/>
            <a:chOff x="5257132" y="4318938"/>
            <a:chExt cx="1800000" cy="550062"/>
          </a:xfrm>
        </p:grpSpPr>
        <p:sp>
          <p:nvSpPr>
            <p:cNvPr id="52" name="文本框 51"/>
            <p:cNvSpPr txBox="1"/>
            <p:nvPr/>
          </p:nvSpPr>
          <p:spPr>
            <a:xfrm>
              <a:off x="5478294" y="4350589"/>
              <a:ext cx="1324924" cy="475257"/>
            </a:xfrm>
            <a:prstGeom prst="rect">
              <a:avLst/>
            </a:prstGeom>
            <a:noFill/>
          </p:spPr>
          <p:txBody>
            <a:bodyPr wrap="square" rtlCol="0">
              <a:spAutoFit/>
            </a:bodyPr>
            <a:lstStyle/>
            <a:p>
              <a:pPr algn="ctr"/>
              <a:r>
                <a:rPr lang="zh-TW" altLang="en-US" sz="1400" dirty="0">
                  <a:solidFill>
                    <a:srgbClr val="002060"/>
                  </a:solidFill>
                  <a:latin typeface="迷你简汉真广标" panose="02010609000101010101" pitchFamily="49" charset="-122"/>
                  <a:ea typeface="迷你简汉真广标" panose="02010609000101010101" pitchFamily="49" charset="-122"/>
                </a:rPr>
                <a:t>楊勝州教授 </a:t>
              </a:r>
              <a:r>
                <a:rPr lang="en-US" altLang="zh-TW" sz="1400" dirty="0">
                  <a:solidFill>
                    <a:srgbClr val="002060"/>
                  </a:solidFill>
                  <a:latin typeface="迷你简汉真广标" panose="02010609000101010101" pitchFamily="49" charset="-122"/>
                  <a:ea typeface="迷你简汉真广标" panose="02010609000101010101" pitchFamily="49" charset="-122"/>
                </a:rPr>
                <a:t>2026/10/06</a:t>
              </a:r>
              <a:endParaRPr lang="en-US" altLang="zh-CN" sz="1400" dirty="0">
                <a:solidFill>
                  <a:srgbClr val="002060"/>
                </a:solidFill>
                <a:latin typeface="迷你简汉真广标" panose="02010609000101010101" pitchFamily="49" charset="-122"/>
                <a:ea typeface="迷你简汉真广标" panose="02010609000101010101" pitchFamily="49" charset="-122"/>
              </a:endParaRPr>
            </a:p>
          </p:txBody>
        </p:sp>
        <p:grpSp>
          <p:nvGrpSpPr>
            <p:cNvPr id="9" name="组合 8"/>
            <p:cNvGrpSpPr/>
            <p:nvPr/>
          </p:nvGrpSpPr>
          <p:grpSpPr>
            <a:xfrm>
              <a:off x="5257132" y="4318938"/>
              <a:ext cx="1800000" cy="550062"/>
              <a:chOff x="5257132" y="4318938"/>
              <a:chExt cx="1800000" cy="550062"/>
            </a:xfrm>
          </p:grpSpPr>
          <p:sp>
            <p:nvSpPr>
              <p:cNvPr id="50" name="圆角矩形 49"/>
              <p:cNvSpPr/>
              <p:nvPr/>
            </p:nvSpPr>
            <p:spPr>
              <a:xfrm>
                <a:off x="5257132" y="4318938"/>
                <a:ext cx="1800000" cy="540000"/>
              </a:xfrm>
              <a:prstGeom prst="roundRect">
                <a:avLst>
                  <a:gd name="adj" fmla="val 5000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5870756" y="4851000"/>
                <a:ext cx="540000" cy="1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 name="组合 1"/>
          <p:cNvGrpSpPr/>
          <p:nvPr/>
        </p:nvGrpSpPr>
        <p:grpSpPr>
          <a:xfrm>
            <a:off x="1820381" y="2075156"/>
            <a:ext cx="319500" cy="792801"/>
            <a:chOff x="1820381" y="2075156"/>
            <a:chExt cx="319500" cy="792801"/>
          </a:xfrm>
        </p:grpSpPr>
        <p:sp>
          <p:nvSpPr>
            <p:cNvPr id="57" name="椭圆 56"/>
            <p:cNvSpPr/>
            <p:nvPr/>
          </p:nvSpPr>
          <p:spPr>
            <a:xfrm>
              <a:off x="1975944" y="2075156"/>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1820381" y="2331550"/>
              <a:ext cx="295688" cy="29568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820381" y="2704020"/>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椭圆 27"/>
          <p:cNvSpPr/>
          <p:nvPr/>
        </p:nvSpPr>
        <p:spPr>
          <a:xfrm>
            <a:off x="9900088" y="5049000"/>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9687375" y="5324444"/>
            <a:ext cx="295688" cy="29568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9539737" y="5696914"/>
            <a:ext cx="163937" cy="1639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387833" y="2947021"/>
            <a:ext cx="3416320" cy="963958"/>
            <a:chOff x="4824545" y="3096464"/>
            <a:chExt cx="2479558" cy="699642"/>
          </a:xfrm>
        </p:grpSpPr>
        <p:sp>
          <p:nvSpPr>
            <p:cNvPr id="5" name="矩形 4"/>
            <p:cNvSpPr/>
            <p:nvPr/>
          </p:nvSpPr>
          <p:spPr>
            <a:xfrm>
              <a:off x="4824545" y="3096464"/>
              <a:ext cx="2479558" cy="469108"/>
            </a:xfrm>
            <a:prstGeom prst="rect">
              <a:avLst/>
            </a:prstGeom>
          </p:spPr>
          <p:txBody>
            <a:bodyPr wrap="none">
              <a:spAutoFit/>
            </a:bodyPr>
            <a:lstStyle/>
            <a:p>
              <a:pPr algn="ctr"/>
              <a:r>
                <a:rPr lang="zh-TW" altLang="en-US" sz="3600" b="1" dirty="0">
                  <a:solidFill>
                    <a:srgbClr val="002060"/>
                  </a:solidFill>
                  <a:latin typeface="迷你简汉真广标" panose="02010609000101010101" pitchFamily="49" charset="-122"/>
                  <a:ea typeface="迷你简汉真广标" panose="02010609000101010101" pitchFamily="49" charset="-122"/>
                </a:rPr>
                <a:t>奈米光動能元件</a:t>
              </a:r>
              <a:endParaRPr lang="en-US" altLang="zh-TW" sz="3600" b="1" dirty="0">
                <a:solidFill>
                  <a:srgbClr val="002060"/>
                </a:solidFill>
                <a:latin typeface="迷你简汉真广标" panose="02010609000101010101" pitchFamily="49" charset="-122"/>
                <a:ea typeface="迷你简汉真广标" panose="02010609000101010101" pitchFamily="49" charset="-122"/>
              </a:endParaRPr>
            </a:p>
          </p:txBody>
        </p:sp>
        <p:sp>
          <p:nvSpPr>
            <p:cNvPr id="6" name="矩形 5"/>
            <p:cNvSpPr/>
            <p:nvPr/>
          </p:nvSpPr>
          <p:spPr>
            <a:xfrm>
              <a:off x="6010400" y="3528044"/>
              <a:ext cx="134078" cy="268062"/>
            </a:xfrm>
            <a:prstGeom prst="rect">
              <a:avLst/>
            </a:prstGeom>
          </p:spPr>
          <p:txBody>
            <a:bodyPr wrap="none">
              <a:spAutoFit/>
            </a:bodyPr>
            <a:lstStyle/>
            <a:p>
              <a:pPr algn="ctr"/>
              <a:endParaRPr lang="zh-CN" altLang="en-US" spc="300" dirty="0">
                <a:solidFill>
                  <a:srgbClr val="002060"/>
                </a:solidFill>
                <a:latin typeface="造字工房悦黑体验版纤细体" pitchFamily="50" charset="-122"/>
                <a:ea typeface="造字工房悦黑体验版纤细体" pitchFamily="50" charset="-122"/>
              </a:endParaRPr>
            </a:p>
          </p:txBody>
        </p:sp>
      </p:grpSp>
    </p:spTree>
    <p:extLst>
      <p:ext uri="{BB962C8B-B14F-4D97-AF65-F5344CB8AC3E}">
        <p14:creationId xmlns:p14="http://schemas.microsoft.com/office/powerpoint/2010/main" val="63780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1</a:t>
            </a:fld>
            <a:endParaRPr lang="zh-CN" altLang="en-US"/>
          </a:p>
        </p:txBody>
      </p:sp>
      <p:pic>
        <p:nvPicPr>
          <p:cNvPr id="53" name="图片 3">
            <a:extLst>
              <a:ext uri="{FF2B5EF4-FFF2-40B4-BE49-F238E27FC236}">
                <a16:creationId xmlns:a16="http://schemas.microsoft.com/office/drawing/2014/main" id="{473FADD3-4574-27AB-221A-A0C99F01F1A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0"/>
            <a:ext cx="21272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4" name="群組 53">
            <a:extLst>
              <a:ext uri="{FF2B5EF4-FFF2-40B4-BE49-F238E27FC236}">
                <a16:creationId xmlns:a16="http://schemas.microsoft.com/office/drawing/2014/main" id="{138ECCEC-7662-D28D-BF96-EB8268B10580}"/>
              </a:ext>
            </a:extLst>
          </p:cNvPr>
          <p:cNvGrpSpPr/>
          <p:nvPr/>
        </p:nvGrpSpPr>
        <p:grpSpPr>
          <a:xfrm>
            <a:off x="2127250" y="1513434"/>
            <a:ext cx="2420722" cy="647700"/>
            <a:chOff x="4410075" y="1504950"/>
            <a:chExt cx="2420722" cy="647700"/>
          </a:xfrm>
        </p:grpSpPr>
        <p:sp>
          <p:nvSpPr>
            <p:cNvPr id="55" name="文本框 4">
              <a:extLst>
                <a:ext uri="{FF2B5EF4-FFF2-40B4-BE49-F238E27FC236}">
                  <a16:creationId xmlns:a16="http://schemas.microsoft.com/office/drawing/2014/main" id="{28752B15-C0ED-8099-4064-FF238BAB5C5C}"/>
                </a:ext>
              </a:extLst>
            </p:cNvPr>
            <p:cNvSpPr txBox="1">
              <a:spLocks noChangeArrowheads="1"/>
            </p:cNvSpPr>
            <p:nvPr/>
          </p:nvSpPr>
          <p:spPr bwMode="auto">
            <a:xfrm>
              <a:off x="4410075" y="1504950"/>
              <a:ext cx="696913" cy="647700"/>
            </a:xfrm>
            <a:prstGeom prst="rect">
              <a:avLst/>
            </a:prstGeom>
            <a:solidFill>
              <a:srgbClr val="2BA85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600" b="1">
                  <a:solidFill>
                    <a:schemeClr val="bg1"/>
                  </a:solidFill>
                  <a:latin typeface="Arial" panose="020B0604020202020204" pitchFamily="34" charset="0"/>
                  <a:cs typeface="Arial" panose="020B0604020202020204" pitchFamily="34" charset="0"/>
                </a:rPr>
                <a:t>01</a:t>
              </a:r>
              <a:endParaRPr lang="zh-CN" altLang="en-US" sz="3600" b="1">
                <a:solidFill>
                  <a:schemeClr val="bg1"/>
                </a:solidFill>
                <a:latin typeface="Arial" panose="020B0604020202020204" pitchFamily="34" charset="0"/>
                <a:cs typeface="Arial" panose="020B0604020202020204" pitchFamily="34" charset="0"/>
              </a:endParaRPr>
            </a:p>
          </p:txBody>
        </p:sp>
        <p:sp>
          <p:nvSpPr>
            <p:cNvPr id="56" name="文本框 9">
              <a:extLst>
                <a:ext uri="{FF2B5EF4-FFF2-40B4-BE49-F238E27FC236}">
                  <a16:creationId xmlns:a16="http://schemas.microsoft.com/office/drawing/2014/main" id="{E4EF50A1-1751-212C-0DE9-B6772781C008}"/>
                </a:ext>
              </a:extLst>
            </p:cNvPr>
            <p:cNvSpPr txBox="1">
              <a:spLocks noChangeArrowheads="1"/>
            </p:cNvSpPr>
            <p:nvPr/>
          </p:nvSpPr>
          <p:spPr bwMode="auto">
            <a:xfrm>
              <a:off x="5408613" y="1598613"/>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TW" altLang="en-US" sz="2400" b="1" dirty="0">
                  <a:solidFill>
                    <a:srgbClr val="2BA854"/>
                  </a:solidFill>
                  <a:latin typeface="Arial" panose="020B0604020202020204" pitchFamily="34" charset="0"/>
                  <a:cs typeface="Arial" panose="020B0604020202020204" pitchFamily="34" charset="0"/>
                </a:rPr>
                <a:t>綠色科技</a:t>
              </a:r>
            </a:p>
          </p:txBody>
        </p:sp>
        <p:cxnSp>
          <p:nvCxnSpPr>
            <p:cNvPr id="57" name="直接连接符 14">
              <a:extLst>
                <a:ext uri="{FF2B5EF4-FFF2-40B4-BE49-F238E27FC236}">
                  <a16:creationId xmlns:a16="http://schemas.microsoft.com/office/drawing/2014/main" id="{9889B3D0-801E-1E5F-4BE7-23BAFD8FD93F}"/>
                </a:ext>
              </a:extLst>
            </p:cNvPr>
            <p:cNvCxnSpPr>
              <a:cxnSpLocks noChangeShapeType="1"/>
            </p:cNvCxnSpPr>
            <p:nvPr/>
          </p:nvCxnSpPr>
          <p:spPr bwMode="auto">
            <a:xfrm>
              <a:off x="5297488" y="1600200"/>
              <a:ext cx="0" cy="457200"/>
            </a:xfrm>
            <a:prstGeom prst="line">
              <a:avLst/>
            </a:prstGeom>
            <a:noFill/>
            <a:ln w="6350">
              <a:solidFill>
                <a:srgbClr val="2BA854"/>
              </a:solidFill>
              <a:round/>
              <a:headEnd/>
              <a:tailEnd/>
            </a:ln>
            <a:extLst>
              <a:ext uri="{909E8E84-426E-40DD-AFC4-6F175D3DCCD1}">
                <a14:hiddenFill xmlns:a14="http://schemas.microsoft.com/office/drawing/2010/main">
                  <a:noFill/>
                </a14:hiddenFill>
              </a:ext>
            </a:extLst>
          </p:spPr>
        </p:cxnSp>
        <p:cxnSp>
          <p:nvCxnSpPr>
            <p:cNvPr id="58" name="直接连接符 23">
              <a:extLst>
                <a:ext uri="{FF2B5EF4-FFF2-40B4-BE49-F238E27FC236}">
                  <a16:creationId xmlns:a16="http://schemas.microsoft.com/office/drawing/2014/main" id="{16DDEDF5-244C-AED3-9B78-547E345E6486}"/>
                </a:ext>
              </a:extLst>
            </p:cNvPr>
            <p:cNvCxnSpPr>
              <a:cxnSpLocks noChangeShapeType="1"/>
            </p:cNvCxnSpPr>
            <p:nvPr/>
          </p:nvCxnSpPr>
          <p:spPr bwMode="auto">
            <a:xfrm>
              <a:off x="5240338" y="1600200"/>
              <a:ext cx="0" cy="457200"/>
            </a:xfrm>
            <a:prstGeom prst="line">
              <a:avLst/>
            </a:prstGeom>
            <a:noFill/>
            <a:ln w="28575">
              <a:solidFill>
                <a:srgbClr val="2BA854"/>
              </a:solidFill>
              <a:round/>
              <a:headEnd/>
              <a:tailEnd/>
            </a:ln>
            <a:extLst>
              <a:ext uri="{909E8E84-426E-40DD-AFC4-6F175D3DCCD1}">
                <a14:hiddenFill xmlns:a14="http://schemas.microsoft.com/office/drawing/2010/main">
                  <a:noFill/>
                </a14:hiddenFill>
              </a:ext>
            </a:extLst>
          </p:spPr>
        </p:cxnSp>
      </p:grpSp>
      <p:grpSp>
        <p:nvGrpSpPr>
          <p:cNvPr id="59" name="群組 58">
            <a:extLst>
              <a:ext uri="{FF2B5EF4-FFF2-40B4-BE49-F238E27FC236}">
                <a16:creationId xmlns:a16="http://schemas.microsoft.com/office/drawing/2014/main" id="{C5C93134-9DF1-15A4-EF62-BCDF969682B3}"/>
              </a:ext>
            </a:extLst>
          </p:cNvPr>
          <p:cNvGrpSpPr/>
          <p:nvPr/>
        </p:nvGrpSpPr>
        <p:grpSpPr>
          <a:xfrm>
            <a:off x="2127250" y="3140532"/>
            <a:ext cx="6133277" cy="646331"/>
            <a:chOff x="4410075" y="2613025"/>
            <a:chExt cx="6133277" cy="646331"/>
          </a:xfrm>
        </p:grpSpPr>
        <p:sp>
          <p:nvSpPr>
            <p:cNvPr id="60" name="文本框 6">
              <a:extLst>
                <a:ext uri="{FF2B5EF4-FFF2-40B4-BE49-F238E27FC236}">
                  <a16:creationId xmlns:a16="http://schemas.microsoft.com/office/drawing/2014/main" id="{BBA64795-2C0B-1E96-9453-10375DBE6827}"/>
                </a:ext>
              </a:extLst>
            </p:cNvPr>
            <p:cNvSpPr txBox="1">
              <a:spLocks noChangeArrowheads="1"/>
            </p:cNvSpPr>
            <p:nvPr/>
          </p:nvSpPr>
          <p:spPr bwMode="auto">
            <a:xfrm>
              <a:off x="4410075" y="2613025"/>
              <a:ext cx="697627" cy="646331"/>
            </a:xfrm>
            <a:prstGeom prst="rect">
              <a:avLst/>
            </a:prstGeom>
            <a:solidFill>
              <a:srgbClr val="51308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600" b="1">
                  <a:solidFill>
                    <a:schemeClr val="bg1"/>
                  </a:solidFill>
                  <a:latin typeface="Arial" panose="020B0604020202020204" pitchFamily="34" charset="0"/>
                  <a:cs typeface="Arial" panose="020B0604020202020204" pitchFamily="34" charset="0"/>
                </a:rPr>
                <a:t>02</a:t>
              </a:r>
              <a:endParaRPr lang="zh-CN" altLang="en-US" sz="3600" b="1">
                <a:solidFill>
                  <a:schemeClr val="bg1"/>
                </a:solidFill>
                <a:latin typeface="Arial" panose="020B0604020202020204" pitchFamily="34" charset="0"/>
                <a:cs typeface="Arial" panose="020B0604020202020204" pitchFamily="34" charset="0"/>
              </a:endParaRPr>
            </a:p>
          </p:txBody>
        </p:sp>
        <p:sp>
          <p:nvSpPr>
            <p:cNvPr id="61" name="文本框 10">
              <a:extLst>
                <a:ext uri="{FF2B5EF4-FFF2-40B4-BE49-F238E27FC236}">
                  <a16:creationId xmlns:a16="http://schemas.microsoft.com/office/drawing/2014/main" id="{A62D5F42-E909-A7A7-AE96-BF0C7E259474}"/>
                </a:ext>
              </a:extLst>
            </p:cNvPr>
            <p:cNvSpPr txBox="1">
              <a:spLocks noChangeArrowheads="1"/>
            </p:cNvSpPr>
            <p:nvPr/>
          </p:nvSpPr>
          <p:spPr bwMode="auto">
            <a:xfrm>
              <a:off x="5408613" y="2706688"/>
              <a:ext cx="51347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TW" altLang="en-US" sz="2400" b="1" dirty="0">
                  <a:solidFill>
                    <a:srgbClr val="513087"/>
                  </a:solidFill>
                  <a:latin typeface="Arial" panose="020B0604020202020204" pitchFamily="34" charset="0"/>
                  <a:cs typeface="Arial" panose="020B0604020202020204" pitchFamily="34" charset="0"/>
                </a:rPr>
                <a:t>綠色科技相關之光電元件發展與應用</a:t>
              </a:r>
            </a:p>
          </p:txBody>
        </p:sp>
        <p:cxnSp>
          <p:nvCxnSpPr>
            <p:cNvPr id="62" name="直接连接符 15">
              <a:extLst>
                <a:ext uri="{FF2B5EF4-FFF2-40B4-BE49-F238E27FC236}">
                  <a16:creationId xmlns:a16="http://schemas.microsoft.com/office/drawing/2014/main" id="{21AFD9E0-2B45-2A70-0E27-D30F54773E03}"/>
                </a:ext>
              </a:extLst>
            </p:cNvPr>
            <p:cNvCxnSpPr>
              <a:cxnSpLocks noChangeShapeType="1"/>
            </p:cNvCxnSpPr>
            <p:nvPr/>
          </p:nvCxnSpPr>
          <p:spPr bwMode="auto">
            <a:xfrm>
              <a:off x="5316538" y="2705100"/>
              <a:ext cx="0" cy="457200"/>
            </a:xfrm>
            <a:prstGeom prst="line">
              <a:avLst/>
            </a:prstGeom>
            <a:noFill/>
            <a:ln w="6350">
              <a:solidFill>
                <a:srgbClr val="513087"/>
              </a:solidFill>
              <a:round/>
              <a:headEnd/>
              <a:tailEnd/>
            </a:ln>
            <a:extLst>
              <a:ext uri="{909E8E84-426E-40DD-AFC4-6F175D3DCCD1}">
                <a14:hiddenFill xmlns:a14="http://schemas.microsoft.com/office/drawing/2010/main">
                  <a:noFill/>
                </a14:hiddenFill>
              </a:ext>
            </a:extLst>
          </p:spPr>
        </p:cxnSp>
        <p:cxnSp>
          <p:nvCxnSpPr>
            <p:cNvPr id="63" name="直接连接符 24">
              <a:extLst>
                <a:ext uri="{FF2B5EF4-FFF2-40B4-BE49-F238E27FC236}">
                  <a16:creationId xmlns:a16="http://schemas.microsoft.com/office/drawing/2014/main" id="{B218AC73-0FA8-1DDB-4D28-0021A435034D}"/>
                </a:ext>
              </a:extLst>
            </p:cNvPr>
            <p:cNvCxnSpPr>
              <a:cxnSpLocks noChangeShapeType="1"/>
            </p:cNvCxnSpPr>
            <p:nvPr/>
          </p:nvCxnSpPr>
          <p:spPr bwMode="auto">
            <a:xfrm>
              <a:off x="5259388" y="2705100"/>
              <a:ext cx="0" cy="457200"/>
            </a:xfrm>
            <a:prstGeom prst="line">
              <a:avLst/>
            </a:prstGeom>
            <a:noFill/>
            <a:ln w="28575">
              <a:solidFill>
                <a:srgbClr val="513087"/>
              </a:solidFill>
              <a:round/>
              <a:headEnd/>
              <a:tailEnd/>
            </a:ln>
            <a:extLst>
              <a:ext uri="{909E8E84-426E-40DD-AFC4-6F175D3DCCD1}">
                <a14:hiddenFill xmlns:a14="http://schemas.microsoft.com/office/drawing/2010/main">
                  <a:noFill/>
                </a14:hiddenFill>
              </a:ext>
            </a:extLst>
          </p:spPr>
        </p:cxnSp>
      </p:grpSp>
      <p:grpSp>
        <p:nvGrpSpPr>
          <p:cNvPr id="64" name="群組 63">
            <a:extLst>
              <a:ext uri="{FF2B5EF4-FFF2-40B4-BE49-F238E27FC236}">
                <a16:creationId xmlns:a16="http://schemas.microsoft.com/office/drawing/2014/main" id="{2607F688-0C98-AF36-B1F2-4A491DEE64A1}"/>
              </a:ext>
            </a:extLst>
          </p:cNvPr>
          <p:cNvGrpSpPr/>
          <p:nvPr/>
        </p:nvGrpSpPr>
        <p:grpSpPr>
          <a:xfrm>
            <a:off x="2127250" y="4763617"/>
            <a:ext cx="2111343" cy="646331"/>
            <a:chOff x="4410075" y="3721100"/>
            <a:chExt cx="2111343" cy="646331"/>
          </a:xfrm>
        </p:grpSpPr>
        <p:sp>
          <p:nvSpPr>
            <p:cNvPr id="65" name="文本框 7">
              <a:extLst>
                <a:ext uri="{FF2B5EF4-FFF2-40B4-BE49-F238E27FC236}">
                  <a16:creationId xmlns:a16="http://schemas.microsoft.com/office/drawing/2014/main" id="{E13362B4-5580-B75F-3BBD-9F5B022984D9}"/>
                </a:ext>
              </a:extLst>
            </p:cNvPr>
            <p:cNvSpPr txBox="1">
              <a:spLocks noChangeArrowheads="1"/>
            </p:cNvSpPr>
            <p:nvPr/>
          </p:nvSpPr>
          <p:spPr bwMode="auto">
            <a:xfrm>
              <a:off x="4410075" y="3721100"/>
              <a:ext cx="697627" cy="646331"/>
            </a:xfrm>
            <a:prstGeom prst="rect">
              <a:avLst/>
            </a:prstGeom>
            <a:solidFill>
              <a:srgbClr val="DE44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600" b="1">
                  <a:solidFill>
                    <a:schemeClr val="bg1"/>
                  </a:solidFill>
                  <a:latin typeface="Arial" panose="020B0604020202020204" pitchFamily="34" charset="0"/>
                  <a:cs typeface="Arial" panose="020B0604020202020204" pitchFamily="34" charset="0"/>
                </a:rPr>
                <a:t>03</a:t>
              </a:r>
              <a:endParaRPr lang="zh-CN" altLang="en-US" sz="3600" b="1">
                <a:solidFill>
                  <a:schemeClr val="bg1"/>
                </a:solidFill>
                <a:latin typeface="Arial" panose="020B0604020202020204" pitchFamily="34" charset="0"/>
                <a:cs typeface="Arial" panose="020B0604020202020204" pitchFamily="34" charset="0"/>
              </a:endParaRPr>
            </a:p>
          </p:txBody>
        </p:sp>
        <p:sp>
          <p:nvSpPr>
            <p:cNvPr id="66" name="文本框 11">
              <a:extLst>
                <a:ext uri="{FF2B5EF4-FFF2-40B4-BE49-F238E27FC236}">
                  <a16:creationId xmlns:a16="http://schemas.microsoft.com/office/drawing/2014/main" id="{C90B95DC-E659-C0DE-7557-F2DEAB7064A6}"/>
                </a:ext>
              </a:extLst>
            </p:cNvPr>
            <p:cNvSpPr txBox="1">
              <a:spLocks noChangeArrowheads="1"/>
            </p:cNvSpPr>
            <p:nvPr/>
          </p:nvSpPr>
          <p:spPr bwMode="auto">
            <a:xfrm>
              <a:off x="5408613" y="3813175"/>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TW" altLang="en-US" sz="2400" b="1" dirty="0">
                  <a:solidFill>
                    <a:srgbClr val="DE4477"/>
                  </a:solidFill>
                  <a:latin typeface="Arial" panose="020B0604020202020204" pitchFamily="34" charset="0"/>
                  <a:cs typeface="Arial" panose="020B0604020202020204" pitchFamily="34" charset="0"/>
                </a:rPr>
                <a:t>鈣鈦礦</a:t>
              </a:r>
            </a:p>
          </p:txBody>
        </p:sp>
        <p:cxnSp>
          <p:nvCxnSpPr>
            <p:cNvPr id="67" name="直接连接符 16">
              <a:extLst>
                <a:ext uri="{FF2B5EF4-FFF2-40B4-BE49-F238E27FC236}">
                  <a16:creationId xmlns:a16="http://schemas.microsoft.com/office/drawing/2014/main" id="{3216DD49-EB0E-D0FC-EA1D-294D994EB7CD}"/>
                </a:ext>
              </a:extLst>
            </p:cNvPr>
            <p:cNvCxnSpPr>
              <a:cxnSpLocks noChangeShapeType="1"/>
            </p:cNvCxnSpPr>
            <p:nvPr/>
          </p:nvCxnSpPr>
          <p:spPr bwMode="auto">
            <a:xfrm>
              <a:off x="5316538" y="3817938"/>
              <a:ext cx="0" cy="457200"/>
            </a:xfrm>
            <a:prstGeom prst="line">
              <a:avLst/>
            </a:prstGeom>
            <a:noFill/>
            <a:ln w="6350">
              <a:solidFill>
                <a:srgbClr val="DE4477"/>
              </a:solidFill>
              <a:round/>
              <a:headEnd/>
              <a:tailEnd/>
            </a:ln>
            <a:extLst>
              <a:ext uri="{909E8E84-426E-40DD-AFC4-6F175D3DCCD1}">
                <a14:hiddenFill xmlns:a14="http://schemas.microsoft.com/office/drawing/2010/main">
                  <a:noFill/>
                </a14:hiddenFill>
              </a:ext>
            </a:extLst>
          </p:spPr>
        </p:cxnSp>
        <p:cxnSp>
          <p:nvCxnSpPr>
            <p:cNvPr id="68" name="直接连接符 25">
              <a:extLst>
                <a:ext uri="{FF2B5EF4-FFF2-40B4-BE49-F238E27FC236}">
                  <a16:creationId xmlns:a16="http://schemas.microsoft.com/office/drawing/2014/main" id="{A0A4F7CC-4A9B-07A6-D3BB-C25310DB0C89}"/>
                </a:ext>
              </a:extLst>
            </p:cNvPr>
            <p:cNvCxnSpPr>
              <a:cxnSpLocks noChangeShapeType="1"/>
            </p:cNvCxnSpPr>
            <p:nvPr/>
          </p:nvCxnSpPr>
          <p:spPr bwMode="auto">
            <a:xfrm>
              <a:off x="5259388" y="3817938"/>
              <a:ext cx="0" cy="457200"/>
            </a:xfrm>
            <a:prstGeom prst="line">
              <a:avLst/>
            </a:prstGeom>
            <a:noFill/>
            <a:ln w="28575">
              <a:solidFill>
                <a:srgbClr val="DE4477"/>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713771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7893" y="190222"/>
            <a:ext cx="7736107" cy="692750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29016">
            <a:off x="521061" y="1548367"/>
            <a:ext cx="3966765" cy="3519317"/>
          </a:xfrm>
          <a:prstGeom prst="rect">
            <a:avLst/>
          </a:prstGeom>
        </p:spPr>
      </p:pic>
      <p:sp>
        <p:nvSpPr>
          <p:cNvPr id="9" name="文本框 8"/>
          <p:cNvSpPr txBox="1"/>
          <p:nvPr/>
        </p:nvSpPr>
        <p:spPr>
          <a:xfrm>
            <a:off x="1385930" y="2377002"/>
            <a:ext cx="4767735" cy="1862048"/>
          </a:xfrm>
          <a:prstGeom prst="rect">
            <a:avLst/>
          </a:prstGeom>
          <a:noFill/>
        </p:spPr>
        <p:txBody>
          <a:bodyPr wrap="square" rtlCol="0">
            <a:spAutoFit/>
          </a:bodyPr>
          <a:lstStyle/>
          <a:p>
            <a:pPr algn="dist"/>
            <a:r>
              <a:rPr lang="en-US" altLang="zh-CN" sz="11500">
                <a:latin typeface="Impact" panose="020B0806030902050204" pitchFamily="34" charset="0"/>
              </a:rPr>
              <a:t>PART0</a:t>
            </a:r>
            <a:r>
              <a:rPr lang="en-US" altLang="zh-TW" sz="11500" dirty="0">
                <a:latin typeface="Impact" panose="020B0806030902050204" pitchFamily="34" charset="0"/>
              </a:rPr>
              <a:t>1</a:t>
            </a:r>
            <a:endParaRPr lang="zh-CN" altLang="en-US" sz="11500" dirty="0">
              <a:latin typeface="Impact" panose="020B0806030902050204" pitchFamily="34" charset="0"/>
            </a:endParaRPr>
          </a:p>
        </p:txBody>
      </p:sp>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2</a:t>
            </a:fld>
            <a:endParaRPr lang="zh-CN" altLang="en-US"/>
          </a:p>
        </p:txBody>
      </p:sp>
      <p:sp>
        <p:nvSpPr>
          <p:cNvPr id="3" name="文本框 9">
            <a:extLst>
              <a:ext uri="{FF2B5EF4-FFF2-40B4-BE49-F238E27FC236}">
                <a16:creationId xmlns:a16="http://schemas.microsoft.com/office/drawing/2014/main" id="{5B005715-E492-9D3B-7556-B61A306FC18E}"/>
              </a:ext>
            </a:extLst>
          </p:cNvPr>
          <p:cNvSpPr txBox="1"/>
          <p:nvPr/>
        </p:nvSpPr>
        <p:spPr>
          <a:xfrm>
            <a:off x="1118244" y="4032824"/>
            <a:ext cx="5303106" cy="769441"/>
          </a:xfrm>
          <a:prstGeom prst="rect">
            <a:avLst/>
          </a:prstGeom>
          <a:noFill/>
        </p:spPr>
        <p:txBody>
          <a:bodyPr wrap="square" rtlCol="0">
            <a:spAutoFit/>
          </a:bodyPr>
          <a:lstStyle/>
          <a:p>
            <a:pPr algn="ctr"/>
            <a:r>
              <a:rPr lang="zh-TW" altLang="en-US" sz="4400" dirty="0">
                <a:latin typeface="方正兰亭粗黑简体" panose="02000000000000000000" pitchFamily="2" charset="-122"/>
                <a:ea typeface="方正兰亭粗黑简体" panose="02000000000000000000"/>
              </a:rPr>
              <a:t>綠色科技</a:t>
            </a:r>
            <a:endParaRPr lang="zh-CN" altLang="en-US" sz="3200" dirty="0">
              <a:latin typeface="方正兰亭粗黑简体" panose="02000000000000000000" pitchFamily="2" charset="-122"/>
              <a:ea typeface="方正兰亭粗黑简体" panose="02000000000000000000"/>
            </a:endParaRPr>
          </a:p>
        </p:txBody>
      </p:sp>
    </p:spTree>
    <p:extLst>
      <p:ext uri="{BB962C8B-B14F-4D97-AF65-F5344CB8AC3E}">
        <p14:creationId xmlns:p14="http://schemas.microsoft.com/office/powerpoint/2010/main" val="19002395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D59FA61F-70E2-DCDF-C39E-3841E0C94E65}"/>
              </a:ext>
            </a:extLst>
          </p:cNvPr>
          <p:cNvSpPr>
            <a:spLocks noGrp="1"/>
          </p:cNvSpPr>
          <p:nvPr>
            <p:ph idx="1"/>
          </p:nvPr>
        </p:nvSpPr>
        <p:spPr>
          <a:xfrm>
            <a:off x="838200" y="1551963"/>
            <a:ext cx="10515600" cy="4905988"/>
          </a:xfrm>
        </p:spPr>
        <p:txBody>
          <a:bodyPr>
            <a:normAutofit/>
          </a:bodyPr>
          <a:lstStyle/>
          <a:p>
            <a:r>
              <a:rPr lang="zh-TW" altLang="en-US" dirty="0"/>
              <a:t>可再生能源</a:t>
            </a:r>
            <a:endParaRPr lang="en-US" altLang="zh-TW" dirty="0"/>
          </a:p>
          <a:p>
            <a:pPr lvl="1"/>
            <a:r>
              <a:rPr lang="zh-TW" altLang="en-US" dirty="0"/>
              <a:t>太陽能、風能、水能</a:t>
            </a:r>
            <a:endParaRPr lang="en-US" altLang="zh-TW" dirty="0"/>
          </a:p>
          <a:p>
            <a:r>
              <a:rPr lang="zh-TW" altLang="en-US" dirty="0"/>
              <a:t>能源效率技術</a:t>
            </a:r>
            <a:endParaRPr lang="en-US" altLang="zh-TW" dirty="0"/>
          </a:p>
          <a:p>
            <a:pPr lvl="1"/>
            <a:r>
              <a:rPr lang="zh-TW" altLang="en-US" dirty="0"/>
              <a:t>節能照明、智能電網、能源管理系統</a:t>
            </a:r>
            <a:endParaRPr lang="en-US" altLang="zh-TW" dirty="0"/>
          </a:p>
          <a:p>
            <a:r>
              <a:rPr lang="zh-TW" altLang="en-US" dirty="0"/>
              <a:t>綠色建築</a:t>
            </a:r>
            <a:endParaRPr lang="en-US" altLang="zh-TW" dirty="0"/>
          </a:p>
          <a:p>
            <a:pPr lvl="1"/>
            <a:r>
              <a:rPr lang="zh-TW" altLang="en-US" dirty="0"/>
              <a:t>採用節能材料、可再生能源和節能技術來建設和管理建築物</a:t>
            </a:r>
            <a:endParaRPr lang="en-US" altLang="zh-TW" dirty="0"/>
          </a:p>
          <a:p>
            <a:r>
              <a:rPr lang="zh-TW" altLang="en-US" dirty="0"/>
              <a:t>綠色交通</a:t>
            </a:r>
            <a:endParaRPr lang="en-US" altLang="zh-TW" dirty="0"/>
          </a:p>
          <a:p>
            <a:pPr lvl="1"/>
            <a:r>
              <a:rPr lang="zh-TW" altLang="en-US" dirty="0"/>
              <a:t>具有低汙染、低噪音、省能源的綠色交通工具</a:t>
            </a:r>
            <a:endParaRPr lang="en-US" altLang="zh-TW" dirty="0"/>
          </a:p>
          <a:p>
            <a:pPr lvl="1"/>
            <a:endParaRPr lang="en-US" altLang="zh-TW" dirty="0"/>
          </a:p>
          <a:p>
            <a:pPr lvl="1"/>
            <a:endParaRPr lang="en-US" altLang="zh-TW" dirty="0"/>
          </a:p>
          <a:p>
            <a:pPr lvl="1"/>
            <a:endParaRPr lang="en-US" altLang="zh-TW" dirty="0"/>
          </a:p>
          <a:p>
            <a:pPr lvl="1"/>
            <a:endParaRPr lang="en-US" altLang="zh-TW" dirty="0"/>
          </a:p>
          <a:p>
            <a:endParaRPr lang="en-US" altLang="zh-TW" dirty="0"/>
          </a:p>
        </p:txBody>
      </p:sp>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3</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lstStyle/>
          <a:p>
            <a:r>
              <a:rPr lang="en-US" altLang="zh-TW"/>
              <a:t>01</a:t>
            </a:r>
            <a:endParaRPr lang="zh-TW" altLang="en-US"/>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zh-TW" altLang="en-US" dirty="0"/>
              <a:t>綠色科技</a:t>
            </a:r>
          </a:p>
        </p:txBody>
      </p:sp>
      <p:pic>
        <p:nvPicPr>
          <p:cNvPr id="8" name="圖片 7">
            <a:extLst>
              <a:ext uri="{FF2B5EF4-FFF2-40B4-BE49-F238E27FC236}">
                <a16:creationId xmlns:a16="http://schemas.microsoft.com/office/drawing/2014/main" id="{568824A2-DE1A-921E-023D-6F0430AB5621}"/>
              </a:ext>
            </a:extLst>
          </p:cNvPr>
          <p:cNvPicPr>
            <a:picLocks noChangeAspect="1"/>
          </p:cNvPicPr>
          <p:nvPr/>
        </p:nvPicPr>
        <p:blipFill>
          <a:blip r:embed="rId3"/>
          <a:stretch>
            <a:fillRect/>
          </a:stretch>
        </p:blipFill>
        <p:spPr>
          <a:xfrm>
            <a:off x="7398671" y="4004957"/>
            <a:ext cx="2423857" cy="2447163"/>
          </a:xfrm>
          <a:prstGeom prst="rect">
            <a:avLst/>
          </a:prstGeom>
        </p:spPr>
      </p:pic>
      <p:sp>
        <p:nvSpPr>
          <p:cNvPr id="9" name="文字方塊 8">
            <a:extLst>
              <a:ext uri="{FF2B5EF4-FFF2-40B4-BE49-F238E27FC236}">
                <a16:creationId xmlns:a16="http://schemas.microsoft.com/office/drawing/2014/main" id="{42AAADD6-D853-2135-5F6A-68ECDA995A55}"/>
              </a:ext>
            </a:extLst>
          </p:cNvPr>
          <p:cNvSpPr txBox="1"/>
          <p:nvPr/>
        </p:nvSpPr>
        <p:spPr>
          <a:xfrm>
            <a:off x="1828800" y="5799320"/>
            <a:ext cx="5570756" cy="400110"/>
          </a:xfrm>
          <a:prstGeom prst="rect">
            <a:avLst/>
          </a:prstGeom>
          <a:noFill/>
        </p:spPr>
        <p:txBody>
          <a:bodyPr wrap="none" rtlCol="0">
            <a:spAutoFit/>
          </a:bodyPr>
          <a:lstStyle/>
          <a:p>
            <a:r>
              <a:rPr lang="zh-TW" altLang="en-US" sz="2000" dirty="0">
                <a:solidFill>
                  <a:srgbClr val="FF0000"/>
                </a:solidFill>
                <a:latin typeface="標楷體" panose="03000509000000000000" pitchFamily="65" charset="-120"/>
                <a:ea typeface="標楷體" panose="03000509000000000000" pitchFamily="65" charset="-120"/>
              </a:rPr>
              <a:t>電動車的缺點：電池壽命、電池價格、電池汙染</a:t>
            </a:r>
          </a:p>
        </p:txBody>
      </p:sp>
    </p:spTree>
    <p:extLst>
      <p:ext uri="{BB962C8B-B14F-4D97-AF65-F5344CB8AC3E}">
        <p14:creationId xmlns:p14="http://schemas.microsoft.com/office/powerpoint/2010/main" val="47038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7893" y="190222"/>
            <a:ext cx="7736107" cy="692750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29016">
            <a:off x="521061" y="1548367"/>
            <a:ext cx="3966765" cy="3519317"/>
          </a:xfrm>
          <a:prstGeom prst="rect">
            <a:avLst/>
          </a:prstGeom>
        </p:spPr>
      </p:pic>
      <p:sp>
        <p:nvSpPr>
          <p:cNvPr id="9" name="文本框 8"/>
          <p:cNvSpPr txBox="1"/>
          <p:nvPr/>
        </p:nvSpPr>
        <p:spPr>
          <a:xfrm>
            <a:off x="1385930" y="2377002"/>
            <a:ext cx="4767735" cy="1862048"/>
          </a:xfrm>
          <a:prstGeom prst="rect">
            <a:avLst/>
          </a:prstGeom>
          <a:noFill/>
        </p:spPr>
        <p:txBody>
          <a:bodyPr wrap="square" rtlCol="0">
            <a:spAutoFit/>
          </a:bodyPr>
          <a:lstStyle/>
          <a:p>
            <a:pPr algn="dist"/>
            <a:r>
              <a:rPr lang="en-US" altLang="zh-CN" sz="11500" dirty="0">
                <a:latin typeface="Impact" panose="020B0806030902050204" pitchFamily="34" charset="0"/>
              </a:rPr>
              <a:t>PART02</a:t>
            </a:r>
            <a:endParaRPr lang="zh-CN" altLang="en-US" sz="11500" dirty="0">
              <a:latin typeface="Impact" panose="020B0806030902050204" pitchFamily="34" charset="0"/>
            </a:endParaRPr>
          </a:p>
        </p:txBody>
      </p:sp>
      <p:sp>
        <p:nvSpPr>
          <p:cNvPr id="10" name="文本框 9"/>
          <p:cNvSpPr txBox="1"/>
          <p:nvPr/>
        </p:nvSpPr>
        <p:spPr>
          <a:xfrm>
            <a:off x="1118244" y="4029511"/>
            <a:ext cx="5303106" cy="1446550"/>
          </a:xfrm>
          <a:prstGeom prst="rect">
            <a:avLst/>
          </a:prstGeom>
          <a:noFill/>
        </p:spPr>
        <p:txBody>
          <a:bodyPr wrap="square" rtlCol="0">
            <a:spAutoFit/>
          </a:bodyPr>
          <a:lstStyle/>
          <a:p>
            <a:pPr algn="ctr"/>
            <a:r>
              <a:rPr lang="zh-TW" altLang="en-US" sz="4400" dirty="0">
                <a:latin typeface="方正兰亭粗黑简体" panose="02000000000000000000" pitchFamily="2" charset="-122"/>
                <a:ea typeface="方正兰亭粗黑简体" panose="02000000000000000000"/>
              </a:rPr>
              <a:t>綠色科技相關之</a:t>
            </a:r>
            <a:endParaRPr lang="en-US" altLang="zh-TW" sz="4400" dirty="0">
              <a:latin typeface="方正兰亭粗黑简体" panose="02000000000000000000" pitchFamily="2" charset="-122"/>
              <a:ea typeface="方正兰亭粗黑简体" panose="02000000000000000000"/>
            </a:endParaRPr>
          </a:p>
          <a:p>
            <a:pPr algn="ctr"/>
            <a:r>
              <a:rPr lang="zh-TW" altLang="en-US" sz="4400" dirty="0">
                <a:latin typeface="方正兰亭粗黑简体" panose="02000000000000000000" pitchFamily="2" charset="-122"/>
                <a:ea typeface="方正兰亭粗黑简体" panose="02000000000000000000"/>
              </a:rPr>
              <a:t>光電元件發展與應用</a:t>
            </a:r>
            <a:endParaRPr lang="zh-CN" altLang="en-US" sz="3200" dirty="0">
              <a:latin typeface="方正兰亭粗黑简体" panose="02000000000000000000" pitchFamily="2" charset="-122"/>
              <a:ea typeface="方正兰亭粗黑简体" panose="02000000000000000000"/>
            </a:endParaRPr>
          </a:p>
        </p:txBody>
      </p:sp>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4</a:t>
            </a:fld>
            <a:endParaRPr lang="zh-CN" altLang="en-US"/>
          </a:p>
        </p:txBody>
      </p:sp>
    </p:spTree>
    <p:extLst>
      <p:ext uri="{BB962C8B-B14F-4D97-AF65-F5344CB8AC3E}">
        <p14:creationId xmlns:p14="http://schemas.microsoft.com/office/powerpoint/2010/main" val="14941797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5</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lstStyle/>
          <a:p>
            <a:r>
              <a:rPr lang="en-US" altLang="zh-TW"/>
              <a:t>01</a:t>
            </a:r>
            <a:endParaRPr lang="zh-TW" altLang="en-US"/>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zh-TW" altLang="en-US" dirty="0"/>
              <a:t>綠色科技相關之光電元件發展與應用</a:t>
            </a:r>
          </a:p>
        </p:txBody>
      </p:sp>
      <p:sp>
        <p:nvSpPr>
          <p:cNvPr id="2" name="內容版面配置區 1">
            <a:extLst>
              <a:ext uri="{FF2B5EF4-FFF2-40B4-BE49-F238E27FC236}">
                <a16:creationId xmlns:a16="http://schemas.microsoft.com/office/drawing/2014/main" id="{C18A2254-33D5-6871-BD26-F5877EE4C72E}"/>
              </a:ext>
            </a:extLst>
          </p:cNvPr>
          <p:cNvSpPr>
            <a:spLocks noGrp="1"/>
          </p:cNvSpPr>
          <p:nvPr>
            <p:ph idx="1"/>
          </p:nvPr>
        </p:nvSpPr>
        <p:spPr>
          <a:xfrm>
            <a:off x="838200" y="1551963"/>
            <a:ext cx="10515600" cy="4905988"/>
          </a:xfrm>
        </p:spPr>
        <p:txBody>
          <a:bodyPr>
            <a:normAutofit/>
          </a:bodyPr>
          <a:lstStyle/>
          <a:p>
            <a:r>
              <a:rPr lang="zh-TW" altLang="en-US" dirty="0"/>
              <a:t>太陽能電池（</a:t>
            </a:r>
            <a:r>
              <a:rPr lang="en-US" altLang="zh-TW" dirty="0"/>
              <a:t>Solar cell</a:t>
            </a:r>
            <a:r>
              <a:rPr lang="zh-TW" altLang="en-US" dirty="0"/>
              <a:t>）</a:t>
            </a:r>
            <a:endParaRPr lang="en-US" altLang="zh-TW" dirty="0"/>
          </a:p>
          <a:p>
            <a:pPr lvl="1"/>
            <a:r>
              <a:rPr lang="zh-TW" altLang="en-US" dirty="0"/>
              <a:t>第一代：矽晶太陽能電池</a:t>
            </a:r>
            <a:endParaRPr lang="en-US" altLang="zh-TW" dirty="0"/>
          </a:p>
          <a:p>
            <a:pPr lvl="2"/>
            <a:r>
              <a:rPr lang="zh-TW" altLang="en-US" dirty="0"/>
              <a:t>單結晶矽太陽能電池 </a:t>
            </a:r>
            <a:r>
              <a:rPr lang="en-US" altLang="zh-TW" dirty="0"/>
              <a:t>– </a:t>
            </a:r>
            <a:r>
              <a:rPr lang="zh-TW" altLang="en-US" dirty="0"/>
              <a:t>單晶發電效率高</a:t>
            </a:r>
            <a:endParaRPr lang="en-US" altLang="zh-TW" dirty="0"/>
          </a:p>
          <a:p>
            <a:pPr lvl="2"/>
            <a:r>
              <a:rPr lang="zh-TW" altLang="en-US" dirty="0"/>
              <a:t>多結晶矽太陽能電池 </a:t>
            </a:r>
            <a:r>
              <a:rPr lang="en-US" altLang="zh-TW" dirty="0"/>
              <a:t>– </a:t>
            </a:r>
            <a:r>
              <a:rPr lang="zh-TW" altLang="en-US" dirty="0"/>
              <a:t>較單晶便宜</a:t>
            </a:r>
            <a:endParaRPr lang="en-US" altLang="zh-TW" dirty="0"/>
          </a:p>
          <a:p>
            <a:pPr lvl="1"/>
            <a:r>
              <a:rPr lang="zh-TW" altLang="en-US" dirty="0"/>
              <a:t>第二代：薄膜太陽能電池</a:t>
            </a:r>
            <a:endParaRPr lang="en-US" altLang="zh-TW" dirty="0"/>
          </a:p>
          <a:p>
            <a:pPr lvl="2"/>
            <a:r>
              <a:rPr lang="zh-TW" altLang="en-US" dirty="0"/>
              <a:t>非結晶矽太陽能電池 </a:t>
            </a:r>
            <a:r>
              <a:rPr lang="en-US" altLang="zh-TW" dirty="0"/>
              <a:t>–</a:t>
            </a:r>
            <a:r>
              <a:rPr lang="zh-TW" altLang="en-US" dirty="0"/>
              <a:t> 非晶價格最便宜</a:t>
            </a:r>
            <a:endParaRPr lang="en-US" altLang="zh-TW" dirty="0"/>
          </a:p>
          <a:p>
            <a:pPr lvl="1"/>
            <a:r>
              <a:rPr lang="zh-TW" altLang="en-US" dirty="0"/>
              <a:t>第三代：新型前瞻太陽能電池</a:t>
            </a:r>
            <a:endParaRPr lang="en-US" altLang="zh-TW" dirty="0"/>
          </a:p>
          <a:p>
            <a:pPr lvl="2"/>
            <a:r>
              <a:rPr lang="zh-TW" altLang="en-US" dirty="0"/>
              <a:t>染料敏化太陽能電池 （</a:t>
            </a:r>
            <a:r>
              <a:rPr lang="en-US" altLang="zh-TW" dirty="0"/>
              <a:t>Dye-sensitized solar cell</a:t>
            </a:r>
            <a:r>
              <a:rPr lang="zh-TW" altLang="en-US" dirty="0"/>
              <a:t>）</a:t>
            </a:r>
            <a:r>
              <a:rPr lang="en-US" altLang="zh-TW" dirty="0"/>
              <a:t>– </a:t>
            </a:r>
            <a:r>
              <a:rPr lang="zh-TW" altLang="en-US" dirty="0"/>
              <a:t>可透明，用於室內</a:t>
            </a:r>
            <a:endParaRPr lang="en-US" altLang="zh-TW" dirty="0"/>
          </a:p>
          <a:p>
            <a:pPr lvl="2"/>
            <a:r>
              <a:rPr lang="zh-TW" altLang="en-US" dirty="0"/>
              <a:t>鈣鈦擴（</a:t>
            </a:r>
            <a:r>
              <a:rPr lang="en-US" altLang="zh-TW" dirty="0"/>
              <a:t>Perovskite</a:t>
            </a:r>
            <a:r>
              <a:rPr lang="zh-TW" altLang="en-US" dirty="0"/>
              <a:t>）</a:t>
            </a:r>
            <a:endParaRPr lang="en-US" altLang="zh-TW" dirty="0"/>
          </a:p>
          <a:p>
            <a:pPr lvl="2"/>
            <a:endParaRPr lang="en-US" altLang="zh-TW" dirty="0"/>
          </a:p>
          <a:p>
            <a:r>
              <a:rPr lang="zh-TW" altLang="en-US" dirty="0"/>
              <a:t>發光二極體（</a:t>
            </a:r>
            <a:r>
              <a:rPr lang="en-US" altLang="zh-TW" dirty="0"/>
              <a:t>Light emitting diode</a:t>
            </a:r>
            <a:r>
              <a:rPr lang="zh-TW" altLang="en-US" dirty="0"/>
              <a:t>）</a:t>
            </a:r>
            <a:endParaRPr lang="en-US" altLang="zh-TW" dirty="0"/>
          </a:p>
          <a:p>
            <a:endParaRPr lang="en-US" altLang="zh-TW" dirty="0"/>
          </a:p>
          <a:p>
            <a:r>
              <a:rPr lang="zh-TW" altLang="en-US" dirty="0"/>
              <a:t>光偵測器（</a:t>
            </a:r>
            <a:r>
              <a:rPr lang="en-US" altLang="zh-TW" dirty="0"/>
              <a:t>Photodetector</a:t>
            </a:r>
            <a:r>
              <a:rPr lang="zh-TW" altLang="en-US" dirty="0"/>
              <a:t>）</a:t>
            </a:r>
            <a:endParaRPr lang="en-US" altLang="zh-TW" dirty="0"/>
          </a:p>
          <a:p>
            <a:endParaRPr lang="en-US" altLang="zh-TW" dirty="0"/>
          </a:p>
          <a:p>
            <a:pPr lvl="1"/>
            <a:endParaRPr lang="en-US" altLang="zh-TW" dirty="0"/>
          </a:p>
          <a:p>
            <a:pPr lvl="1"/>
            <a:endParaRPr lang="en-US" altLang="zh-TW" dirty="0"/>
          </a:p>
          <a:p>
            <a:pPr lvl="1"/>
            <a:endParaRPr lang="en-US" altLang="zh-TW" dirty="0"/>
          </a:p>
          <a:p>
            <a:endParaRPr lang="en-US" altLang="zh-TW" dirty="0"/>
          </a:p>
        </p:txBody>
      </p:sp>
    </p:spTree>
    <p:extLst>
      <p:ext uri="{BB962C8B-B14F-4D97-AF65-F5344CB8AC3E}">
        <p14:creationId xmlns:p14="http://schemas.microsoft.com/office/powerpoint/2010/main" val="1499759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6</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lstStyle/>
          <a:p>
            <a:r>
              <a:rPr lang="en-US" altLang="zh-TW" dirty="0"/>
              <a:t>02</a:t>
            </a:r>
            <a:endParaRPr lang="zh-TW" altLang="en-US" dirty="0"/>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zh-TW" altLang="en-US" dirty="0"/>
              <a:t>太陽能電池</a:t>
            </a:r>
          </a:p>
        </p:txBody>
      </p:sp>
      <p:pic>
        <p:nvPicPr>
          <p:cNvPr id="9" name="圖片 8">
            <a:extLst>
              <a:ext uri="{FF2B5EF4-FFF2-40B4-BE49-F238E27FC236}">
                <a16:creationId xmlns:a16="http://schemas.microsoft.com/office/drawing/2014/main" id="{F50C4CCD-4379-B7E1-30B0-5DDE42619E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992" y="937668"/>
            <a:ext cx="7859173" cy="5783807"/>
          </a:xfrm>
          <a:prstGeom prst="rect">
            <a:avLst/>
          </a:prstGeom>
        </p:spPr>
      </p:pic>
    </p:spTree>
    <p:extLst>
      <p:ext uri="{BB962C8B-B14F-4D97-AF65-F5344CB8AC3E}">
        <p14:creationId xmlns:p14="http://schemas.microsoft.com/office/powerpoint/2010/main" val="1764192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7</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lstStyle/>
          <a:p>
            <a:r>
              <a:rPr lang="en-US" altLang="zh-TW" dirty="0"/>
              <a:t>03</a:t>
            </a:r>
            <a:endParaRPr lang="zh-TW" altLang="en-US" dirty="0"/>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zh-TW" altLang="en-US" dirty="0"/>
              <a:t>染料敏化太陽能電池 </a:t>
            </a:r>
          </a:p>
        </p:txBody>
      </p:sp>
      <p:sp>
        <p:nvSpPr>
          <p:cNvPr id="2" name="內容版面配置區 1">
            <a:extLst>
              <a:ext uri="{FF2B5EF4-FFF2-40B4-BE49-F238E27FC236}">
                <a16:creationId xmlns:a16="http://schemas.microsoft.com/office/drawing/2014/main" id="{C18A2254-33D5-6871-BD26-F5877EE4C72E}"/>
              </a:ext>
            </a:extLst>
          </p:cNvPr>
          <p:cNvSpPr>
            <a:spLocks noGrp="1"/>
          </p:cNvSpPr>
          <p:nvPr>
            <p:ph idx="1"/>
          </p:nvPr>
        </p:nvSpPr>
        <p:spPr>
          <a:xfrm>
            <a:off x="838200" y="1551963"/>
            <a:ext cx="10515600" cy="4905988"/>
          </a:xfrm>
        </p:spPr>
        <p:txBody>
          <a:bodyPr>
            <a:normAutofit/>
          </a:bodyPr>
          <a:lstStyle/>
          <a:p>
            <a:r>
              <a:rPr lang="zh-TW" altLang="en-US" dirty="0"/>
              <a:t>由瑞士洛桑高等工業學校（</a:t>
            </a:r>
            <a:r>
              <a:rPr lang="en-US" altLang="zh-TW" dirty="0"/>
              <a:t>EPFL</a:t>
            </a:r>
            <a:r>
              <a:rPr lang="zh-TW" altLang="en-US" dirty="0"/>
              <a:t>）</a:t>
            </a:r>
            <a:r>
              <a:rPr lang="en-US" altLang="zh-TW" dirty="0"/>
              <a:t>Michael </a:t>
            </a:r>
            <a:r>
              <a:rPr lang="en-US" altLang="zh-TW" dirty="0" err="1"/>
              <a:t>Grätzel</a:t>
            </a:r>
            <a:r>
              <a:rPr lang="zh-TW" altLang="en-US" dirty="0"/>
              <a:t> 教授領導的研究小組，在 </a:t>
            </a:r>
            <a:r>
              <a:rPr lang="en-US" altLang="zh-TW" dirty="0"/>
              <a:t>1991 </a:t>
            </a:r>
            <a:r>
              <a:rPr lang="zh-TW" altLang="en-US" dirty="0"/>
              <a:t>年所發展出來的一種染料敏化奈米薄膜電池，其光電轉換效率達 </a:t>
            </a:r>
            <a:r>
              <a:rPr lang="en-US" altLang="zh-TW" dirty="0"/>
              <a:t>7.1%</a:t>
            </a:r>
            <a:r>
              <a:rPr lang="zh-TW" altLang="en-US" dirty="0"/>
              <a:t>（</a:t>
            </a:r>
            <a:r>
              <a:rPr lang="en-US" altLang="zh-TW" dirty="0"/>
              <a:t>AM1.5</a:t>
            </a:r>
            <a:r>
              <a:rPr lang="zh-TW" altLang="en-US" dirty="0"/>
              <a:t>）。</a:t>
            </a:r>
            <a:endParaRPr lang="en-US" altLang="zh-TW" dirty="0"/>
          </a:p>
          <a:p>
            <a:endParaRPr lang="en-US" altLang="zh-TW" dirty="0"/>
          </a:p>
          <a:p>
            <a:pPr lvl="1"/>
            <a:endParaRPr lang="en-US" altLang="zh-TW" dirty="0"/>
          </a:p>
          <a:p>
            <a:pPr lvl="1"/>
            <a:endParaRPr lang="en-US" altLang="zh-TW" dirty="0"/>
          </a:p>
          <a:p>
            <a:pPr lvl="1"/>
            <a:endParaRPr lang="en-US" altLang="zh-TW" dirty="0"/>
          </a:p>
          <a:p>
            <a:endParaRPr lang="en-US" altLang="zh-TW" dirty="0"/>
          </a:p>
        </p:txBody>
      </p:sp>
      <p:pic>
        <p:nvPicPr>
          <p:cNvPr id="7" name="圖片 6">
            <a:extLst>
              <a:ext uri="{FF2B5EF4-FFF2-40B4-BE49-F238E27FC236}">
                <a16:creationId xmlns:a16="http://schemas.microsoft.com/office/drawing/2014/main" id="{09672124-9797-3F2A-522D-0F4F28DE0F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0966" y="2672473"/>
            <a:ext cx="4370068" cy="4049002"/>
          </a:xfrm>
          <a:prstGeom prst="rect">
            <a:avLst/>
          </a:prstGeom>
        </p:spPr>
      </p:pic>
    </p:spTree>
    <p:extLst>
      <p:ext uri="{BB962C8B-B14F-4D97-AF65-F5344CB8AC3E}">
        <p14:creationId xmlns:p14="http://schemas.microsoft.com/office/powerpoint/2010/main" val="410776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7893" y="190222"/>
            <a:ext cx="7736107" cy="692750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29016">
            <a:off x="521061" y="1548367"/>
            <a:ext cx="3966765" cy="3519317"/>
          </a:xfrm>
          <a:prstGeom prst="rect">
            <a:avLst/>
          </a:prstGeom>
        </p:spPr>
      </p:pic>
      <p:sp>
        <p:nvSpPr>
          <p:cNvPr id="9" name="文本框 8"/>
          <p:cNvSpPr txBox="1"/>
          <p:nvPr/>
        </p:nvSpPr>
        <p:spPr>
          <a:xfrm>
            <a:off x="1385930" y="2377002"/>
            <a:ext cx="4767735" cy="1862048"/>
          </a:xfrm>
          <a:prstGeom prst="rect">
            <a:avLst/>
          </a:prstGeom>
          <a:noFill/>
        </p:spPr>
        <p:txBody>
          <a:bodyPr wrap="square" rtlCol="0">
            <a:spAutoFit/>
          </a:bodyPr>
          <a:lstStyle/>
          <a:p>
            <a:pPr algn="dist"/>
            <a:r>
              <a:rPr lang="en-US" altLang="zh-CN" sz="11500" dirty="0">
                <a:latin typeface="Impact" panose="020B0806030902050204" pitchFamily="34" charset="0"/>
              </a:rPr>
              <a:t>PART03</a:t>
            </a:r>
            <a:endParaRPr lang="zh-CN" altLang="en-US" sz="11500" dirty="0">
              <a:latin typeface="Impact" panose="020B0806030902050204" pitchFamily="34" charset="0"/>
            </a:endParaRPr>
          </a:p>
        </p:txBody>
      </p:sp>
      <p:sp>
        <p:nvSpPr>
          <p:cNvPr id="10" name="文本框 9"/>
          <p:cNvSpPr txBox="1"/>
          <p:nvPr/>
        </p:nvSpPr>
        <p:spPr>
          <a:xfrm>
            <a:off x="1118244" y="4029511"/>
            <a:ext cx="5303106" cy="769441"/>
          </a:xfrm>
          <a:prstGeom prst="rect">
            <a:avLst/>
          </a:prstGeom>
          <a:noFill/>
        </p:spPr>
        <p:txBody>
          <a:bodyPr wrap="square" rtlCol="0">
            <a:spAutoFit/>
          </a:bodyPr>
          <a:lstStyle/>
          <a:p>
            <a:pPr algn="ctr"/>
            <a:r>
              <a:rPr lang="zh-TW" altLang="en-US" sz="4400" dirty="0">
                <a:latin typeface="方正兰亭粗黑简体" panose="02000000000000000000" pitchFamily="2" charset="-122"/>
                <a:ea typeface="方正兰亭粗黑简体" panose="02000000000000000000"/>
              </a:rPr>
              <a:t>鈣鈦礦</a:t>
            </a:r>
            <a:endParaRPr lang="zh-CN" altLang="en-US" sz="3200" dirty="0">
              <a:latin typeface="方正兰亭粗黑简体" panose="02000000000000000000" pitchFamily="2" charset="-122"/>
              <a:ea typeface="方正兰亭粗黑简体" panose="02000000000000000000"/>
            </a:endParaRPr>
          </a:p>
        </p:txBody>
      </p:sp>
      <p:sp>
        <p:nvSpPr>
          <p:cNvPr id="4" name="投影片編號版面配置區 3">
            <a:extLst>
              <a:ext uri="{FF2B5EF4-FFF2-40B4-BE49-F238E27FC236}">
                <a16:creationId xmlns:a16="http://schemas.microsoft.com/office/drawing/2014/main" id="{0B32F65E-2254-2749-121E-FA845EC7759F}"/>
              </a:ext>
            </a:extLst>
          </p:cNvPr>
          <p:cNvSpPr>
            <a:spLocks noGrp="1"/>
          </p:cNvSpPr>
          <p:nvPr>
            <p:ph type="sldNum" sz="quarter" idx="12"/>
          </p:nvPr>
        </p:nvSpPr>
        <p:spPr/>
        <p:txBody>
          <a:bodyPr/>
          <a:lstStyle/>
          <a:p>
            <a:fld id="{726FD8BB-E3C9-46DF-9B94-1AF8F33E9E37}" type="slidenum">
              <a:rPr lang="zh-CN" altLang="en-US" smtClean="0"/>
              <a:pPr/>
              <a:t>8</a:t>
            </a:fld>
            <a:endParaRPr lang="zh-CN" altLang="en-US"/>
          </a:p>
        </p:txBody>
      </p:sp>
    </p:spTree>
    <p:extLst>
      <p:ext uri="{BB962C8B-B14F-4D97-AF65-F5344CB8AC3E}">
        <p14:creationId xmlns:p14="http://schemas.microsoft.com/office/powerpoint/2010/main" val="207609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D59FA61F-70E2-DCDF-C39E-3841E0C94E65}"/>
              </a:ext>
            </a:extLst>
          </p:cNvPr>
          <p:cNvSpPr>
            <a:spLocks noGrp="1"/>
          </p:cNvSpPr>
          <p:nvPr>
            <p:ph idx="1"/>
          </p:nvPr>
        </p:nvSpPr>
        <p:spPr>
          <a:xfrm>
            <a:off x="838200" y="1551963"/>
            <a:ext cx="10515600" cy="4905988"/>
          </a:xfrm>
        </p:spPr>
        <p:txBody>
          <a:bodyPr>
            <a:normAutofit/>
          </a:bodyPr>
          <a:lstStyle/>
          <a:p>
            <a:r>
              <a:rPr lang="zh-TW" altLang="en-US" dirty="0"/>
              <a:t>鈣鈦礦是新的發電材料，其壽命更加耐用。</a:t>
            </a:r>
            <a:endParaRPr lang="en-US" altLang="zh-TW" dirty="0"/>
          </a:p>
          <a:p>
            <a:r>
              <a:rPr lang="zh-TW" altLang="en-US" dirty="0"/>
              <a:t>在今年</a:t>
            </a:r>
            <a:r>
              <a:rPr lang="en-US" altLang="zh-TW" dirty="0"/>
              <a:t>2</a:t>
            </a:r>
            <a:r>
              <a:rPr lang="zh-TW" altLang="en-US" dirty="0"/>
              <a:t>月馬斯克考察異質結（</a:t>
            </a:r>
            <a:r>
              <a:rPr lang="en-US" altLang="zh-TW" dirty="0"/>
              <a:t>HJT</a:t>
            </a:r>
            <a:r>
              <a:rPr lang="zh-TW" altLang="en-US" dirty="0"/>
              <a:t>）與鈣鈦礦（</a:t>
            </a:r>
            <a:r>
              <a:rPr lang="en-US" altLang="zh-TW" dirty="0"/>
              <a:t>Perovskite</a:t>
            </a:r>
            <a:r>
              <a:rPr lang="zh-TW" altLang="en-US" dirty="0"/>
              <a:t>）等次世代太陽能技術後，相關鈣鈦礦與異質結相關技術公司股價大漲。</a:t>
            </a:r>
          </a:p>
        </p:txBody>
      </p:sp>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9</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lstStyle/>
          <a:p>
            <a:r>
              <a:rPr lang="en-US" altLang="zh-TW"/>
              <a:t>01</a:t>
            </a:r>
            <a:endParaRPr lang="zh-TW" altLang="en-US"/>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zh-TW" altLang="en-US" dirty="0"/>
              <a:t>鈣鈦礦（</a:t>
            </a:r>
            <a:r>
              <a:rPr lang="en-US" altLang="zh-TW" dirty="0"/>
              <a:t>Perovskite</a:t>
            </a:r>
            <a:r>
              <a:rPr lang="zh-TW" altLang="en-US" dirty="0"/>
              <a:t>）</a:t>
            </a:r>
          </a:p>
        </p:txBody>
      </p:sp>
      <p:pic>
        <p:nvPicPr>
          <p:cNvPr id="7" name="圖片 6">
            <a:extLst>
              <a:ext uri="{FF2B5EF4-FFF2-40B4-BE49-F238E27FC236}">
                <a16:creationId xmlns:a16="http://schemas.microsoft.com/office/drawing/2014/main" id="{C17238E3-717D-6B0C-8AAE-E06701D28246}"/>
              </a:ext>
            </a:extLst>
          </p:cNvPr>
          <p:cNvPicPr>
            <a:picLocks noChangeAspect="1"/>
          </p:cNvPicPr>
          <p:nvPr/>
        </p:nvPicPr>
        <p:blipFill>
          <a:blip r:embed="rId3"/>
          <a:stretch>
            <a:fillRect/>
          </a:stretch>
        </p:blipFill>
        <p:spPr>
          <a:xfrm>
            <a:off x="5609658" y="2784438"/>
            <a:ext cx="5445290" cy="3937037"/>
          </a:xfrm>
          <a:prstGeom prst="rect">
            <a:avLst/>
          </a:prstGeom>
        </p:spPr>
      </p:pic>
      <p:pic>
        <p:nvPicPr>
          <p:cNvPr id="10" name="圖片 9">
            <a:extLst>
              <a:ext uri="{FF2B5EF4-FFF2-40B4-BE49-F238E27FC236}">
                <a16:creationId xmlns:a16="http://schemas.microsoft.com/office/drawing/2014/main" id="{576955FC-8DC5-B8C9-26F8-5C104150A83B}"/>
              </a:ext>
            </a:extLst>
          </p:cNvPr>
          <p:cNvPicPr>
            <a:picLocks noChangeAspect="1"/>
          </p:cNvPicPr>
          <p:nvPr/>
        </p:nvPicPr>
        <p:blipFill>
          <a:blip r:embed="rId4"/>
          <a:stretch>
            <a:fillRect/>
          </a:stretch>
        </p:blipFill>
        <p:spPr>
          <a:xfrm>
            <a:off x="892242" y="3108602"/>
            <a:ext cx="4663374" cy="3481111"/>
          </a:xfrm>
          <a:prstGeom prst="rect">
            <a:avLst/>
          </a:prstGeom>
        </p:spPr>
      </p:pic>
    </p:spTree>
    <p:extLst>
      <p:ext uri="{BB962C8B-B14F-4D97-AF65-F5344CB8AC3E}">
        <p14:creationId xmlns:p14="http://schemas.microsoft.com/office/powerpoint/2010/main" val="3502250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D59FA61F-70E2-DCDF-C39E-3841E0C94E65}"/>
              </a:ext>
            </a:extLst>
          </p:cNvPr>
          <p:cNvSpPr>
            <a:spLocks noGrp="1"/>
          </p:cNvSpPr>
          <p:nvPr>
            <p:ph idx="1"/>
          </p:nvPr>
        </p:nvSpPr>
        <p:spPr>
          <a:xfrm>
            <a:off x="838200" y="1551963"/>
            <a:ext cx="10515600" cy="4905988"/>
          </a:xfrm>
        </p:spPr>
        <p:txBody>
          <a:bodyPr>
            <a:normAutofit/>
          </a:bodyPr>
          <a:lstStyle/>
          <a:p>
            <a:r>
              <a:rPr lang="zh-TW" altLang="en-US" dirty="0"/>
              <a:t>台灣鈣鈦礦科技股份有限公司（簡稱台鈣科）是台灣第一家專注於第三代鈣鈦礦太陽能技術的指標性研發與製造廠商。</a:t>
            </a:r>
            <a:endParaRPr lang="en-US" altLang="zh-TW" dirty="0"/>
          </a:p>
          <a:p>
            <a:r>
              <a:rPr lang="zh-TW" altLang="en-US" dirty="0"/>
              <a:t>台灣鈣鈦礦科技將以「</a:t>
            </a:r>
            <a:r>
              <a:rPr lang="en-US" altLang="zh-TW" dirty="0"/>
              <a:t>PEROVSKITE AI</a:t>
            </a:r>
            <a:r>
              <a:rPr lang="zh-TW" altLang="en-US" dirty="0"/>
              <a:t>」為主題參展。</a:t>
            </a:r>
            <a:endParaRPr lang="en-US" altLang="zh-TW" dirty="0"/>
          </a:p>
        </p:txBody>
      </p:sp>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10</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normAutofit/>
          </a:bodyPr>
          <a:lstStyle/>
          <a:p>
            <a:r>
              <a:rPr lang="en-US" altLang="zh-TW" dirty="0"/>
              <a:t>02</a:t>
            </a:r>
            <a:endParaRPr lang="zh-TW" altLang="en-US" dirty="0"/>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en-US" altLang="zh-TW" dirty="0"/>
              <a:t>2026</a:t>
            </a:r>
            <a:r>
              <a:rPr lang="zh-TW" altLang="en-US" dirty="0"/>
              <a:t>台灣國際智慧能源週</a:t>
            </a:r>
          </a:p>
        </p:txBody>
      </p:sp>
      <p:pic>
        <p:nvPicPr>
          <p:cNvPr id="10" name="圖片 9">
            <a:extLst>
              <a:ext uri="{FF2B5EF4-FFF2-40B4-BE49-F238E27FC236}">
                <a16:creationId xmlns:a16="http://schemas.microsoft.com/office/drawing/2014/main" id="{148B192A-1925-FF74-FFFC-6A35F5AEF981}"/>
              </a:ext>
            </a:extLst>
          </p:cNvPr>
          <p:cNvPicPr>
            <a:picLocks noChangeAspect="1"/>
          </p:cNvPicPr>
          <p:nvPr/>
        </p:nvPicPr>
        <p:blipFill>
          <a:blip r:embed="rId3"/>
          <a:stretch>
            <a:fillRect/>
          </a:stretch>
        </p:blipFill>
        <p:spPr>
          <a:xfrm>
            <a:off x="2433969" y="2779288"/>
            <a:ext cx="7324062" cy="3942187"/>
          </a:xfrm>
          <a:prstGeom prst="rect">
            <a:avLst/>
          </a:prstGeom>
        </p:spPr>
      </p:pic>
    </p:spTree>
    <p:extLst>
      <p:ext uri="{BB962C8B-B14F-4D97-AF65-F5344CB8AC3E}">
        <p14:creationId xmlns:p14="http://schemas.microsoft.com/office/powerpoint/2010/main" val="2651030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D59FA61F-70E2-DCDF-C39E-3841E0C94E65}"/>
              </a:ext>
            </a:extLst>
          </p:cNvPr>
          <p:cNvSpPr>
            <a:spLocks noGrp="1"/>
          </p:cNvSpPr>
          <p:nvPr>
            <p:ph idx="1"/>
          </p:nvPr>
        </p:nvSpPr>
        <p:spPr>
          <a:xfrm>
            <a:off x="838200" y="1551963"/>
            <a:ext cx="10515600" cy="4905988"/>
          </a:xfrm>
        </p:spPr>
        <p:txBody>
          <a:bodyPr>
            <a:normAutofit/>
          </a:bodyPr>
          <a:lstStyle/>
          <a:p>
            <a:r>
              <a:rPr lang="zh-TW" altLang="en-US" dirty="0"/>
              <a:t>當今科技與商業趨勢的大目標以馬斯克、黃仁勳當作學習的對象，應當時時關注相關新聞消息。</a:t>
            </a:r>
            <a:endParaRPr lang="en-US" altLang="zh-TW" dirty="0"/>
          </a:p>
        </p:txBody>
      </p:sp>
      <p:sp>
        <p:nvSpPr>
          <p:cNvPr id="3" name="投影片編號版面配置區 2">
            <a:extLst>
              <a:ext uri="{FF2B5EF4-FFF2-40B4-BE49-F238E27FC236}">
                <a16:creationId xmlns:a16="http://schemas.microsoft.com/office/drawing/2014/main" id="{607199FE-753F-E5FE-05C7-8739BD0EDAF1}"/>
              </a:ext>
            </a:extLst>
          </p:cNvPr>
          <p:cNvSpPr>
            <a:spLocks noGrp="1"/>
          </p:cNvSpPr>
          <p:nvPr>
            <p:ph type="sldNum" sz="quarter" idx="12"/>
          </p:nvPr>
        </p:nvSpPr>
        <p:spPr/>
        <p:txBody>
          <a:bodyPr/>
          <a:lstStyle/>
          <a:p>
            <a:fld id="{A6C4F607-EBAE-4F4B-BF62-778A00D92850}" type="slidenum">
              <a:rPr lang="en-US" altLang="zh-TW" smtClean="0"/>
              <a:pPr/>
              <a:t>11</a:t>
            </a:fld>
            <a:endParaRPr lang="en-US" dirty="0"/>
          </a:p>
        </p:txBody>
      </p:sp>
      <p:sp>
        <p:nvSpPr>
          <p:cNvPr id="4" name="文字版面配置區 3">
            <a:extLst>
              <a:ext uri="{FF2B5EF4-FFF2-40B4-BE49-F238E27FC236}">
                <a16:creationId xmlns:a16="http://schemas.microsoft.com/office/drawing/2014/main" id="{5F6F92D5-81EF-A292-98CA-30F4C0ABBC20}"/>
              </a:ext>
            </a:extLst>
          </p:cNvPr>
          <p:cNvSpPr>
            <a:spLocks noGrp="1"/>
          </p:cNvSpPr>
          <p:nvPr>
            <p:ph type="body" sz="quarter" idx="13"/>
          </p:nvPr>
        </p:nvSpPr>
        <p:spPr/>
        <p:txBody>
          <a:bodyPr/>
          <a:lstStyle/>
          <a:p>
            <a:r>
              <a:rPr lang="en-US" altLang="zh-TW" dirty="0"/>
              <a:t>03</a:t>
            </a:r>
            <a:endParaRPr lang="zh-TW" altLang="en-US" dirty="0"/>
          </a:p>
        </p:txBody>
      </p:sp>
      <p:sp>
        <p:nvSpPr>
          <p:cNvPr id="5" name="內容版面配置區 4">
            <a:extLst>
              <a:ext uri="{FF2B5EF4-FFF2-40B4-BE49-F238E27FC236}">
                <a16:creationId xmlns:a16="http://schemas.microsoft.com/office/drawing/2014/main" id="{80340C1B-5A9C-E14D-1DC3-51EF82D19818}"/>
              </a:ext>
            </a:extLst>
          </p:cNvPr>
          <p:cNvSpPr>
            <a:spLocks noGrp="1"/>
          </p:cNvSpPr>
          <p:nvPr>
            <p:ph sz="quarter" idx="14"/>
          </p:nvPr>
        </p:nvSpPr>
        <p:spPr/>
        <p:txBody>
          <a:bodyPr>
            <a:normAutofit/>
          </a:bodyPr>
          <a:lstStyle/>
          <a:p>
            <a:r>
              <a:rPr lang="zh-TW" altLang="en-US" dirty="0"/>
              <a:t>科技與商業趨勢</a:t>
            </a:r>
          </a:p>
        </p:txBody>
      </p:sp>
      <p:pic>
        <p:nvPicPr>
          <p:cNvPr id="7" name="圖片 6">
            <a:extLst>
              <a:ext uri="{FF2B5EF4-FFF2-40B4-BE49-F238E27FC236}">
                <a16:creationId xmlns:a16="http://schemas.microsoft.com/office/drawing/2014/main" id="{4EC07709-F864-CCC6-7C7D-79CFCD0179D4}"/>
              </a:ext>
            </a:extLst>
          </p:cNvPr>
          <p:cNvPicPr>
            <a:picLocks noChangeAspect="1"/>
          </p:cNvPicPr>
          <p:nvPr/>
        </p:nvPicPr>
        <p:blipFill>
          <a:blip r:embed="rId3"/>
          <a:stretch>
            <a:fillRect/>
          </a:stretch>
        </p:blipFill>
        <p:spPr>
          <a:xfrm>
            <a:off x="2664273" y="2607707"/>
            <a:ext cx="2753109" cy="3982006"/>
          </a:xfrm>
          <a:prstGeom prst="rect">
            <a:avLst/>
          </a:prstGeom>
        </p:spPr>
      </p:pic>
      <p:pic>
        <p:nvPicPr>
          <p:cNvPr id="9" name="圖片 8">
            <a:extLst>
              <a:ext uri="{FF2B5EF4-FFF2-40B4-BE49-F238E27FC236}">
                <a16:creationId xmlns:a16="http://schemas.microsoft.com/office/drawing/2014/main" id="{02347415-563F-C65F-B1AD-66BD124D9ACA}"/>
              </a:ext>
            </a:extLst>
          </p:cNvPr>
          <p:cNvPicPr>
            <a:picLocks noChangeAspect="1"/>
          </p:cNvPicPr>
          <p:nvPr/>
        </p:nvPicPr>
        <p:blipFill>
          <a:blip r:embed="rId4"/>
          <a:stretch>
            <a:fillRect/>
          </a:stretch>
        </p:blipFill>
        <p:spPr>
          <a:xfrm>
            <a:off x="6774619" y="2607707"/>
            <a:ext cx="2762517" cy="3982006"/>
          </a:xfrm>
          <a:prstGeom prst="rect">
            <a:avLst/>
          </a:prstGeom>
        </p:spPr>
      </p:pic>
    </p:spTree>
    <p:extLst>
      <p:ext uri="{BB962C8B-B14F-4D97-AF65-F5344CB8AC3E}">
        <p14:creationId xmlns:p14="http://schemas.microsoft.com/office/powerpoint/2010/main" val="3549405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图文框 6"/>
          <p:cNvSpPr/>
          <p:nvPr/>
        </p:nvSpPr>
        <p:spPr>
          <a:xfrm>
            <a:off x="3768011" y="1181869"/>
            <a:ext cx="4650475" cy="4650475"/>
          </a:xfrm>
          <a:prstGeom prst="frame">
            <a:avLst>
              <a:gd name="adj1" fmla="val 240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l="28398"/>
          <a:stretch>
            <a:fillRect/>
          </a:stretch>
        </p:blipFill>
        <p:spPr>
          <a:xfrm rot="5400000">
            <a:off x="1624347" y="-1129249"/>
            <a:ext cx="6791780" cy="8494029"/>
          </a:xfrm>
          <a:prstGeom prst="rect">
            <a:avLst/>
          </a:prstGeom>
        </p:spPr>
      </p:pic>
      <p:sp>
        <p:nvSpPr>
          <p:cNvPr id="9" name="文本框 8"/>
          <p:cNvSpPr txBox="1"/>
          <p:nvPr/>
        </p:nvSpPr>
        <p:spPr>
          <a:xfrm>
            <a:off x="3914356" y="2613313"/>
            <a:ext cx="4357784" cy="1569660"/>
          </a:xfrm>
          <a:prstGeom prst="rect">
            <a:avLst/>
          </a:prstGeom>
          <a:noFill/>
        </p:spPr>
        <p:txBody>
          <a:bodyPr wrap="square" rtlCol="0">
            <a:spAutoFit/>
          </a:bodyPr>
          <a:lstStyle/>
          <a:p>
            <a:pPr algn="ctr"/>
            <a:r>
              <a:rPr lang="en-US" altLang="zh-TW" sz="9600">
                <a:latin typeface="Impact" panose="020B0806030902050204" pitchFamily="34" charset="0"/>
              </a:rPr>
              <a:t>THANKS</a:t>
            </a:r>
            <a:endParaRPr lang="zh-CN" altLang="en-US" sz="9600" dirty="0">
              <a:latin typeface="Impact" panose="020B0806030902050204" pitchFamily="34" charset="0"/>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804069">
            <a:off x="9232802" y="4104149"/>
            <a:ext cx="1950088" cy="1899828"/>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0901041">
            <a:off x="7530864" y="3142331"/>
            <a:ext cx="3123449" cy="2771127"/>
          </a:xfrm>
          <a:prstGeom prst="rect">
            <a:avLst/>
          </a:prstGeom>
        </p:spPr>
      </p:pic>
      <p:sp>
        <p:nvSpPr>
          <p:cNvPr id="11" name="文本框 10"/>
          <p:cNvSpPr txBox="1"/>
          <p:nvPr/>
        </p:nvSpPr>
        <p:spPr>
          <a:xfrm>
            <a:off x="5237916" y="4020237"/>
            <a:ext cx="1716168" cy="460375"/>
          </a:xfrm>
          <a:prstGeom prst="rect">
            <a:avLst/>
          </a:prstGeom>
          <a:noFill/>
        </p:spPr>
        <p:txBody>
          <a:bodyPr wrap="square" rtlCol="0">
            <a:spAutoFit/>
          </a:bodyPr>
          <a:lstStyle/>
          <a:p>
            <a:pPr algn="dist"/>
            <a:endParaRPr lang="zh-CN" altLang="en-US" sz="2400" dirty="0">
              <a:latin typeface="Impact" panose="020B0806030902050204" pitchFamily="34" charset="0"/>
              <a:ea typeface="方正兰亭粗黑简体" panose="02000000000000000000" pitchFamily="2" charset="-122"/>
            </a:endParaRPr>
          </a:p>
        </p:txBody>
      </p:sp>
      <p:sp>
        <p:nvSpPr>
          <p:cNvPr id="8" name="矩形 7"/>
          <p:cNvSpPr>
            <a:spLocks noChangeArrowheads="1"/>
          </p:cNvSpPr>
          <p:nvPr/>
        </p:nvSpPr>
        <p:spPr bwMode="auto">
          <a:xfrm>
            <a:off x="4494752" y="4972973"/>
            <a:ext cx="309880" cy="37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tx1"/>
                </a:solidFill>
                <a:latin typeface="Arial" panose="020B0604020202020204" pitchFamily="34" charset="0"/>
                <a:ea typeface="微软雅黑" panose="020B0503020204020204" charset="-122"/>
              </a:defRPr>
            </a:lvl1pPr>
            <a:lvl2pPr indent="-285750">
              <a:spcBef>
                <a:spcPct val="20000"/>
              </a:spcBef>
              <a:buChar char="–"/>
              <a:defRPr sz="2000">
                <a:solidFill>
                  <a:schemeClr val="tx1"/>
                </a:solidFill>
                <a:latin typeface="Arial" panose="020B0604020202020204" pitchFamily="34" charset="0"/>
                <a:ea typeface="仿宋_GB2312" panose="02010609030101010101" pitchFamily="1" charset="-122"/>
              </a:defRPr>
            </a:lvl2pPr>
            <a:lvl3pPr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方正正黑简体" panose="02000000000000000000" pitchFamily="2" charset="-122"/>
              <a:ea typeface="方正正黑简体" panose="02000000000000000000" pitchFamily="2" charset="-122"/>
            </a:endParaRPr>
          </a:p>
        </p:txBody>
      </p:sp>
      <p:sp>
        <p:nvSpPr>
          <p:cNvPr id="6" name="投影片編號版面配置區 5">
            <a:extLst>
              <a:ext uri="{FF2B5EF4-FFF2-40B4-BE49-F238E27FC236}">
                <a16:creationId xmlns:a16="http://schemas.microsoft.com/office/drawing/2014/main" id="{71E581CB-71FB-0E4B-1417-610DE1DB9292}"/>
              </a:ext>
            </a:extLst>
          </p:cNvPr>
          <p:cNvSpPr>
            <a:spLocks noGrp="1"/>
          </p:cNvSpPr>
          <p:nvPr>
            <p:ph type="sldNum" sz="quarter" idx="12"/>
          </p:nvPr>
        </p:nvSpPr>
        <p:spPr/>
        <p:txBody>
          <a:bodyPr/>
          <a:lstStyle/>
          <a:p>
            <a:fld id="{726FD8BB-E3C9-46DF-9B94-1AF8F33E9E37}" type="slidenum">
              <a:rPr lang="zh-CN" altLang="en-US" smtClean="0"/>
              <a:pPr/>
              <a:t>12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22787</TotalTime>
  <Words>421</Words>
  <Application>Microsoft Office PowerPoint</Application>
  <PresentationFormat>寬螢幕</PresentationFormat>
  <Paragraphs>88</Paragraphs>
  <Slides>13</Slides>
  <Notes>9</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13</vt:i4>
      </vt:variant>
    </vt:vector>
  </HeadingPairs>
  <TitlesOfParts>
    <vt:vector size="25" baseType="lpstr">
      <vt:lpstr>Noto Sans TC</vt:lpstr>
      <vt:lpstr>Yu Gothic UI Semibold</vt:lpstr>
      <vt:lpstr>方正兰亭粗黑简体</vt:lpstr>
      <vt:lpstr>方正正黑简体</vt:lpstr>
      <vt:lpstr>迷你简汉真广标</vt:lpstr>
      <vt:lpstr>造字工房悦黑体验版纤细体</vt:lpstr>
      <vt:lpstr>標楷體</vt:lpstr>
      <vt:lpstr>Arial</vt:lpstr>
      <vt:lpstr>Calibri</vt:lpstr>
      <vt:lpstr>Calibri Light</vt:lpstr>
      <vt:lpstr>Impact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彥均 賴</dc:creator>
  <cp:lastModifiedBy>user</cp:lastModifiedBy>
  <cp:revision>775</cp:revision>
  <dcterms:created xsi:type="dcterms:W3CDTF">2022-05-28T08:29:41Z</dcterms:created>
  <dcterms:modified xsi:type="dcterms:W3CDTF">2026-10-06T07:52:43Z</dcterms:modified>
</cp:coreProperties>
</file>