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84" r:id="rId2"/>
    <p:sldId id="389" r:id="rId3"/>
    <p:sldId id="452" r:id="rId4"/>
    <p:sldId id="495" r:id="rId5"/>
    <p:sldId id="527" r:id="rId6"/>
    <p:sldId id="529" r:id="rId7"/>
    <p:sldId id="497" r:id="rId8"/>
    <p:sldId id="265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頭 芋" initials="頭" lastIdx="1" clrIdx="0">
    <p:extLst>
      <p:ext uri="{19B8F6BF-5375-455C-9EA6-DF929625EA0E}">
        <p15:presenceInfo xmlns:p15="http://schemas.microsoft.com/office/powerpoint/2012/main" userId="ea54bbee7b24dc6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C0C"/>
    <a:srgbClr val="FFFFFF"/>
    <a:srgbClr val="F8F8F8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0" autoAdjust="0"/>
    <p:restoredTop sz="87021" autoAdjust="0"/>
  </p:normalViewPr>
  <p:slideViewPr>
    <p:cSldViewPr snapToGrid="0">
      <p:cViewPr varScale="1">
        <p:scale>
          <a:sx n="114" d="100"/>
          <a:sy n="114" d="100"/>
        </p:scale>
        <p:origin x="9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142F4CBD-CDBF-889B-181E-5DA6F30299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7FC4326-5F44-30FC-57B0-9F09151AA7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6DC2A-8C08-46CB-B0AC-8A85B798D43A}" type="datetimeFigureOut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5B129BB-56D9-D4F1-5C37-480271CD3A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2A0AF85-34F4-3ABA-1C4E-58C7C613768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4F727-02A4-470A-9AAF-390F16553B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32401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9B3DE7-9129-45A7-8751-D04716C26067}" type="datetimeFigureOut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FD6F0-2D1B-4ADC-A920-0C559ABD6C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23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D6F0-2D1B-4ADC-A920-0C559ABD6C9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648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D6F0-2D1B-4ADC-A920-0C559ABD6C9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8603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B959E-CFF4-EB82-FDC3-14838FDE9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9A5D63A-D1F0-0474-60F9-DE11EFDAE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A82029A-B8FA-D860-EBFA-90A9758B2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4D6990-3C97-9FB1-96BD-EE14E56682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D6F0-2D1B-4ADC-A920-0C559ABD6C9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5070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38E81-89AC-2FEC-7D1E-8A0A7B01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BF2599B-2770-20DB-02FF-66ACBD318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44A7B8A-9A99-F241-CAA5-2AC8ACB66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CB51BC-4FDA-E632-EE3E-30A155D49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D6F0-2D1B-4ADC-A920-0C559ABD6C9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6384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78422-95AA-4A85-51EE-78EAA182C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CDE37D8-1197-AED0-CD9E-BAA0E8B84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64709D0-801A-08EC-15E8-CAED758AB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6EA1A4-1557-025D-C934-5F43F2F8E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D6F0-2D1B-4ADC-A920-0C559ABD6C9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7718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DD089-CEF2-FF39-7606-1DDB18B22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B54AA75-A35E-D1EE-FA4F-7A1606D31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D54EF7E-B5CE-6429-F5F2-08666D559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451C35-DF59-B413-E375-686434B0E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D6F0-2D1B-4ADC-A920-0C559ABD6C9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0678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D6F0-2D1B-4ADC-A920-0C559ABD6C9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3304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97023-E6AF-F51A-4C56-B31C1AA98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6FE30D-EF9C-4D74-570C-DD357BB72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6D0C6E-D82F-9D20-F01E-17F3280F6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8DEE-7FDD-4340-B660-1D6F7691C8F2}" type="datetime1">
              <a:rPr lang="zh-CN" altLang="en-US" smtClean="0"/>
              <a:t>2026/9/15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CC2FAA-5407-99B7-4014-E3F6FC26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3B54F3-7ECD-1A53-2BEF-38B6851AD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8214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DD6064-51B4-E1BB-BADF-F2E8E75EB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544"/>
            <a:ext cx="10515600" cy="4838419"/>
          </a:xfrm>
        </p:spPr>
        <p:txBody>
          <a:bodyPr>
            <a:normAutofit/>
          </a:bodyPr>
          <a:lstStyle>
            <a:lvl1pPr marL="228600" indent="-228600">
              <a:buFontTx/>
              <a:buBlip>
                <a:blip r:embed="rId2"/>
              </a:buBlip>
              <a:defRPr lang="zh-TW" altLang="en-US" sz="2400" b="0" kern="1200" baseline="0" dirty="0">
                <a:solidFill>
                  <a:schemeClr val="tx1"/>
                </a:solidFill>
                <a:latin typeface="Noto Sans TC" panose="020B0500000000000000"/>
                <a:ea typeface="標楷體" panose="03000509000000000000" pitchFamily="65" charset="-120"/>
                <a:cs typeface="+mn-cs"/>
              </a:defRPr>
            </a:lvl1pPr>
            <a:lvl2pPr marL="685800" indent="-228600">
              <a:buFontTx/>
              <a:buBlip>
                <a:blip r:embed="rId3"/>
              </a:buBlip>
              <a:defRPr lang="zh-TW" altLang="en-US" sz="2000" b="0" kern="1200" baseline="0" dirty="0">
                <a:solidFill>
                  <a:schemeClr val="tx1"/>
                </a:solidFill>
                <a:latin typeface="Noto Sans TC" panose="020B0500000000000000"/>
                <a:ea typeface="標楷體" panose="03000509000000000000" pitchFamily="65" charset="-120"/>
                <a:cs typeface="+mn-cs"/>
              </a:defRPr>
            </a:lvl2pPr>
            <a:lvl3pPr marL="1143000" indent="-228600">
              <a:buFontTx/>
              <a:buBlip>
                <a:blip r:embed="rId4"/>
              </a:buBlip>
              <a:defRPr lang="zh-TW" altLang="en-US" sz="1800" b="0" kern="1200" baseline="0" dirty="0">
                <a:solidFill>
                  <a:schemeClr val="tx1"/>
                </a:solidFill>
                <a:latin typeface="Noto Sans TC" panose="020B0500000000000000"/>
                <a:ea typeface="標楷體" panose="03000509000000000000" pitchFamily="65" charset="-120"/>
                <a:cs typeface="+mn-cs"/>
              </a:defRPr>
            </a:lvl3pPr>
            <a:lvl4pPr marL="1600200" indent="-228600">
              <a:buFontTx/>
              <a:buBlip>
                <a:blip r:embed="rId5"/>
              </a:buBlip>
              <a:defRPr lang="zh-TW" altLang="en-US" sz="1800" b="0" kern="1200" baseline="0" dirty="0">
                <a:solidFill>
                  <a:schemeClr val="tx1"/>
                </a:solidFill>
                <a:latin typeface="Noto Sans TC" panose="020B0500000000000000"/>
                <a:ea typeface="標楷體" panose="03000509000000000000" pitchFamily="65" charset="-120"/>
                <a:cs typeface="+mn-cs"/>
              </a:defRPr>
            </a:lvl4pPr>
            <a:lvl5pPr marL="2057400" indent="-228600">
              <a:buFontTx/>
              <a:buBlip>
                <a:blip r:embed="rId6"/>
              </a:buBlip>
              <a:defRPr lang="zh-TW" altLang="en-US" sz="1800" b="0" kern="1200" baseline="0" dirty="0">
                <a:solidFill>
                  <a:schemeClr val="tx1"/>
                </a:solidFill>
                <a:latin typeface="Noto Sans TC" panose="020B0500000000000000"/>
                <a:ea typeface="標楷體" panose="03000509000000000000" pitchFamily="65" charset="-120"/>
                <a:cs typeface="+mn-cs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EC7A5E-6C39-3C29-29C2-2C9AD405F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F8A4-AF2A-4D4E-9B51-3178D5BC1227}" type="datetime1">
              <a:rPr lang="zh-CN" altLang="en-US" smtClean="0"/>
              <a:t>2026/9/15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D504E1-3BC1-CF2A-57C2-300C4CD0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3E844F-67FF-04C4-AE70-764DCBFC4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zh-TW" altLang="en-US" sz="20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Segoe UI" panose="020B0502040204020203" pitchFamily="34" charset="0"/>
              </a:defRPr>
            </a:lvl1pPr>
          </a:lstStyle>
          <a:p>
            <a:fld id="{A6C4F607-EBAE-4F4B-BF62-778A00D92850}" type="slidenum">
              <a:rPr lang="en-US" altLang="zh-TW" smtClean="0"/>
              <a:pPr/>
              <a:t>‹#›</a:t>
            </a:fld>
            <a:endParaRPr lang="en-US" dirty="0"/>
          </a:p>
        </p:txBody>
      </p:sp>
      <p:grpSp>
        <p:nvGrpSpPr>
          <p:cNvPr id="7" name="组合 69">
            <a:extLst>
              <a:ext uri="{FF2B5EF4-FFF2-40B4-BE49-F238E27FC236}">
                <a16:creationId xmlns:a16="http://schemas.microsoft.com/office/drawing/2014/main" id="{E7FC2324-5CD9-5D60-4C24-FEF81532854D}"/>
              </a:ext>
            </a:extLst>
          </p:cNvPr>
          <p:cNvGrpSpPr/>
          <p:nvPr userDrawn="1"/>
        </p:nvGrpSpPr>
        <p:grpSpPr>
          <a:xfrm>
            <a:off x="-6508" y="0"/>
            <a:ext cx="1501840" cy="1200863"/>
            <a:chOff x="-259891" y="-1"/>
            <a:chExt cx="1501840" cy="1200863"/>
          </a:xfrm>
        </p:grpSpPr>
        <p:sp>
          <p:nvSpPr>
            <p:cNvPr id="8" name="图文框 70">
              <a:extLst>
                <a:ext uri="{FF2B5EF4-FFF2-40B4-BE49-F238E27FC236}">
                  <a16:creationId xmlns:a16="http://schemas.microsoft.com/office/drawing/2014/main" id="{F547B038-3577-DE64-785C-16002FAEA9E1}"/>
                </a:ext>
              </a:extLst>
            </p:cNvPr>
            <p:cNvSpPr/>
            <p:nvPr/>
          </p:nvSpPr>
          <p:spPr>
            <a:xfrm>
              <a:off x="269620" y="258143"/>
              <a:ext cx="822256" cy="822256"/>
            </a:xfrm>
            <a:prstGeom prst="frame">
              <a:avLst>
                <a:gd name="adj1" fmla="val 2401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pic>
          <p:nvPicPr>
            <p:cNvPr id="9" name="图片 71">
              <a:extLst>
                <a:ext uri="{FF2B5EF4-FFF2-40B4-BE49-F238E27FC236}">
                  <a16:creationId xmlns:a16="http://schemas.microsoft.com/office/drawing/2014/main" id="{6B640C1A-B4C1-70A5-2CA5-7ED10F677EF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398"/>
            <a:stretch>
              <a:fillRect/>
            </a:stretch>
          </p:blipFill>
          <p:spPr>
            <a:xfrm rot="5400000">
              <a:off x="-109403" y="-150489"/>
              <a:ext cx="1200863" cy="1501840"/>
            </a:xfrm>
            <a:prstGeom prst="rect">
              <a:avLst/>
            </a:prstGeom>
          </p:spPr>
        </p:pic>
      </p:grp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77583E69-A175-505C-18EA-C907958635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102" y="400049"/>
            <a:ext cx="724157" cy="621427"/>
          </a:xfrm>
        </p:spPr>
        <p:txBody>
          <a:bodyPr/>
          <a:lstStyle>
            <a:lvl1pPr marL="0" indent="0">
              <a:buNone/>
              <a:defRPr sz="3600" baseline="0">
                <a:latin typeface="Impact" panose="020B0806030902050204" pitchFamily="34" charset="0"/>
                <a:ea typeface="標楷體" panose="03000509000000000000" pitchFamily="65" charset="-120"/>
              </a:defRPr>
            </a:lvl1pPr>
            <a:lvl3pPr marL="914400" indent="0">
              <a:buNone/>
              <a:defRPr>
                <a:latin typeface="Yu Gothic UI Semibold" panose="020B0700000000000000" pitchFamily="34" charset="-128"/>
                <a:ea typeface="Yu Gothic UI Semibold" panose="020B0700000000000000" pitchFamily="34" charset="-128"/>
              </a:defRPr>
            </a:lvl3pPr>
            <a:lvl4pPr marL="1371600" indent="0">
              <a:buNone/>
              <a:defRPr>
                <a:latin typeface="Yu Gothic UI Semibold" panose="020B0700000000000000" pitchFamily="34" charset="-128"/>
                <a:ea typeface="Yu Gothic UI Semibold" panose="020B0700000000000000" pitchFamily="34" charset="-128"/>
              </a:defRPr>
            </a:lvl4pPr>
            <a:lvl5pPr marL="1828800" indent="0">
              <a:buNone/>
              <a:defRPr>
                <a:latin typeface="Yu Gothic UI Semibold" panose="020B0700000000000000" pitchFamily="34" charset="-128"/>
                <a:ea typeface="Yu Gothic UI Semibold" panose="020B0700000000000000" pitchFamily="34" charset="-128"/>
              </a:defRPr>
            </a:lvl5pPr>
          </a:lstStyle>
          <a:p>
            <a:pPr lvl="0"/>
            <a:endParaRPr lang="zh-TW" altLang="en-US" dirty="0"/>
          </a:p>
        </p:txBody>
      </p:sp>
      <p:sp>
        <p:nvSpPr>
          <p:cNvPr id="21" name="內容版面配置區 20">
            <a:extLst>
              <a:ext uri="{FF2B5EF4-FFF2-40B4-BE49-F238E27FC236}">
                <a16:creationId xmlns:a16="http://schemas.microsoft.com/office/drawing/2014/main" id="{07743784-288B-9EBE-D190-D8B747E140A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43358" y="460690"/>
            <a:ext cx="9910442" cy="553245"/>
          </a:xfrm>
        </p:spPr>
        <p:txBody>
          <a:bodyPr/>
          <a:lstStyle>
            <a:lvl1pPr marL="0" indent="0">
              <a:buNone/>
              <a:defRPr sz="2800">
                <a:latin typeface="Yu Gothic UI Semibold" panose="020B0700000000000000" pitchFamily="34" charset="-128"/>
                <a:ea typeface="Yu Gothic UI Semibold" panose="020B0700000000000000" pitchFamily="34" charset="-128"/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</a:t>
            </a:r>
            <a:r>
              <a:rPr lang="zh-TW" altLang="en-US"/>
              <a:t>文字樣式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74484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950263-887A-6192-0006-7D07E7BD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5685CEF-E57D-FBE0-79BF-1EC7D9045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47C377-302E-924C-5672-7303CDA6A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6069-CE43-448A-87B7-AC01F0325C7F}" type="datetime1">
              <a:rPr lang="zh-CN" altLang="en-US" smtClean="0"/>
              <a:t>2026/9/15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ADA280-5099-DCDE-1589-78E52F56F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B00827-FD48-0746-A7E2-53EBBAEEE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6414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205BD-76E4-2535-57BE-A2D59043E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6B4B5F-F9D8-B168-76C3-B8530C082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51D563B-A93E-E8D6-49E7-34AEA00E0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16EE00D-9005-6974-7714-0AA2FBF4C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FBBA1-D63F-473D-804B-6506B6C6D37F}" type="datetime1">
              <a:rPr lang="zh-CN" altLang="en-US" smtClean="0"/>
              <a:t>2026/9/15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47DF0B-0DEA-D991-7509-E999E0143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FEB125-1055-2A89-9F0C-44E52A73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4588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035C7B-C306-4CEC-3B71-97D43F9CB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04B253-24FC-BFC9-6BD9-36C626E52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8871199-9225-6097-FFD0-54C32109A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DDFA38B-59B9-9336-CBE7-B5F587A70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0AB019E-7208-8F8F-1F12-23FD07F69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0613BE6-3352-1046-53E4-F417303D2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56CB7-C9F2-4039-B61D-7255A5437C4E}" type="datetime1">
              <a:rPr lang="zh-CN" altLang="en-US" smtClean="0"/>
              <a:t>2026/9/15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2B41862-C707-8AE2-19F3-95814F434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32AD494-E488-C42F-4DF6-D7A3179B8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4019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D761D6D-68EE-79FC-2D99-3E130CBE9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55D34-6BBF-43CB-9103-199F94C41776}" type="datetime1">
              <a:rPr lang="zh-CN" altLang="en-US" smtClean="0"/>
              <a:t>2026/9/15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92CBFFA-7257-70F7-359B-9E216A26D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D702D5-B7DB-1B35-39DA-7FAF83B87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028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5594AD4-4397-3535-0F06-30B856B32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53DF1-F7C7-49D4-BC5A-4FF6C5AFEEAB}" type="datetime1">
              <a:rPr lang="zh-CN" altLang="en-US" smtClean="0"/>
              <a:t>2026/9/15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168AA73-D0CA-208D-7B52-A53EB0B47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EA6999-4C3A-5B8A-8F1A-DEF704457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2789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6FF409-57C6-396A-747C-535039F0E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725C5C-56B9-3E30-1EA1-A85680B6F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AB0368-5A3A-E45D-118D-AB69D761E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7C6A42-677A-02A3-FE1F-98593304C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ABF7D-2347-4FE0-9200-B62D284906B3}" type="datetime1">
              <a:rPr lang="zh-CN" altLang="en-US" smtClean="0"/>
              <a:t>2026/9/15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C5E0AD0-8D85-B67E-8D79-FD7C42950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1FA9480-20D1-BCE2-A3B2-9FEDE80BA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7842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AEC3FF-0DD4-DAEC-0419-3C3FB9670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31A1A57-E08F-E58D-F8B1-86EB650C22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B2F093A-EEBA-C158-A039-29AB5096A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F3D9762-74C9-55C2-7F92-A7B9316B5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977F4-0A41-49E4-9959-93B4B3DD1DA3}" type="datetime1">
              <a:rPr lang="zh-CN" altLang="en-US" smtClean="0"/>
              <a:t>2026/9/15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920874B-3C9C-3064-FF62-BFEAA9EDF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D395F7-B45B-1DD5-F92B-4CB2AD66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6065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9ABEF-BA4C-609E-E437-CB50747BD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0608081-CBE8-331B-41FA-8B6912892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781BDE4-266C-5DF7-87FA-C87C00E5B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F2509-FEA0-47DA-A211-5B97B419D580}" type="datetime1">
              <a:rPr lang="zh-CN" altLang="en-US" smtClean="0"/>
              <a:t>2026/9/15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E6DC46-E306-297A-3582-E6323D1F4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31FBA7-3329-DB9B-DAEF-7A9C960E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7314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B6ED68D-25C5-B980-A69F-53F455AD06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4F4FBFB-987A-8D94-D003-225A6B683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8CE7C2-0131-47A5-866A-5D456D740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F9E1-8169-4D8F-93DA-1391FCBDAC3F}" type="datetime1">
              <a:rPr lang="zh-CN" altLang="en-US" smtClean="0"/>
              <a:t>2026/9/15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293C8F6-4840-0315-A68D-031A4E9C9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9339154-C024-70F4-28F5-C59E853C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914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9E7E7-1A6A-444B-8BC4-05258C288F0E}" type="datetime1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algn="r" defTabSz="914400" rtl="0" eaLnBrk="1" latinLnBrk="0" hangingPunct="1">
              <a:defRPr lang="zh-CN" altLang="en-US" sz="20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Segoe UI" panose="020B0502040204020203" pitchFamily="34" charset="0"/>
              </a:defRPr>
            </a:lvl1pPr>
          </a:lstStyle>
          <a:p>
            <a:fld id="{726FD8BB-E3C9-46DF-9B94-1AF8F33E9E37}" type="slidenum">
              <a:rPr lang="en-US" altLang="zh-TW" smtClean="0"/>
              <a:pPr/>
              <a:t>‹#›</a:t>
            </a:fld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2990314628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95B3C8A-5A11-D2EF-C6F1-B072D2B54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4D50545-9FF4-49E7-32B5-E6617F650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8BA9B3-E10D-C6EE-DA51-96820D4B5B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42702-F307-4F56-A702-D0E8B84E3864}" type="datetime1">
              <a:rPr lang="zh-CN" altLang="en-US" smtClean="0"/>
              <a:t>2026/9/15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FB3720-30B7-F5E1-FC07-B4AF4E6A2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3475AE-8D69-DDBC-4232-D97E754D8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342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/>
          <p:cNvSpPr/>
          <p:nvPr/>
        </p:nvSpPr>
        <p:spPr>
          <a:xfrm>
            <a:off x="1861500" y="-805500"/>
            <a:ext cx="8469000" cy="8469000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2074950" y="-592050"/>
            <a:ext cx="8042100" cy="80421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组合 46"/>
          <p:cNvGrpSpPr/>
          <p:nvPr/>
        </p:nvGrpSpPr>
        <p:grpSpPr>
          <a:xfrm>
            <a:off x="3574753" y="2588421"/>
            <a:ext cx="5001060" cy="53340"/>
            <a:chOff x="3473153" y="1615665"/>
            <a:chExt cx="5001060" cy="53340"/>
          </a:xfrm>
        </p:grpSpPr>
        <p:grpSp>
          <p:nvGrpSpPr>
            <p:cNvPr id="42" name="组合 41"/>
            <p:cNvGrpSpPr/>
            <p:nvPr/>
          </p:nvGrpSpPr>
          <p:grpSpPr>
            <a:xfrm>
              <a:off x="3473153" y="1615665"/>
              <a:ext cx="1620000" cy="53340"/>
              <a:chOff x="3836010" y="1629000"/>
              <a:chExt cx="1620000" cy="53340"/>
            </a:xfrm>
          </p:grpSpPr>
          <p:cxnSp>
            <p:nvCxnSpPr>
              <p:cNvPr id="40" name="直接连接符 39"/>
              <p:cNvCxnSpPr/>
              <p:nvPr/>
            </p:nvCxnSpPr>
            <p:spPr>
              <a:xfrm>
                <a:off x="3836010" y="1629000"/>
                <a:ext cx="1620000" cy="0"/>
              </a:xfrm>
              <a:prstGeom prst="line">
                <a:avLst/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3836010" y="1682340"/>
                <a:ext cx="162000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组合 42"/>
            <p:cNvGrpSpPr/>
            <p:nvPr/>
          </p:nvGrpSpPr>
          <p:grpSpPr>
            <a:xfrm>
              <a:off x="6854213" y="1615665"/>
              <a:ext cx="1620000" cy="53340"/>
              <a:chOff x="3836010" y="1629000"/>
              <a:chExt cx="1620000" cy="53340"/>
            </a:xfrm>
          </p:grpSpPr>
          <p:cxnSp>
            <p:nvCxnSpPr>
              <p:cNvPr id="44" name="直接连接符 43"/>
              <p:cNvCxnSpPr/>
              <p:nvPr/>
            </p:nvCxnSpPr>
            <p:spPr>
              <a:xfrm>
                <a:off x="3836010" y="1629000"/>
                <a:ext cx="1620000" cy="0"/>
              </a:xfrm>
              <a:prstGeom prst="line">
                <a:avLst/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3836010" y="1682340"/>
                <a:ext cx="162000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" name="组合 9"/>
          <p:cNvGrpSpPr/>
          <p:nvPr/>
        </p:nvGrpSpPr>
        <p:grpSpPr>
          <a:xfrm>
            <a:off x="5105172" y="4347299"/>
            <a:ext cx="1981654" cy="605575"/>
            <a:chOff x="5257132" y="4318938"/>
            <a:chExt cx="1800000" cy="550062"/>
          </a:xfrm>
        </p:grpSpPr>
        <p:sp>
          <p:nvSpPr>
            <p:cNvPr id="52" name="文本框 51"/>
            <p:cNvSpPr txBox="1"/>
            <p:nvPr/>
          </p:nvSpPr>
          <p:spPr>
            <a:xfrm>
              <a:off x="5478294" y="4350589"/>
              <a:ext cx="1324924" cy="475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solidFill>
                    <a:srgbClr val="002060"/>
                  </a:solidFill>
                  <a:latin typeface="迷你简汉真广标" panose="02010609000101010101" pitchFamily="49" charset="-122"/>
                  <a:ea typeface="迷你简汉真广标" panose="02010609000101010101" pitchFamily="49" charset="-122"/>
                </a:rPr>
                <a:t>王大進</a:t>
              </a:r>
              <a:endParaRPr lang="en-US" altLang="zh-TW" sz="1400" dirty="0">
                <a:solidFill>
                  <a:srgbClr val="002060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endParaRPr>
            </a:p>
            <a:p>
              <a:pPr algn="ctr"/>
              <a:r>
                <a:rPr lang="en-US" altLang="zh-TW" sz="1400" dirty="0">
                  <a:solidFill>
                    <a:srgbClr val="002060"/>
                  </a:solidFill>
                  <a:latin typeface="迷你简汉真广标" panose="02010609000101010101" pitchFamily="49" charset="-122"/>
                  <a:ea typeface="迷你简汉真广标" panose="02010609000101010101" pitchFamily="49" charset="-122"/>
                </a:rPr>
                <a:t>2026/09/15</a:t>
              </a:r>
              <a:endParaRPr lang="en-US" altLang="zh-CN" sz="1400" dirty="0">
                <a:solidFill>
                  <a:srgbClr val="002060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5257132" y="4318938"/>
              <a:ext cx="1800000" cy="550062"/>
              <a:chOff x="5257132" y="4318938"/>
              <a:chExt cx="1800000" cy="550062"/>
            </a:xfrm>
          </p:grpSpPr>
          <p:sp>
            <p:nvSpPr>
              <p:cNvPr id="50" name="圆角矩形 49"/>
              <p:cNvSpPr/>
              <p:nvPr/>
            </p:nvSpPr>
            <p:spPr>
              <a:xfrm>
                <a:off x="5257132" y="4318938"/>
                <a:ext cx="1800000" cy="540000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5870756" y="4851000"/>
                <a:ext cx="540000" cy="1800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1820381" y="2075156"/>
            <a:ext cx="319500" cy="792801"/>
            <a:chOff x="1820381" y="2075156"/>
            <a:chExt cx="319500" cy="792801"/>
          </a:xfrm>
        </p:grpSpPr>
        <p:sp>
          <p:nvSpPr>
            <p:cNvPr id="57" name="椭圆 56"/>
            <p:cNvSpPr/>
            <p:nvPr/>
          </p:nvSpPr>
          <p:spPr>
            <a:xfrm>
              <a:off x="1975944" y="2075156"/>
              <a:ext cx="163937" cy="1639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820381" y="2331550"/>
              <a:ext cx="295688" cy="295688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820381" y="2704020"/>
              <a:ext cx="163937" cy="1639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椭圆 27"/>
          <p:cNvSpPr/>
          <p:nvPr/>
        </p:nvSpPr>
        <p:spPr>
          <a:xfrm>
            <a:off x="9900088" y="5049000"/>
            <a:ext cx="163937" cy="1639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9687375" y="5324444"/>
            <a:ext cx="295688" cy="2956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9539737" y="5696914"/>
            <a:ext cx="163937" cy="1639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4367141" y="3028962"/>
            <a:ext cx="3416321" cy="1040254"/>
            <a:chOff x="4822625" y="3041088"/>
            <a:chExt cx="2479564" cy="755018"/>
          </a:xfrm>
        </p:grpSpPr>
        <p:sp>
          <p:nvSpPr>
            <p:cNvPr id="5" name="矩形 4"/>
            <p:cNvSpPr/>
            <p:nvPr/>
          </p:nvSpPr>
          <p:spPr>
            <a:xfrm>
              <a:off x="4822625" y="3041088"/>
              <a:ext cx="2479564" cy="469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3600" b="1" dirty="0">
                  <a:solidFill>
                    <a:srgbClr val="002060"/>
                  </a:solidFill>
                  <a:latin typeface="迷你简汉真广标" panose="02010609000101010101" pitchFamily="49" charset="-122"/>
                  <a:ea typeface="迷你简汉真广标" panose="02010609000101010101" pitchFamily="49" charset="-122"/>
                </a:rPr>
                <a:t>網路診斷與容錯</a:t>
              </a:r>
              <a:endParaRPr lang="en-US" altLang="zh-TW" sz="3600" b="1" dirty="0">
                <a:solidFill>
                  <a:srgbClr val="002060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6010400" y="3528044"/>
              <a:ext cx="134078" cy="2680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endParaRPr lang="zh-CN" altLang="en-US" spc="300" dirty="0">
                <a:solidFill>
                  <a:srgbClr val="002060"/>
                </a:solidFill>
                <a:latin typeface="造字工房悦黑体验版纤细体" pitchFamily="50" charset="-122"/>
                <a:ea typeface="造字工房悦黑体验版纤细体" pitchFamily="50" charset="-122"/>
              </a:endParaRPr>
            </a:p>
          </p:txBody>
        </p:sp>
      </p:grpSp>
      <p:pic>
        <p:nvPicPr>
          <p:cNvPr id="4" name="圖片 3">
            <a:extLst>
              <a:ext uri="{FF2B5EF4-FFF2-40B4-BE49-F238E27FC236}">
                <a16:creationId xmlns:a16="http://schemas.microsoft.com/office/drawing/2014/main" id="{E52D7709-2E09-71B7-E070-ACC44A47D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706" y="1796745"/>
            <a:ext cx="1345060" cy="134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80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32F65E-2254-2749-121E-FA845EC7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D8BB-E3C9-46DF-9B94-1AF8F33E9E37}" type="slidenum">
              <a:rPr lang="zh-CN" altLang="en-US" smtClean="0"/>
              <a:pPr/>
              <a:t>1</a:t>
            </a:fld>
            <a:endParaRPr lang="zh-CN" altLang="en-US"/>
          </a:p>
        </p:txBody>
      </p:sp>
      <p:pic>
        <p:nvPicPr>
          <p:cNvPr id="53" name="图片 3">
            <a:extLst>
              <a:ext uri="{FF2B5EF4-FFF2-40B4-BE49-F238E27FC236}">
                <a16:creationId xmlns:a16="http://schemas.microsoft.com/office/drawing/2014/main" id="{473FADD3-4574-27AB-221A-A0C99F01F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72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4" name="群組 53">
            <a:extLst>
              <a:ext uri="{FF2B5EF4-FFF2-40B4-BE49-F238E27FC236}">
                <a16:creationId xmlns:a16="http://schemas.microsoft.com/office/drawing/2014/main" id="{138ECCEC-7662-D28D-BF96-EB8268B10580}"/>
              </a:ext>
            </a:extLst>
          </p:cNvPr>
          <p:cNvGrpSpPr/>
          <p:nvPr/>
        </p:nvGrpSpPr>
        <p:grpSpPr>
          <a:xfrm>
            <a:off x="2206763" y="618775"/>
            <a:ext cx="3348861" cy="647700"/>
            <a:chOff x="4410075" y="1504950"/>
            <a:chExt cx="3348861" cy="647700"/>
          </a:xfrm>
        </p:grpSpPr>
        <p:sp>
          <p:nvSpPr>
            <p:cNvPr id="55" name="文本框 4">
              <a:extLst>
                <a:ext uri="{FF2B5EF4-FFF2-40B4-BE49-F238E27FC236}">
                  <a16:creationId xmlns:a16="http://schemas.microsoft.com/office/drawing/2014/main" id="{28752B15-C0ED-8099-4064-FF238BAB5C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075" y="1504950"/>
              <a:ext cx="696913" cy="647700"/>
            </a:xfrm>
            <a:prstGeom prst="rect">
              <a:avLst/>
            </a:prstGeom>
            <a:solidFill>
              <a:srgbClr val="2BA8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zh-CN" alt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文本框 9">
              <a:extLst>
                <a:ext uri="{FF2B5EF4-FFF2-40B4-BE49-F238E27FC236}">
                  <a16:creationId xmlns:a16="http://schemas.microsoft.com/office/drawing/2014/main" id="{E4EF50A1-1751-212C-0DE9-B6772781C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8613" y="1598613"/>
              <a:ext cx="235032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TW" altLang="en-US" sz="2400" b="1" dirty="0">
                  <a:solidFill>
                    <a:srgbClr val="2BA85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研究背景與動機</a:t>
              </a:r>
            </a:p>
          </p:txBody>
        </p:sp>
        <p:cxnSp>
          <p:nvCxnSpPr>
            <p:cNvPr id="57" name="直接连接符 14">
              <a:extLst>
                <a:ext uri="{FF2B5EF4-FFF2-40B4-BE49-F238E27FC236}">
                  <a16:creationId xmlns:a16="http://schemas.microsoft.com/office/drawing/2014/main" id="{9889B3D0-801E-1E5F-4BE7-23BAFD8FD9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97488" y="1600200"/>
              <a:ext cx="0" cy="457200"/>
            </a:xfrm>
            <a:prstGeom prst="line">
              <a:avLst/>
            </a:prstGeom>
            <a:noFill/>
            <a:ln w="6350">
              <a:solidFill>
                <a:srgbClr val="2BA85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直接连接符 23">
              <a:extLst>
                <a:ext uri="{FF2B5EF4-FFF2-40B4-BE49-F238E27FC236}">
                  <a16:creationId xmlns:a16="http://schemas.microsoft.com/office/drawing/2014/main" id="{16DDEDF5-244C-AED3-9B78-547E345E64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40338" y="1600200"/>
              <a:ext cx="0" cy="457200"/>
            </a:xfrm>
            <a:prstGeom prst="line">
              <a:avLst/>
            </a:prstGeom>
            <a:noFill/>
            <a:ln w="28575">
              <a:solidFill>
                <a:srgbClr val="2BA85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C5C93134-9DF1-15A4-EF62-BCDF969682B3}"/>
              </a:ext>
            </a:extLst>
          </p:cNvPr>
          <p:cNvGrpSpPr/>
          <p:nvPr/>
        </p:nvGrpSpPr>
        <p:grpSpPr>
          <a:xfrm>
            <a:off x="2206763" y="2245873"/>
            <a:ext cx="4586380" cy="646331"/>
            <a:chOff x="4410075" y="2613025"/>
            <a:chExt cx="4586380" cy="646331"/>
          </a:xfrm>
        </p:grpSpPr>
        <p:sp>
          <p:nvSpPr>
            <p:cNvPr id="60" name="文本框 6">
              <a:extLst>
                <a:ext uri="{FF2B5EF4-FFF2-40B4-BE49-F238E27FC236}">
                  <a16:creationId xmlns:a16="http://schemas.microsoft.com/office/drawing/2014/main" id="{BBA64795-2C0B-1E96-9453-10375DBE6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075" y="2613025"/>
              <a:ext cx="697627" cy="646331"/>
            </a:xfrm>
            <a:prstGeom prst="rect">
              <a:avLst/>
            </a:prstGeom>
            <a:solidFill>
              <a:srgbClr val="5130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zh-CN" alt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文本框 10">
              <a:extLst>
                <a:ext uri="{FF2B5EF4-FFF2-40B4-BE49-F238E27FC236}">
                  <a16:creationId xmlns:a16="http://schemas.microsoft.com/office/drawing/2014/main" id="{A62D5F42-E909-A7A7-AE96-BF0C7E2594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8613" y="2706688"/>
              <a:ext cx="35878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TW" sz="2400" b="1" dirty="0">
                  <a:solidFill>
                    <a:srgbClr val="51308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System-level diagnosis</a:t>
              </a:r>
              <a:endParaRPr lang="zh-TW" altLang="en-US" sz="2400" b="1" dirty="0">
                <a:solidFill>
                  <a:srgbClr val="51308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2" name="直接连接符 15">
              <a:extLst>
                <a:ext uri="{FF2B5EF4-FFF2-40B4-BE49-F238E27FC236}">
                  <a16:creationId xmlns:a16="http://schemas.microsoft.com/office/drawing/2014/main" id="{21AFD9E0-2B45-2A70-0E27-D30F54773E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16538" y="2705100"/>
              <a:ext cx="0" cy="457200"/>
            </a:xfrm>
            <a:prstGeom prst="line">
              <a:avLst/>
            </a:prstGeom>
            <a:noFill/>
            <a:ln w="6350">
              <a:solidFill>
                <a:srgbClr val="5130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" name="直接连接符 24">
              <a:extLst>
                <a:ext uri="{FF2B5EF4-FFF2-40B4-BE49-F238E27FC236}">
                  <a16:creationId xmlns:a16="http://schemas.microsoft.com/office/drawing/2014/main" id="{B218AC73-0FA8-1DDB-4D28-0021A43503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59388" y="2705100"/>
              <a:ext cx="0" cy="457200"/>
            </a:xfrm>
            <a:prstGeom prst="line">
              <a:avLst/>
            </a:prstGeom>
            <a:noFill/>
            <a:ln w="28575">
              <a:solidFill>
                <a:srgbClr val="5130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4" name="群組 63">
            <a:extLst>
              <a:ext uri="{FF2B5EF4-FFF2-40B4-BE49-F238E27FC236}">
                <a16:creationId xmlns:a16="http://schemas.microsoft.com/office/drawing/2014/main" id="{2607F688-0C98-AF36-B1F2-4A491DEE64A1}"/>
              </a:ext>
            </a:extLst>
          </p:cNvPr>
          <p:cNvGrpSpPr/>
          <p:nvPr/>
        </p:nvGrpSpPr>
        <p:grpSpPr>
          <a:xfrm>
            <a:off x="2206763" y="3868958"/>
            <a:ext cx="5665200" cy="646331"/>
            <a:chOff x="4410075" y="3721100"/>
            <a:chExt cx="5665200" cy="646331"/>
          </a:xfrm>
        </p:grpSpPr>
        <p:sp>
          <p:nvSpPr>
            <p:cNvPr id="65" name="文本框 7">
              <a:extLst>
                <a:ext uri="{FF2B5EF4-FFF2-40B4-BE49-F238E27FC236}">
                  <a16:creationId xmlns:a16="http://schemas.microsoft.com/office/drawing/2014/main" id="{E13362B4-5580-B75F-3BBD-9F5B022984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075" y="3721100"/>
              <a:ext cx="697627" cy="646331"/>
            </a:xfrm>
            <a:prstGeom prst="rect">
              <a:avLst/>
            </a:prstGeom>
            <a:solidFill>
              <a:srgbClr val="DE44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zh-CN" alt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文本框 11">
              <a:extLst>
                <a:ext uri="{FF2B5EF4-FFF2-40B4-BE49-F238E27FC236}">
                  <a16:creationId xmlns:a16="http://schemas.microsoft.com/office/drawing/2014/main" id="{C90B95DC-E659-C0DE-7557-F2DEAB7064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8613" y="3813175"/>
              <a:ext cx="466666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TW" sz="2400" b="1" dirty="0">
                  <a:solidFill>
                    <a:srgbClr val="DE44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Preparate-Metze-Chien Model</a:t>
              </a:r>
              <a:endParaRPr lang="zh-TW" altLang="en-US" sz="2400" b="1" dirty="0">
                <a:solidFill>
                  <a:srgbClr val="DE447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7" name="直接连接符 16">
              <a:extLst>
                <a:ext uri="{FF2B5EF4-FFF2-40B4-BE49-F238E27FC236}">
                  <a16:creationId xmlns:a16="http://schemas.microsoft.com/office/drawing/2014/main" id="{3216DD49-EB0E-D0FC-EA1D-294D994EB7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16538" y="3817938"/>
              <a:ext cx="0" cy="457200"/>
            </a:xfrm>
            <a:prstGeom prst="line">
              <a:avLst/>
            </a:prstGeom>
            <a:noFill/>
            <a:ln w="6350">
              <a:solidFill>
                <a:srgbClr val="DE447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直接连接符 25">
              <a:extLst>
                <a:ext uri="{FF2B5EF4-FFF2-40B4-BE49-F238E27FC236}">
                  <a16:creationId xmlns:a16="http://schemas.microsoft.com/office/drawing/2014/main" id="{A0A4F7CC-4A9B-07A6-D3BB-C25310DB0C8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59388" y="3817938"/>
              <a:ext cx="0" cy="457200"/>
            </a:xfrm>
            <a:prstGeom prst="line">
              <a:avLst/>
            </a:prstGeom>
            <a:noFill/>
            <a:ln w="28575">
              <a:solidFill>
                <a:srgbClr val="DE447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C9C35EBF-E15A-96D1-329C-81CCE84D8159}"/>
              </a:ext>
            </a:extLst>
          </p:cNvPr>
          <p:cNvGrpSpPr/>
          <p:nvPr/>
        </p:nvGrpSpPr>
        <p:grpSpPr>
          <a:xfrm>
            <a:off x="2206763" y="5493365"/>
            <a:ext cx="3489926" cy="923072"/>
            <a:chOff x="4410075" y="4829175"/>
            <a:chExt cx="3489926" cy="923072"/>
          </a:xfrm>
        </p:grpSpPr>
        <p:sp>
          <p:nvSpPr>
            <p:cNvPr id="70" name="文本框 8">
              <a:extLst>
                <a:ext uri="{FF2B5EF4-FFF2-40B4-BE49-F238E27FC236}">
                  <a16:creationId xmlns:a16="http://schemas.microsoft.com/office/drawing/2014/main" id="{D08353A0-13CA-6C05-6934-03F1B7D01C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075" y="4829175"/>
              <a:ext cx="697627" cy="646331"/>
            </a:xfrm>
            <a:prstGeom prst="rect">
              <a:avLst/>
            </a:prstGeom>
            <a:solidFill>
              <a:srgbClr val="F4BB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zh-CN" alt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文本框 12">
              <a:extLst>
                <a:ext uri="{FF2B5EF4-FFF2-40B4-BE49-F238E27FC236}">
                  <a16:creationId xmlns:a16="http://schemas.microsoft.com/office/drawing/2014/main" id="{C05693F9-D5E7-7728-4ED5-7BCB530263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8613" y="4921250"/>
              <a:ext cx="2491388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TW" sz="2400" b="1" dirty="0">
                  <a:solidFill>
                    <a:srgbClr val="F4BB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t-Diagnosability</a:t>
              </a:r>
              <a:endParaRPr lang="zh-TW" altLang="en-US" sz="2400" dirty="0"/>
            </a:p>
            <a:p>
              <a:endParaRPr lang="en-US" altLang="zh-TW" sz="2400" b="1" dirty="0">
                <a:solidFill>
                  <a:srgbClr val="F4BB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2" name="直接连接符 17">
              <a:extLst>
                <a:ext uri="{FF2B5EF4-FFF2-40B4-BE49-F238E27FC236}">
                  <a16:creationId xmlns:a16="http://schemas.microsoft.com/office/drawing/2014/main" id="{9E1DE2EE-3049-3B9A-AF1F-97A4844697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16538" y="4895850"/>
              <a:ext cx="0" cy="457200"/>
            </a:xfrm>
            <a:prstGeom prst="line">
              <a:avLst/>
            </a:prstGeom>
            <a:noFill/>
            <a:ln w="6350">
              <a:solidFill>
                <a:srgbClr val="F4BB4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" name="直接连接符 26">
              <a:extLst>
                <a:ext uri="{FF2B5EF4-FFF2-40B4-BE49-F238E27FC236}">
                  <a16:creationId xmlns:a16="http://schemas.microsoft.com/office/drawing/2014/main" id="{DB47068F-9FE5-EF59-993B-3CDDD14576F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59388" y="4895850"/>
              <a:ext cx="0" cy="457200"/>
            </a:xfrm>
            <a:prstGeom prst="line">
              <a:avLst/>
            </a:prstGeom>
            <a:noFill/>
            <a:ln w="28575">
              <a:solidFill>
                <a:srgbClr val="F4BB4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71377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59FA61F-70E2-DCDF-C39E-3841E0C94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963"/>
            <a:ext cx="10515600" cy="4625000"/>
          </a:xfrm>
        </p:spPr>
        <p:txBody>
          <a:bodyPr>
            <a:normAutofit/>
          </a:bodyPr>
          <a:lstStyle/>
          <a:p>
            <a:r>
              <a:rPr lang="zh-TW" altLang="en-US" dirty="0"/>
              <a:t>隨著科技發展，越來越多的高速、大規模多處理器和多電腦系統正在部屬及使用。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/>
              <a:t>它們使用各種拓撲結構的互聯網路來連結處理器</a:t>
            </a:r>
            <a:r>
              <a:rPr lang="en-US" altLang="zh-TW" dirty="0"/>
              <a:t>/</a:t>
            </a:r>
            <a:r>
              <a:rPr lang="zh-TW" altLang="en-US" dirty="0"/>
              <a:t>電腦（節點），但隨著系統規模擴大以及網路攻擊越發頻繁，所造成的節點損壞也是個問題。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/>
              <a:t>我們需要知道那些節點是損壞的，才能去修復、替代掉那些壞掉的結點。</a:t>
            </a:r>
            <a:endParaRPr lang="en-US" altLang="zh-TW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07199FE-753F-E5FE-05C7-8739BD0ED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en-US" altLang="zh-TW" smtClean="0"/>
              <a:pPr/>
              <a:t>2</a:t>
            </a:fld>
            <a:endParaRPr 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F6F92D5-81EF-A292-98CA-30F4C0ABBC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TW"/>
              <a:t>01</a:t>
            </a:r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0340C1B-5A9C-E14D-1DC3-51EF82D1981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研究背景與動機</a:t>
            </a:r>
          </a:p>
        </p:txBody>
      </p:sp>
    </p:spTree>
    <p:extLst>
      <p:ext uri="{BB962C8B-B14F-4D97-AF65-F5344CB8AC3E}">
        <p14:creationId xmlns:p14="http://schemas.microsoft.com/office/powerpoint/2010/main" val="470388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3767F-D320-F351-D44C-6C4B7A528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75772BD-1A90-BBFA-0A53-04278BA19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en-US" altLang="zh-TW" smtClean="0"/>
              <a:pPr/>
              <a:t>3</a:t>
            </a:fld>
            <a:endParaRPr 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92E8181-DBBA-FD83-657E-128C6D0129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9332CEB-CCDA-562D-949B-1888C48B825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System-level diagnosis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B7C165E4-BE54-9C27-9EFD-6BEB0DCB3382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2424418" y="3997355"/>
            <a:ext cx="831909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D553479-33C2-9B04-3F1B-B09F80C97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963"/>
            <a:ext cx="10515600" cy="4625000"/>
          </a:xfrm>
        </p:spPr>
        <p:txBody>
          <a:bodyPr>
            <a:normAutofit/>
          </a:bodyPr>
          <a:lstStyle/>
          <a:p>
            <a:r>
              <a:rPr lang="en-US" altLang="zh-TW" dirty="0"/>
              <a:t>System-level diagnosis</a:t>
            </a:r>
            <a:r>
              <a:rPr lang="zh-TW" altLang="en-US" dirty="0"/>
              <a:t> 是用互相檢測的方式，系統的節點會去檢查與自身連結的其他節點，來達到一種自檢測。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81F73E2-DDE4-B98A-9ED2-C643F4833D25}"/>
              </a:ext>
            </a:extLst>
          </p:cNvPr>
          <p:cNvSpPr/>
          <p:nvPr/>
        </p:nvSpPr>
        <p:spPr>
          <a:xfrm>
            <a:off x="2181138" y="3875715"/>
            <a:ext cx="243280" cy="24328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AA57B55-19F0-1D5F-3F2E-B7210E4E9F91}"/>
              </a:ext>
            </a:extLst>
          </p:cNvPr>
          <p:cNvSpPr/>
          <p:nvPr/>
        </p:nvSpPr>
        <p:spPr>
          <a:xfrm>
            <a:off x="3256327" y="3875715"/>
            <a:ext cx="243280" cy="24328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14142E0-795A-6E8E-B443-5378CD8F1A02}"/>
              </a:ext>
            </a:extLst>
          </p:cNvPr>
          <p:cNvSpPr txBox="1"/>
          <p:nvPr/>
        </p:nvSpPr>
        <p:spPr>
          <a:xfrm>
            <a:off x="2169220" y="4166052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Noto Sans TC" panose="020B0200000000000000" pitchFamily="34" charset="-120"/>
                <a:ea typeface="Noto Sans TC" panose="020B0200000000000000" pitchFamily="34" charset="-120"/>
              </a:rPr>
              <a:t>i</a:t>
            </a:r>
            <a:endParaRPr lang="zh-TW" altLang="en-US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4122A28-6A71-326B-96A5-7EAEC3D88E0A}"/>
              </a:ext>
            </a:extLst>
          </p:cNvPr>
          <p:cNvSpPr txBox="1"/>
          <p:nvPr/>
        </p:nvSpPr>
        <p:spPr>
          <a:xfrm>
            <a:off x="3256327" y="4166052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j</a:t>
            </a:r>
            <a:endParaRPr lang="zh-TW" altLang="en-US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5DFEBD2-F13E-6A75-554A-F67B8089713F}"/>
              </a:ext>
            </a:extLst>
          </p:cNvPr>
          <p:cNvSpPr txBox="1"/>
          <p:nvPr/>
        </p:nvSpPr>
        <p:spPr>
          <a:xfrm>
            <a:off x="3070370" y="3459327"/>
            <a:ext cx="278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C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“ j is good/bad (0/1) ”</a:t>
            </a:r>
            <a:endParaRPr lang="zh-TW" altLang="en-US" b="1" dirty="0">
              <a:solidFill>
                <a:srgbClr val="FFC00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BE6DCE39-A2CE-2A2D-DE07-63FB3F55FEE2}"/>
              </a:ext>
            </a:extLst>
          </p:cNvPr>
          <p:cNvCxnSpPr>
            <a:cxnSpLocks/>
            <a:stCxn id="18" idx="2"/>
            <a:endCxn id="17" idx="6"/>
          </p:cNvCxnSpPr>
          <p:nvPr/>
        </p:nvCxnSpPr>
        <p:spPr>
          <a:xfrm flipH="1">
            <a:off x="8876852" y="3955146"/>
            <a:ext cx="831909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2F6A86A1-ED78-0B1E-EC67-AE33A9BF92EB}"/>
              </a:ext>
            </a:extLst>
          </p:cNvPr>
          <p:cNvSpPr/>
          <p:nvPr/>
        </p:nvSpPr>
        <p:spPr>
          <a:xfrm>
            <a:off x="8633572" y="3833506"/>
            <a:ext cx="243280" cy="24328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19446A1A-3F5E-F7E8-ECBF-F60E0ADA4156}"/>
              </a:ext>
            </a:extLst>
          </p:cNvPr>
          <p:cNvSpPr/>
          <p:nvPr/>
        </p:nvSpPr>
        <p:spPr>
          <a:xfrm>
            <a:off x="9708761" y="3833506"/>
            <a:ext cx="243280" cy="24328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FEC5B02-8D3F-E4CB-1760-75BB323457F5}"/>
              </a:ext>
            </a:extLst>
          </p:cNvPr>
          <p:cNvSpPr txBox="1"/>
          <p:nvPr/>
        </p:nvSpPr>
        <p:spPr>
          <a:xfrm>
            <a:off x="8621654" y="4123843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Noto Sans TC" panose="020B0200000000000000" pitchFamily="34" charset="-120"/>
                <a:ea typeface="Noto Sans TC" panose="020B0200000000000000" pitchFamily="34" charset="-120"/>
              </a:rPr>
              <a:t>i</a:t>
            </a:r>
            <a:endParaRPr lang="zh-TW" altLang="en-US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3D38716-236C-CEA6-0937-D0535278ABB9}"/>
              </a:ext>
            </a:extLst>
          </p:cNvPr>
          <p:cNvSpPr txBox="1"/>
          <p:nvPr/>
        </p:nvSpPr>
        <p:spPr>
          <a:xfrm>
            <a:off x="9708761" y="4123843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j</a:t>
            </a:r>
            <a:endParaRPr lang="zh-TW" altLang="en-US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1D7D21C1-DFA8-939D-4A12-74E0805D8811}"/>
              </a:ext>
            </a:extLst>
          </p:cNvPr>
          <p:cNvSpPr txBox="1"/>
          <p:nvPr/>
        </p:nvSpPr>
        <p:spPr>
          <a:xfrm>
            <a:off x="6352368" y="3459327"/>
            <a:ext cx="278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C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“ </a:t>
            </a:r>
            <a:r>
              <a:rPr lang="en-US" altLang="zh-TW" b="1" dirty="0" err="1">
                <a:solidFill>
                  <a:srgbClr val="FFC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i</a:t>
            </a:r>
            <a:r>
              <a:rPr lang="en-US" altLang="zh-TW" b="1" dirty="0">
                <a:solidFill>
                  <a:srgbClr val="FFC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is good/bad (0/1) ”</a:t>
            </a:r>
            <a:endParaRPr lang="zh-TW" altLang="en-US" b="1" dirty="0">
              <a:solidFill>
                <a:srgbClr val="FFC00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B897AE07-B874-8926-CB99-71FA1D94B384}"/>
              </a:ext>
            </a:extLst>
          </p:cNvPr>
          <p:cNvSpPr txBox="1"/>
          <p:nvPr/>
        </p:nvSpPr>
        <p:spPr>
          <a:xfrm>
            <a:off x="4046400" y="4790114"/>
            <a:ext cx="42434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0</a:t>
            </a:r>
            <a:r>
              <a:rPr lang="zh-TW" altLang="en-US" sz="2400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：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好點 </a:t>
            </a:r>
            <a:r>
              <a:rPr lang="en-US" altLang="zh-TW" sz="2400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good</a:t>
            </a:r>
            <a:r>
              <a:rPr lang="zh-TW" altLang="en-US" sz="2400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（</a:t>
            </a:r>
            <a:r>
              <a:rPr lang="en-US" altLang="zh-TW" sz="2400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fault-free</a:t>
            </a:r>
            <a:r>
              <a:rPr lang="zh-TW" altLang="en-US" sz="2400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）</a:t>
            </a:r>
            <a:endParaRPr lang="en-US" altLang="zh-TW" sz="2400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en-US" altLang="zh-TW" sz="2400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1</a:t>
            </a:r>
            <a:r>
              <a:rPr lang="zh-TW" altLang="en-US" sz="2400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：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壞點 </a:t>
            </a:r>
            <a:r>
              <a:rPr lang="en-US" altLang="zh-TW" sz="2400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bad</a:t>
            </a:r>
            <a:r>
              <a:rPr lang="zh-TW" altLang="en-US" sz="2400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（</a:t>
            </a:r>
            <a:r>
              <a:rPr lang="en-US" altLang="zh-TW" sz="2400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faulty</a:t>
            </a:r>
            <a:r>
              <a:rPr lang="zh-TW" altLang="en-US" sz="2400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028746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5D435-8AC9-3187-4A45-9C7CB85F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9D8C715-EE65-FCC3-B8CA-C8CE44689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en-US" altLang="zh-TW" smtClean="0"/>
              <a:pPr/>
              <a:t>4</a:t>
            </a:fld>
            <a:endParaRPr 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34E02E2-40DD-A974-38D9-D847DB51A2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TW" dirty="0"/>
              <a:t>03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BD2B93D-43B9-9609-4A44-2257884F396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Preparata</a:t>
            </a:r>
            <a:r>
              <a:rPr lang="en-US" altLang="zh-TW" dirty="0"/>
              <a:t>-Metze-Chien Model</a:t>
            </a:r>
            <a:endParaRPr lang="zh-TW" altLang="en-US" dirty="0"/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2DF648E-7A14-551E-4A9A-753702739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963"/>
            <a:ext cx="10515600" cy="4625000"/>
          </a:xfrm>
        </p:spPr>
        <p:txBody>
          <a:bodyPr>
            <a:normAutofit/>
          </a:bodyPr>
          <a:lstStyle/>
          <a:p>
            <a:r>
              <a:rPr lang="en-US" altLang="zh-TW" dirty="0"/>
              <a:t>PMC Model</a:t>
            </a:r>
            <a:r>
              <a:rPr lang="zh-TW" altLang="en-US" dirty="0"/>
              <a:t> 是一種系統級故障診斷模型，這種模型策略的條件是壞點不可過多。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lvl="1"/>
            <a:r>
              <a:rPr lang="zh-TW" altLang="en-US" dirty="0"/>
              <a:t>若施行測試的節點本身是一個壞點，則檢測的結果為任意的（不可靠），因此為無效。</a:t>
            </a:r>
            <a:endParaRPr lang="en-US" altLang="zh-TW" dirty="0"/>
          </a:p>
          <a:p>
            <a:r>
              <a:rPr lang="zh-TW" altLang="en-US" dirty="0"/>
              <a:t>在壞點沒過多的情況下，通過不同的測試結果可以讓我們知道哪個節點是壞的，因為不同的測試結果不會有重合。</a:t>
            </a:r>
            <a:endParaRPr lang="en-US" altLang="zh-TW" dirty="0"/>
          </a:p>
          <a:p>
            <a:endParaRPr lang="en-US" altLang="zh-TW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109EF482-C6A3-FE2B-C7CB-500D6C797ECF}"/>
              </a:ext>
            </a:extLst>
          </p:cNvPr>
          <p:cNvCxnSpPr>
            <a:cxnSpLocks/>
          </p:cNvCxnSpPr>
          <p:nvPr/>
        </p:nvCxnSpPr>
        <p:spPr>
          <a:xfrm>
            <a:off x="1906463" y="3763393"/>
            <a:ext cx="831909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BEDE7307-D633-192D-1762-1E82A6A3A3E4}"/>
              </a:ext>
            </a:extLst>
          </p:cNvPr>
          <p:cNvCxnSpPr>
            <a:cxnSpLocks/>
          </p:cNvCxnSpPr>
          <p:nvPr/>
        </p:nvCxnSpPr>
        <p:spPr>
          <a:xfrm flipH="1">
            <a:off x="1882628" y="3082534"/>
            <a:ext cx="11918" cy="680859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AFE925F-8F56-C1D2-5A43-E975857938BF}"/>
              </a:ext>
            </a:extLst>
          </p:cNvPr>
          <p:cNvSpPr txBox="1"/>
          <p:nvPr/>
        </p:nvSpPr>
        <p:spPr>
          <a:xfrm>
            <a:off x="1451984" y="2464050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a</a:t>
            </a:r>
            <a:endParaRPr lang="zh-TW" altLang="en-US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19D508F5-0EF1-A387-E030-2FE4B5EBDB5C}"/>
              </a:ext>
            </a:extLst>
          </p:cNvPr>
          <p:cNvCxnSpPr>
            <a:cxnSpLocks/>
          </p:cNvCxnSpPr>
          <p:nvPr/>
        </p:nvCxnSpPr>
        <p:spPr>
          <a:xfrm flipH="1">
            <a:off x="1894546" y="4006673"/>
            <a:ext cx="831909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9BE1E953-6A0A-FB30-4B81-6EB8DBC4460D}"/>
              </a:ext>
            </a:extLst>
          </p:cNvPr>
          <p:cNvCxnSpPr>
            <a:cxnSpLocks/>
          </p:cNvCxnSpPr>
          <p:nvPr/>
        </p:nvCxnSpPr>
        <p:spPr>
          <a:xfrm flipV="1">
            <a:off x="1696072" y="3076662"/>
            <a:ext cx="11918" cy="680859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2F113A59-975E-A5CD-7DFE-61D158495558}"/>
              </a:ext>
            </a:extLst>
          </p:cNvPr>
          <p:cNvCxnSpPr>
            <a:cxnSpLocks/>
          </p:cNvCxnSpPr>
          <p:nvPr/>
        </p:nvCxnSpPr>
        <p:spPr>
          <a:xfrm flipH="1">
            <a:off x="2957817" y="3091086"/>
            <a:ext cx="11918" cy="680859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16C9F326-C1E3-921E-D99F-3C58380D64D9}"/>
              </a:ext>
            </a:extLst>
          </p:cNvPr>
          <p:cNvCxnSpPr>
            <a:cxnSpLocks/>
          </p:cNvCxnSpPr>
          <p:nvPr/>
        </p:nvCxnSpPr>
        <p:spPr>
          <a:xfrm flipV="1">
            <a:off x="2771261" y="3085214"/>
            <a:ext cx="11918" cy="680859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E3E617E1-95CC-9CE7-D98D-14887F9A0491}"/>
              </a:ext>
            </a:extLst>
          </p:cNvPr>
          <p:cNvCxnSpPr>
            <a:cxnSpLocks/>
          </p:cNvCxnSpPr>
          <p:nvPr/>
        </p:nvCxnSpPr>
        <p:spPr>
          <a:xfrm>
            <a:off x="1939352" y="2839254"/>
            <a:ext cx="831909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776C9716-A4BE-15DE-58C4-D850E9061720}"/>
              </a:ext>
            </a:extLst>
          </p:cNvPr>
          <p:cNvCxnSpPr>
            <a:cxnSpLocks/>
          </p:cNvCxnSpPr>
          <p:nvPr/>
        </p:nvCxnSpPr>
        <p:spPr>
          <a:xfrm flipH="1">
            <a:off x="1927435" y="3082534"/>
            <a:ext cx="831909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>
            <a:extLst>
              <a:ext uri="{FF2B5EF4-FFF2-40B4-BE49-F238E27FC236}">
                <a16:creationId xmlns:a16="http://schemas.microsoft.com/office/drawing/2014/main" id="{EB3A87BB-9F1F-4F71-6CD9-514523683BFA}"/>
              </a:ext>
            </a:extLst>
          </p:cNvPr>
          <p:cNvSpPr/>
          <p:nvPr/>
        </p:nvSpPr>
        <p:spPr>
          <a:xfrm>
            <a:off x="1651266" y="3763393"/>
            <a:ext cx="243280" cy="243280"/>
          </a:xfrm>
          <a:prstGeom prst="ellipse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25568E-9571-E8AF-C58E-D9FAAC0A54CE}"/>
              </a:ext>
            </a:extLst>
          </p:cNvPr>
          <p:cNvSpPr/>
          <p:nvPr/>
        </p:nvSpPr>
        <p:spPr>
          <a:xfrm>
            <a:off x="2726455" y="3763393"/>
            <a:ext cx="243280" cy="243280"/>
          </a:xfrm>
          <a:prstGeom prst="ellipse">
            <a:avLst/>
          </a:prstGeom>
          <a:solidFill>
            <a:srgbClr val="FF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7F34DE1E-FCF0-9634-E5FF-B213F8CB2F94}"/>
              </a:ext>
            </a:extLst>
          </p:cNvPr>
          <p:cNvSpPr/>
          <p:nvPr/>
        </p:nvSpPr>
        <p:spPr>
          <a:xfrm>
            <a:off x="1663184" y="2839254"/>
            <a:ext cx="243280" cy="243280"/>
          </a:xfrm>
          <a:prstGeom prst="ellipse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BB44109C-9D3E-9BF7-680A-2B2D3DF74DCB}"/>
              </a:ext>
            </a:extLst>
          </p:cNvPr>
          <p:cNvSpPr/>
          <p:nvPr/>
        </p:nvSpPr>
        <p:spPr>
          <a:xfrm>
            <a:off x="2738373" y="2839254"/>
            <a:ext cx="243280" cy="243280"/>
          </a:xfrm>
          <a:prstGeom prst="ellipse">
            <a:avLst/>
          </a:prstGeom>
          <a:solidFill>
            <a:srgbClr val="92D05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9CCD81E-F6EA-88CF-D6BB-7231200C805D}"/>
              </a:ext>
            </a:extLst>
          </p:cNvPr>
          <p:cNvSpPr txBox="1"/>
          <p:nvPr/>
        </p:nvSpPr>
        <p:spPr>
          <a:xfrm>
            <a:off x="2926891" y="246137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b</a:t>
            </a:r>
            <a:endParaRPr lang="zh-TW" altLang="en-US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A4F4E79-300D-A001-7A40-2C550817CA8C}"/>
              </a:ext>
            </a:extLst>
          </p:cNvPr>
          <p:cNvSpPr txBox="1"/>
          <p:nvPr/>
        </p:nvSpPr>
        <p:spPr>
          <a:xfrm>
            <a:off x="1451984" y="4043642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d</a:t>
            </a:r>
            <a:endParaRPr lang="zh-TW" altLang="en-US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CB85E98-947C-2FB4-B630-D8C7B67B44E2}"/>
              </a:ext>
            </a:extLst>
          </p:cNvPr>
          <p:cNvSpPr txBox="1"/>
          <p:nvPr/>
        </p:nvSpPr>
        <p:spPr>
          <a:xfrm>
            <a:off x="2927124" y="404364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c</a:t>
            </a:r>
            <a:endParaRPr lang="zh-TW" altLang="en-US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F28D1180-9C15-9F4E-F409-5132A751AEE8}"/>
              </a:ext>
            </a:extLst>
          </p:cNvPr>
          <p:cNvSpPr txBox="1"/>
          <p:nvPr/>
        </p:nvSpPr>
        <p:spPr>
          <a:xfrm>
            <a:off x="2527173" y="2461370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B0F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0</a:t>
            </a:r>
            <a:endParaRPr lang="zh-TW" altLang="en-US" b="1" dirty="0">
              <a:solidFill>
                <a:srgbClr val="00B0F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DF7CD360-43E1-D380-2C5F-CC0465B658B6}"/>
              </a:ext>
            </a:extLst>
          </p:cNvPr>
          <p:cNvSpPr txBox="1"/>
          <p:nvPr/>
        </p:nvSpPr>
        <p:spPr>
          <a:xfrm>
            <a:off x="1939851" y="307666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B0F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0</a:t>
            </a:r>
            <a:endParaRPr lang="zh-TW" altLang="en-US" b="1" dirty="0">
              <a:solidFill>
                <a:srgbClr val="00B0F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C1ED4FC-B468-72BE-8B97-01AA8CAAE24F}"/>
              </a:ext>
            </a:extLst>
          </p:cNvPr>
          <p:cNvSpPr txBox="1"/>
          <p:nvPr/>
        </p:nvSpPr>
        <p:spPr>
          <a:xfrm>
            <a:off x="1939851" y="338793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B0F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0</a:t>
            </a:r>
            <a:endParaRPr lang="zh-TW" altLang="en-US" b="1" dirty="0">
              <a:solidFill>
                <a:srgbClr val="00B0F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57A6F0EC-E524-1838-A21A-B405035EF241}"/>
              </a:ext>
            </a:extLst>
          </p:cNvPr>
          <p:cNvSpPr txBox="1"/>
          <p:nvPr/>
        </p:nvSpPr>
        <p:spPr>
          <a:xfrm>
            <a:off x="1345259" y="307666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B0F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0</a:t>
            </a:r>
            <a:endParaRPr lang="zh-TW" altLang="en-US" b="1" dirty="0">
              <a:solidFill>
                <a:srgbClr val="00B0F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1C570949-503F-F66F-0D27-D9138C003535}"/>
              </a:ext>
            </a:extLst>
          </p:cNvPr>
          <p:cNvSpPr txBox="1"/>
          <p:nvPr/>
        </p:nvSpPr>
        <p:spPr>
          <a:xfrm>
            <a:off x="3014541" y="338793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1</a:t>
            </a:r>
            <a:endParaRPr lang="zh-TW" altLang="en-US" b="1" dirty="0">
              <a:solidFill>
                <a:srgbClr val="C0000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C7F8887-A9D6-642E-2F58-0D9F0A62048C}"/>
              </a:ext>
            </a:extLst>
          </p:cNvPr>
          <p:cNvSpPr txBox="1"/>
          <p:nvPr/>
        </p:nvSpPr>
        <p:spPr>
          <a:xfrm>
            <a:off x="2412326" y="3394060"/>
            <a:ext cx="320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1</a:t>
            </a:r>
            <a:endParaRPr lang="zh-TW" altLang="en-US" b="1" dirty="0">
              <a:solidFill>
                <a:srgbClr val="C0000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535ABC7F-ADFE-9D32-7F8C-D425F5877777}"/>
              </a:ext>
            </a:extLst>
          </p:cNvPr>
          <p:cNvSpPr txBox="1"/>
          <p:nvPr/>
        </p:nvSpPr>
        <p:spPr>
          <a:xfrm>
            <a:off x="1906463" y="4074670"/>
            <a:ext cx="643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00B0F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0</a:t>
            </a:r>
            <a:r>
              <a:rPr lang="en-US" altLang="zh-TW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/</a:t>
            </a:r>
            <a:r>
              <a:rPr lang="en-US" altLang="zh-TW" b="1" dirty="0">
                <a:solidFill>
                  <a:srgbClr val="C0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1</a:t>
            </a:r>
            <a:endParaRPr lang="zh-TW" altLang="en-US" b="1" dirty="0">
              <a:solidFill>
                <a:srgbClr val="C0000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A7E997D-701A-3D11-FADA-E82295407788}"/>
              </a:ext>
            </a:extLst>
          </p:cNvPr>
          <p:cNvSpPr txBox="1"/>
          <p:nvPr/>
        </p:nvSpPr>
        <p:spPr>
          <a:xfrm>
            <a:off x="2273189" y="3059668"/>
            <a:ext cx="643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00B0F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0</a:t>
            </a:r>
            <a:r>
              <a:rPr lang="en-US" altLang="zh-TW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/</a:t>
            </a:r>
            <a:r>
              <a:rPr lang="en-US" altLang="zh-TW" b="1" dirty="0">
                <a:solidFill>
                  <a:srgbClr val="C0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1</a:t>
            </a:r>
            <a:endParaRPr lang="zh-TW" altLang="en-US" b="1" dirty="0">
              <a:solidFill>
                <a:srgbClr val="C0000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1930F692-C59B-9787-365F-5EFAE4263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917400"/>
              </p:ext>
            </p:extLst>
          </p:nvPr>
        </p:nvGraphicFramePr>
        <p:xfrm>
          <a:off x="3457162" y="2498543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87973244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179489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67083169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0126003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763409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64893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73700563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2015225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a→b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r>
                        <a:rPr lang="zh-TW" altLang="en-US" dirty="0"/>
                        <a:t>→</a:t>
                      </a:r>
                      <a:r>
                        <a:rPr lang="en-US" altLang="zh-TW" dirty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r>
                        <a:rPr lang="zh-TW" altLang="en-US" dirty="0"/>
                        <a:t>→</a:t>
                      </a:r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r>
                        <a:rPr lang="zh-TW" altLang="en-US" dirty="0"/>
                        <a:t>→</a:t>
                      </a:r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r>
                        <a:rPr lang="zh-TW" altLang="en-US" dirty="0"/>
                        <a:t>→</a:t>
                      </a:r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r>
                        <a:rPr lang="zh-TW" altLang="en-US" dirty="0"/>
                        <a:t>→</a:t>
                      </a:r>
                      <a:r>
                        <a:rPr lang="en-US" altLang="zh-TW" dirty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</a:t>
                      </a:r>
                      <a:r>
                        <a:rPr lang="zh-TW" altLang="en-US" dirty="0"/>
                        <a:t>→</a:t>
                      </a:r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</a:t>
                      </a:r>
                      <a:r>
                        <a:rPr lang="zh-TW" altLang="en-US" dirty="0"/>
                        <a:t>→</a:t>
                      </a:r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790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984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862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019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251375"/>
                  </a:ext>
                </a:extLst>
              </a:tr>
            </a:tbl>
          </a:graphicData>
        </a:graphic>
      </p:graphicFrame>
      <p:sp>
        <p:nvSpPr>
          <p:cNvPr id="42" name="文字方塊 41">
            <a:extLst>
              <a:ext uri="{FF2B5EF4-FFF2-40B4-BE49-F238E27FC236}">
                <a16:creationId xmlns:a16="http://schemas.microsoft.com/office/drawing/2014/main" id="{D6775FE9-EF62-6C4B-B7AE-500ADD3A6FA1}"/>
              </a:ext>
            </a:extLst>
          </p:cNvPr>
          <p:cNvSpPr txBox="1"/>
          <p:nvPr/>
        </p:nvSpPr>
        <p:spPr>
          <a:xfrm>
            <a:off x="6142419" y="2129211"/>
            <a:ext cx="2757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Syndrome of </a:t>
            </a:r>
            <a:r>
              <a:rPr lang="en-US" altLang="zh-TW" b="1" dirty="0">
                <a:solidFill>
                  <a:srgbClr val="C0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bad “c”</a:t>
            </a:r>
            <a:endParaRPr lang="zh-TW" altLang="en-US" b="1" dirty="0">
              <a:solidFill>
                <a:srgbClr val="C0000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6917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A750-ED66-FD12-56F1-DDF052E46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AA1C0BF-4FEE-95C5-AA01-D45EAD928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en-US" altLang="zh-TW" smtClean="0"/>
              <a:pPr/>
              <a:t>5</a:t>
            </a:fld>
            <a:endParaRPr 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DC59D2-B05C-43FD-80E5-53902110A9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TW" dirty="0"/>
              <a:t>04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D07ADBB-C684-5C4B-663E-3F93A0A3D35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t-Diagnosability</a:t>
            </a:r>
            <a:endParaRPr lang="zh-TW" altLang="en-US" dirty="0"/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B48D3C5-46FB-63A5-50E8-E29058223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963"/>
            <a:ext cx="10515600" cy="4625000"/>
          </a:xfrm>
        </p:spPr>
        <p:txBody>
          <a:bodyPr>
            <a:normAutofit/>
          </a:bodyPr>
          <a:lstStyle/>
          <a:p>
            <a:r>
              <a:rPr lang="zh-TW" altLang="en-US" dirty="0"/>
              <a:t>當壞的節點數超過數值 </a:t>
            </a:r>
            <a:r>
              <a:rPr lang="en-US" altLang="zh-TW" dirty="0"/>
              <a:t>t </a:t>
            </a:r>
            <a:r>
              <a:rPr lang="zh-TW" altLang="en-US" dirty="0"/>
              <a:t>，這種互測技術就會失效，稱 </a:t>
            </a:r>
            <a:r>
              <a:rPr lang="en-US" altLang="zh-TW" dirty="0"/>
              <a:t>t</a:t>
            </a:r>
            <a:r>
              <a:rPr lang="zh-TW" altLang="en-US" dirty="0"/>
              <a:t> 為這系統的診斷度。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lvl="1"/>
            <a:r>
              <a:rPr lang="zh-TW" altLang="en-US" dirty="0"/>
              <a:t>當壞點數超過 </a:t>
            </a:r>
            <a:r>
              <a:rPr lang="en-US" altLang="zh-TW" dirty="0"/>
              <a:t>t</a:t>
            </a:r>
            <a:r>
              <a:rPr lang="zh-TW" altLang="en-US" dirty="0"/>
              <a:t> ，其檢測結果就會有重複的，使其診斷策略失效。</a:t>
            </a: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zh-TW" altLang="en-US" dirty="0"/>
              <a:t>隨著網路節點增大，若用列表的方式呈現所有測試結果，其表格會指數型增長，在實務上不實際。</a:t>
            </a:r>
            <a:endParaRPr lang="en-US" altLang="zh-TW" dirty="0"/>
          </a:p>
          <a:p>
            <a:r>
              <a:rPr lang="zh-TW" altLang="en-US" dirty="0"/>
              <a:t>對於不同的網路連結方式有各種不同的定理去診斷其系統診斷度 </a:t>
            </a:r>
            <a:r>
              <a:rPr lang="en-US" altLang="zh-TW" dirty="0"/>
              <a:t>t 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A4FDACFE-F69C-83FF-9C54-F6A6F55B3F7B}"/>
              </a:ext>
            </a:extLst>
          </p:cNvPr>
          <p:cNvCxnSpPr>
            <a:cxnSpLocks/>
          </p:cNvCxnSpPr>
          <p:nvPr/>
        </p:nvCxnSpPr>
        <p:spPr>
          <a:xfrm>
            <a:off x="1915667" y="3020533"/>
            <a:ext cx="368446" cy="485279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1CFB8A8-B7A9-7D40-A453-524CCE5FE5B6}"/>
              </a:ext>
            </a:extLst>
          </p:cNvPr>
          <p:cNvSpPr txBox="1"/>
          <p:nvPr/>
        </p:nvSpPr>
        <p:spPr>
          <a:xfrm>
            <a:off x="1451984" y="2464050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a</a:t>
            </a:r>
            <a:endParaRPr lang="zh-TW" altLang="en-US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EFF37056-779C-7B65-CD12-372B58CD67EE}"/>
              </a:ext>
            </a:extLst>
          </p:cNvPr>
          <p:cNvCxnSpPr>
            <a:cxnSpLocks/>
          </p:cNvCxnSpPr>
          <p:nvPr/>
        </p:nvCxnSpPr>
        <p:spPr>
          <a:xfrm flipH="1" flipV="1">
            <a:off x="1784824" y="3092113"/>
            <a:ext cx="386541" cy="52090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ACAB2118-823D-834A-E160-5D0D5F9AC9E3}"/>
              </a:ext>
            </a:extLst>
          </p:cNvPr>
          <p:cNvCxnSpPr>
            <a:cxnSpLocks/>
          </p:cNvCxnSpPr>
          <p:nvPr/>
        </p:nvCxnSpPr>
        <p:spPr>
          <a:xfrm flipH="1">
            <a:off x="2520075" y="3132017"/>
            <a:ext cx="308539" cy="44110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6F99013F-B41A-B339-AA6E-1C7DBC2087B8}"/>
              </a:ext>
            </a:extLst>
          </p:cNvPr>
          <p:cNvCxnSpPr>
            <a:cxnSpLocks/>
          </p:cNvCxnSpPr>
          <p:nvPr/>
        </p:nvCxnSpPr>
        <p:spPr>
          <a:xfrm flipV="1">
            <a:off x="2398779" y="3029084"/>
            <a:ext cx="344167" cy="47672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345E053D-E663-80B4-2D46-39FE0E65E002}"/>
              </a:ext>
            </a:extLst>
          </p:cNvPr>
          <p:cNvCxnSpPr>
            <a:cxnSpLocks/>
          </p:cNvCxnSpPr>
          <p:nvPr/>
        </p:nvCxnSpPr>
        <p:spPr>
          <a:xfrm>
            <a:off x="1941659" y="2839254"/>
            <a:ext cx="831909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27F22BF7-C209-E086-F1C7-076998F5C3E0}"/>
              </a:ext>
            </a:extLst>
          </p:cNvPr>
          <p:cNvCxnSpPr>
            <a:cxnSpLocks/>
          </p:cNvCxnSpPr>
          <p:nvPr/>
        </p:nvCxnSpPr>
        <p:spPr>
          <a:xfrm flipH="1">
            <a:off x="1927434" y="3020533"/>
            <a:ext cx="831909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橢圓 26">
            <a:extLst>
              <a:ext uri="{FF2B5EF4-FFF2-40B4-BE49-F238E27FC236}">
                <a16:creationId xmlns:a16="http://schemas.microsoft.com/office/drawing/2014/main" id="{2F94A25B-EB86-E941-33B3-BBAEB0242A91}"/>
              </a:ext>
            </a:extLst>
          </p:cNvPr>
          <p:cNvSpPr/>
          <p:nvPr/>
        </p:nvSpPr>
        <p:spPr>
          <a:xfrm>
            <a:off x="2221749" y="3532186"/>
            <a:ext cx="243280" cy="243280"/>
          </a:xfrm>
          <a:prstGeom prst="ellipse">
            <a:avLst/>
          </a:prstGeom>
          <a:solidFill>
            <a:srgbClr val="FF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E9093975-47A1-9261-1CB0-1EE588BB4F97}"/>
              </a:ext>
            </a:extLst>
          </p:cNvPr>
          <p:cNvSpPr/>
          <p:nvPr/>
        </p:nvSpPr>
        <p:spPr>
          <a:xfrm>
            <a:off x="1663184" y="2839254"/>
            <a:ext cx="243280" cy="243280"/>
          </a:xfrm>
          <a:prstGeom prst="ellipse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8C9EEEC6-4161-A524-1EE3-1909CE6A5E80}"/>
              </a:ext>
            </a:extLst>
          </p:cNvPr>
          <p:cNvSpPr/>
          <p:nvPr/>
        </p:nvSpPr>
        <p:spPr>
          <a:xfrm>
            <a:off x="2738373" y="2839254"/>
            <a:ext cx="243280" cy="243280"/>
          </a:xfrm>
          <a:prstGeom prst="ellipse">
            <a:avLst/>
          </a:prstGeom>
          <a:solidFill>
            <a:srgbClr val="92D05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E56FBC9-8576-AD39-0426-BD7EE174DB0A}"/>
              </a:ext>
            </a:extLst>
          </p:cNvPr>
          <p:cNvSpPr txBox="1"/>
          <p:nvPr/>
        </p:nvSpPr>
        <p:spPr>
          <a:xfrm>
            <a:off x="2926891" y="246137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b</a:t>
            </a:r>
            <a:endParaRPr lang="zh-TW" altLang="en-US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B686ACED-6289-971F-6866-5BA8EA119FC4}"/>
              </a:ext>
            </a:extLst>
          </p:cNvPr>
          <p:cNvSpPr txBox="1"/>
          <p:nvPr/>
        </p:nvSpPr>
        <p:spPr>
          <a:xfrm>
            <a:off x="2190141" y="375721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c</a:t>
            </a:r>
            <a:endParaRPr lang="zh-TW" altLang="en-US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38BA9F1E-3A97-2765-B240-57442A1478EB}"/>
              </a:ext>
            </a:extLst>
          </p:cNvPr>
          <p:cNvSpPr txBox="1"/>
          <p:nvPr/>
        </p:nvSpPr>
        <p:spPr>
          <a:xfrm>
            <a:off x="3177324" y="3195058"/>
            <a:ext cx="1930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系統診斷度 </a:t>
            </a:r>
            <a:r>
              <a:rPr lang="en-US" altLang="zh-TW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t = 1</a:t>
            </a:r>
            <a:endParaRPr lang="zh-TW" altLang="en-US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5E942A6D-4C92-2593-84A0-DC4A5819C457}"/>
              </a:ext>
            </a:extLst>
          </p:cNvPr>
          <p:cNvCxnSpPr>
            <a:cxnSpLocks/>
          </p:cNvCxnSpPr>
          <p:nvPr/>
        </p:nvCxnSpPr>
        <p:spPr>
          <a:xfrm>
            <a:off x="6723123" y="3020533"/>
            <a:ext cx="368446" cy="485279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758E6C85-AA2B-5C2D-BAB9-AA4BF81DFA65}"/>
              </a:ext>
            </a:extLst>
          </p:cNvPr>
          <p:cNvSpPr txBox="1"/>
          <p:nvPr/>
        </p:nvSpPr>
        <p:spPr>
          <a:xfrm>
            <a:off x="6259440" y="2464050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a</a:t>
            </a:r>
            <a:endParaRPr lang="zh-TW" altLang="en-US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4DB4E235-9490-7CD7-05ED-7FA8959A9F17}"/>
              </a:ext>
            </a:extLst>
          </p:cNvPr>
          <p:cNvCxnSpPr>
            <a:cxnSpLocks/>
          </p:cNvCxnSpPr>
          <p:nvPr/>
        </p:nvCxnSpPr>
        <p:spPr>
          <a:xfrm flipH="1" flipV="1">
            <a:off x="6592280" y="3092113"/>
            <a:ext cx="386541" cy="52090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38D106AB-B227-65B3-B63C-C61C34BC6945}"/>
              </a:ext>
            </a:extLst>
          </p:cNvPr>
          <p:cNvCxnSpPr>
            <a:cxnSpLocks/>
          </p:cNvCxnSpPr>
          <p:nvPr/>
        </p:nvCxnSpPr>
        <p:spPr>
          <a:xfrm flipH="1">
            <a:off x="7327531" y="3132017"/>
            <a:ext cx="308539" cy="44110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4F2D811B-8EFB-A695-0EDC-42FCCC1BCDA5}"/>
              </a:ext>
            </a:extLst>
          </p:cNvPr>
          <p:cNvCxnSpPr>
            <a:cxnSpLocks/>
          </p:cNvCxnSpPr>
          <p:nvPr/>
        </p:nvCxnSpPr>
        <p:spPr>
          <a:xfrm flipV="1">
            <a:off x="7206235" y="3029084"/>
            <a:ext cx="344167" cy="47672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EE9EFE4C-1124-C738-0873-70E36A3282EB}"/>
              </a:ext>
            </a:extLst>
          </p:cNvPr>
          <p:cNvCxnSpPr>
            <a:cxnSpLocks/>
          </p:cNvCxnSpPr>
          <p:nvPr/>
        </p:nvCxnSpPr>
        <p:spPr>
          <a:xfrm>
            <a:off x="6749115" y="2839254"/>
            <a:ext cx="831909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F5504E47-340E-1B59-A129-9235447E5504}"/>
              </a:ext>
            </a:extLst>
          </p:cNvPr>
          <p:cNvCxnSpPr>
            <a:cxnSpLocks/>
          </p:cNvCxnSpPr>
          <p:nvPr/>
        </p:nvCxnSpPr>
        <p:spPr>
          <a:xfrm flipH="1">
            <a:off x="6734890" y="3020533"/>
            <a:ext cx="831909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E086CD8F-7041-7590-6192-7BB0F99BBBF1}"/>
              </a:ext>
            </a:extLst>
          </p:cNvPr>
          <p:cNvSpPr/>
          <p:nvPr/>
        </p:nvSpPr>
        <p:spPr>
          <a:xfrm>
            <a:off x="7029205" y="3532186"/>
            <a:ext cx="243280" cy="243280"/>
          </a:xfrm>
          <a:prstGeom prst="ellipse">
            <a:avLst/>
          </a:prstGeom>
          <a:solidFill>
            <a:srgbClr val="FF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32C3D352-1280-B45A-9FC0-765640F41D91}"/>
              </a:ext>
            </a:extLst>
          </p:cNvPr>
          <p:cNvSpPr/>
          <p:nvPr/>
        </p:nvSpPr>
        <p:spPr>
          <a:xfrm>
            <a:off x="6470640" y="2839254"/>
            <a:ext cx="243280" cy="243280"/>
          </a:xfrm>
          <a:prstGeom prst="ellipse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0B876089-49E0-C624-40AE-E7C0622F9682}"/>
              </a:ext>
            </a:extLst>
          </p:cNvPr>
          <p:cNvSpPr/>
          <p:nvPr/>
        </p:nvSpPr>
        <p:spPr>
          <a:xfrm>
            <a:off x="7545829" y="2839254"/>
            <a:ext cx="243280" cy="243280"/>
          </a:xfrm>
          <a:prstGeom prst="ellipse">
            <a:avLst/>
          </a:prstGeom>
          <a:solidFill>
            <a:srgbClr val="FF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4B1634F6-05E9-BF35-B816-69304335BAA0}"/>
              </a:ext>
            </a:extLst>
          </p:cNvPr>
          <p:cNvSpPr txBox="1"/>
          <p:nvPr/>
        </p:nvSpPr>
        <p:spPr>
          <a:xfrm>
            <a:off x="7734347" y="246137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b</a:t>
            </a:r>
            <a:endParaRPr lang="zh-TW" altLang="en-US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8211BA79-8B10-BCC7-627B-37F18792A9B1}"/>
              </a:ext>
            </a:extLst>
          </p:cNvPr>
          <p:cNvSpPr txBox="1"/>
          <p:nvPr/>
        </p:nvSpPr>
        <p:spPr>
          <a:xfrm>
            <a:off x="6997597" y="375721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c</a:t>
            </a:r>
            <a:endParaRPr lang="zh-TW" altLang="en-US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C33D723F-B509-EC18-0CF9-76F46A1DE2F1}"/>
              </a:ext>
            </a:extLst>
          </p:cNvPr>
          <p:cNvSpPr txBox="1"/>
          <p:nvPr/>
        </p:nvSpPr>
        <p:spPr>
          <a:xfrm>
            <a:off x="7786364" y="3132017"/>
            <a:ext cx="1604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壞點數超過 </a:t>
            </a:r>
            <a:r>
              <a:rPr lang="en-US" altLang="zh-TW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t </a:t>
            </a:r>
            <a:endParaRPr lang="zh-TW" altLang="en-US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6033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CC7B4-7ED0-828A-F293-F38E155A5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F949622-2991-5553-C5E0-ED64BBBC1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en-US" altLang="zh-TW" smtClean="0"/>
              <a:pPr/>
              <a:t>6</a:t>
            </a:fld>
            <a:endParaRPr 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7F9491-3557-200A-6CB9-10BBFB0658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30D61FC-4585-C77F-0CCF-A7BE3175ED5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手寫筆記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049004B-B858-CE0C-819E-673CC09CB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518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/>
        </p:nvSpPr>
        <p:spPr>
          <a:xfrm>
            <a:off x="3768011" y="1181869"/>
            <a:ext cx="4650475" cy="4650475"/>
          </a:xfrm>
          <a:prstGeom prst="frame">
            <a:avLst>
              <a:gd name="adj1" fmla="val 240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98"/>
          <a:stretch>
            <a:fillRect/>
          </a:stretch>
        </p:blipFill>
        <p:spPr>
          <a:xfrm rot="5400000">
            <a:off x="1624347" y="-1129249"/>
            <a:ext cx="6791780" cy="849402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914356" y="2613313"/>
            <a:ext cx="43577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9600">
                <a:latin typeface="Impact" panose="020B0806030902050204" pitchFamily="34" charset="0"/>
              </a:rPr>
              <a:t>THANKS</a:t>
            </a:r>
            <a:endParaRPr lang="zh-CN" altLang="en-US" sz="9600" dirty="0">
              <a:latin typeface="Impact" panose="020B080603090205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04069">
            <a:off x="9232802" y="4104149"/>
            <a:ext cx="1950088" cy="18998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01041">
            <a:off x="7530864" y="3142331"/>
            <a:ext cx="3123449" cy="277112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237916" y="4020237"/>
            <a:ext cx="171616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endParaRPr lang="zh-CN" altLang="en-US" sz="2400" dirty="0">
              <a:latin typeface="Impact" panose="020B0806030902050204" pitchFamily="34" charset="0"/>
              <a:ea typeface="方正兰亭粗黑简体" panose="02000000000000000000" pitchFamily="2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494752" y="4972973"/>
            <a:ext cx="309880" cy="373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仿宋_GB2312" panose="02010609030101010101" pitchFamily="1" charset="-122"/>
              </a:defRPr>
            </a:lvl2pPr>
            <a:lvl3pPr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E581CB-71FB-0E4B-1417-610DE1DB9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D8BB-E3C9-46DF-9B94-1AF8F33E9E37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21988</TotalTime>
  <Words>466</Words>
  <Application>Microsoft Office PowerPoint</Application>
  <PresentationFormat>寬螢幕</PresentationFormat>
  <Paragraphs>130</Paragraphs>
  <Slides>8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9" baseType="lpstr">
      <vt:lpstr>Noto Sans TC</vt:lpstr>
      <vt:lpstr>Yu Gothic UI Semibold</vt:lpstr>
      <vt:lpstr>方正正黑简体</vt:lpstr>
      <vt:lpstr>迷你简汉真广标</vt:lpstr>
      <vt:lpstr>造字工房悦黑体验版纤细体</vt:lpstr>
      <vt:lpstr>標楷體</vt:lpstr>
      <vt:lpstr>Arial</vt:lpstr>
      <vt:lpstr>Calibri</vt:lpstr>
      <vt:lpstr>Calibri Light</vt:lpstr>
      <vt:lpstr>Impact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彥均 賴</dc:creator>
  <cp:lastModifiedBy>Oki dai</cp:lastModifiedBy>
  <cp:revision>755</cp:revision>
  <dcterms:created xsi:type="dcterms:W3CDTF">2022-05-28T08:29:41Z</dcterms:created>
  <dcterms:modified xsi:type="dcterms:W3CDTF">2026-09-15T11:40:51Z</dcterms:modified>
</cp:coreProperties>
</file>