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4" r:id="rId2"/>
    <p:sldId id="389" r:id="rId3"/>
    <p:sldId id="446" r:id="rId4"/>
    <p:sldId id="452" r:id="rId5"/>
    <p:sldId id="540" r:id="rId6"/>
    <p:sldId id="530" r:id="rId7"/>
    <p:sldId id="541" r:id="rId8"/>
    <p:sldId id="542" r:id="rId9"/>
    <p:sldId id="531" r:id="rId10"/>
    <p:sldId id="543" r:id="rId11"/>
    <p:sldId id="544" r:id="rId12"/>
    <p:sldId id="545" r:id="rId13"/>
    <p:sldId id="539" r:id="rId14"/>
    <p:sldId id="527" r:id="rId15"/>
    <p:sldId id="546" r:id="rId16"/>
    <p:sldId id="547" r:id="rId17"/>
    <p:sldId id="265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頭 芋" initials="頭" lastIdx="1" clrIdx="0">
    <p:extLst>
      <p:ext uri="{19B8F6BF-5375-455C-9EA6-DF929625EA0E}">
        <p15:presenceInfo xmlns:p15="http://schemas.microsoft.com/office/powerpoint/2012/main" userId="ea54bbee7b24dc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92D050"/>
    <a:srgbClr val="00B0F0"/>
    <a:srgbClr val="A7E4F9"/>
    <a:srgbClr val="E9ABEF"/>
    <a:srgbClr val="9966FF"/>
    <a:srgbClr val="0C0C0C"/>
    <a:srgbClr val="8FAADC"/>
    <a:srgbClr val="FF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0" autoAdjust="0"/>
    <p:restoredTop sz="87021" autoAdjust="0"/>
  </p:normalViewPr>
  <p:slideViewPr>
    <p:cSldViewPr snapToGrid="0">
      <p:cViewPr varScale="1">
        <p:scale>
          <a:sx n="96" d="100"/>
          <a:sy n="96" d="100"/>
        </p:scale>
        <p:origin x="11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42F4CBD-CDBF-889B-181E-5DA6F30299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7FC4326-5F44-30FC-57B0-9F09151AA7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6DC2A-8C08-46CB-B0AC-8A85B798D43A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5B129BB-56D9-D4F1-5C37-480271CD3A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2A0AF85-34F4-3ABA-1C4E-58C7C61376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4F727-02A4-470A-9AAF-390F16553B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240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B3DE7-9129-45A7-8751-D04716C26067}" type="datetimeFigureOut">
              <a:rPr lang="zh-TW" altLang="en-US" smtClean="0"/>
              <a:t>2026/9/29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FD6F0-2D1B-4ADC-A920-0C559ABD6C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2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4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60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063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992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199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063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382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633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8E81-89AC-2FEC-7D1E-8A0A7B01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F2599B-2770-20DB-02FF-66ACBD31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4A7B8A-9A99-F241-CAA5-2AC8ACB66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CB51BC-4FDA-E632-EE3E-30A155D49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384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8E81-89AC-2FEC-7D1E-8A0A7B01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F2599B-2770-20DB-02FF-66ACBD31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4A7B8A-9A99-F241-CAA5-2AC8ACB66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CB51BC-4FDA-E632-EE3E-30A155D49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4941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8E81-89AC-2FEC-7D1E-8A0A7B01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F2599B-2770-20DB-02FF-66ACBD31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4A7B8A-9A99-F241-CAA5-2AC8ACB66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CB51BC-4FDA-E632-EE3E-30A155D49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669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D6F0-2D1B-4ADC-A920-0C559ABD6C9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304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97023-E6AF-F51A-4C56-B31C1AA98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6FE30D-EF9C-4D74-570C-DD357BB72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6D0C6E-D82F-9D20-F01E-17F3280F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8DEE-7FDD-4340-B660-1D6F7691C8F2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CC2FAA-5407-99B7-4014-E3F6FC26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3B54F3-7ECD-1A53-2BEF-38B6851A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2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DD6064-51B4-E1BB-BADF-F2E8E75EB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544"/>
            <a:ext cx="10515600" cy="4838419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/>
              </a:buBlip>
              <a:defRPr lang="zh-TW" altLang="en-US" sz="24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1pPr>
            <a:lvl2pPr marL="685800" indent="-228600">
              <a:buFontTx/>
              <a:buBlip>
                <a:blip r:embed="rId3"/>
              </a:buBlip>
              <a:defRPr lang="zh-TW" altLang="en-US" sz="20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2pPr>
            <a:lvl3pPr marL="1143000" indent="-228600">
              <a:buFontTx/>
              <a:buBlip>
                <a:blip r:embed="rId4"/>
              </a:buBlip>
              <a:defRPr lang="zh-TW" altLang="en-US" sz="18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3pPr>
            <a:lvl4pPr marL="1600200" indent="-228600">
              <a:buFontTx/>
              <a:buBlip>
                <a:blip r:embed="rId5"/>
              </a:buBlip>
              <a:defRPr lang="zh-TW" altLang="en-US" sz="18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4pPr>
            <a:lvl5pPr marL="2057400" indent="-228600">
              <a:buFontTx/>
              <a:buBlip>
                <a:blip r:embed="rId6"/>
              </a:buBlip>
              <a:defRPr lang="zh-TW" altLang="en-US" sz="1800" b="0" kern="1200" baseline="0" dirty="0">
                <a:solidFill>
                  <a:schemeClr val="tx1"/>
                </a:solidFill>
                <a:latin typeface="Noto Sans TC" panose="020B0500000000000000"/>
                <a:ea typeface="標楷體" panose="03000509000000000000" pitchFamily="65" charset="-120"/>
                <a:cs typeface="+mn-cs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EC7A5E-6C39-3C29-29C2-2C9AD405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CF8A4-AF2A-4D4E-9B51-3178D5BC1227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D504E1-3BC1-CF2A-57C2-300C4CD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3E844F-67FF-04C4-AE70-764DCBFC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zh-TW" altLang="en-US" sz="20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Segoe UI" panose="020B0502040204020203" pitchFamily="34" charset="0"/>
              </a:defRPr>
            </a:lvl1pPr>
          </a:lstStyle>
          <a:p>
            <a:fld id="{A6C4F607-EBAE-4F4B-BF62-778A00D92850}" type="slidenum">
              <a:rPr lang="en-US" altLang="zh-TW" smtClean="0"/>
              <a:pPr/>
              <a:t>‹#›</a:t>
            </a:fld>
            <a:endParaRPr lang="en-US" dirty="0"/>
          </a:p>
        </p:txBody>
      </p:sp>
      <p:grpSp>
        <p:nvGrpSpPr>
          <p:cNvPr id="7" name="组合 69">
            <a:extLst>
              <a:ext uri="{FF2B5EF4-FFF2-40B4-BE49-F238E27FC236}">
                <a16:creationId xmlns:a16="http://schemas.microsoft.com/office/drawing/2014/main" id="{E7FC2324-5CD9-5D60-4C24-FEF81532854D}"/>
              </a:ext>
            </a:extLst>
          </p:cNvPr>
          <p:cNvGrpSpPr/>
          <p:nvPr userDrawn="1"/>
        </p:nvGrpSpPr>
        <p:grpSpPr>
          <a:xfrm>
            <a:off x="-6508" y="0"/>
            <a:ext cx="1501840" cy="1200863"/>
            <a:chOff x="-259891" y="-1"/>
            <a:chExt cx="1501840" cy="1200863"/>
          </a:xfrm>
        </p:grpSpPr>
        <p:sp>
          <p:nvSpPr>
            <p:cNvPr id="8" name="图文框 70">
              <a:extLst>
                <a:ext uri="{FF2B5EF4-FFF2-40B4-BE49-F238E27FC236}">
                  <a16:creationId xmlns:a16="http://schemas.microsoft.com/office/drawing/2014/main" id="{F547B038-3577-DE64-785C-16002FAEA9E1}"/>
                </a:ext>
              </a:extLst>
            </p:cNvPr>
            <p:cNvSpPr/>
            <p:nvPr/>
          </p:nvSpPr>
          <p:spPr>
            <a:xfrm>
              <a:off x="269620" y="258143"/>
              <a:ext cx="822256" cy="822256"/>
            </a:xfrm>
            <a:prstGeom prst="frame">
              <a:avLst>
                <a:gd name="adj1" fmla="val 240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9" name="图片 71">
              <a:extLst>
                <a:ext uri="{FF2B5EF4-FFF2-40B4-BE49-F238E27FC236}">
                  <a16:creationId xmlns:a16="http://schemas.microsoft.com/office/drawing/2014/main" id="{6B640C1A-B4C1-70A5-2CA5-7ED10F677E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98"/>
            <a:stretch>
              <a:fillRect/>
            </a:stretch>
          </p:blipFill>
          <p:spPr>
            <a:xfrm rot="5400000">
              <a:off x="-109403" y="-150489"/>
              <a:ext cx="1200863" cy="1501840"/>
            </a:xfrm>
            <a:prstGeom prst="rect">
              <a:avLst/>
            </a:prstGeom>
          </p:spPr>
        </p:pic>
      </p:grp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77583E69-A175-505C-18EA-C907958635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102" y="400049"/>
            <a:ext cx="724157" cy="621427"/>
          </a:xfrm>
        </p:spPr>
        <p:txBody>
          <a:bodyPr/>
          <a:lstStyle>
            <a:lvl1pPr marL="0" indent="0">
              <a:buNone/>
              <a:defRPr sz="3600" baseline="0">
                <a:latin typeface="Impact" panose="020B0806030902050204" pitchFamily="34" charset="0"/>
                <a:ea typeface="標楷體" panose="03000509000000000000" pitchFamily="65" charset="-120"/>
              </a:defRPr>
            </a:lvl1pPr>
            <a:lvl3pPr marL="914400" indent="0">
              <a:buNone/>
              <a:defRPr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3pPr>
            <a:lvl4pPr marL="1371600" indent="0">
              <a:buNone/>
              <a:defRPr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4pPr>
            <a:lvl5pPr marL="1828800" indent="0">
              <a:buNone/>
              <a:defRPr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5pPr>
          </a:lstStyle>
          <a:p>
            <a:pPr lvl="0"/>
            <a:endParaRPr lang="zh-TW" altLang="en-US" dirty="0"/>
          </a:p>
        </p:txBody>
      </p:sp>
      <p:sp>
        <p:nvSpPr>
          <p:cNvPr id="21" name="內容版面配置區 20">
            <a:extLst>
              <a:ext uri="{FF2B5EF4-FFF2-40B4-BE49-F238E27FC236}">
                <a16:creationId xmlns:a16="http://schemas.microsoft.com/office/drawing/2014/main" id="{07743784-288B-9EBE-D190-D8B747E140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43358" y="460690"/>
            <a:ext cx="9910442" cy="553245"/>
          </a:xfrm>
        </p:spPr>
        <p:txBody>
          <a:bodyPr/>
          <a:lstStyle>
            <a:lvl1pPr marL="0" indent="0">
              <a:buNone/>
              <a:defRPr sz="2800"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</a:t>
            </a:r>
            <a:r>
              <a:rPr lang="zh-TW" altLang="en-US"/>
              <a:t>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448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50263-887A-6192-0006-7D07E7BD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685CEF-E57D-FBE0-79BF-1EC7D904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47C377-302E-924C-5672-7303CDA6A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6069-CE43-448A-87B7-AC01F0325C7F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ADA280-5099-DCDE-1589-78E52F56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B00827-FD48-0746-A7E2-53EBBAEE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41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205BD-76E4-2535-57BE-A2D59043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6B4B5F-F9D8-B168-76C3-B8530C082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1D563B-A93E-E8D6-49E7-34AEA00E0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6EE00D-9005-6974-7714-0AA2FBF4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BBA1-D63F-473D-804B-6506B6C6D37F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7DF0B-0DEA-D991-7509-E999E014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FEB125-1055-2A89-9F0C-44E52A73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58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035C7B-C306-4CEC-3B71-97D43F9C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04B253-24FC-BFC9-6BD9-36C626E52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871199-9225-6097-FFD0-54C32109A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DFA38B-59B9-9336-CBE7-B5F587A70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0AB019E-7208-8F8F-1F12-23FD07F69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0613BE6-3352-1046-53E4-F417303D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56CB7-C9F2-4039-B61D-7255A5437C4E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2B41862-C707-8AE2-19F3-95814F43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2AD494-E488-C42F-4DF6-D7A3179B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01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D761D6D-68EE-79FC-2D99-3E130CBE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55D34-6BBF-43CB-9103-199F94C41776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2CBFFA-7257-70F7-359B-9E216A26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D702D5-B7DB-1B35-39DA-7FAF83B8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28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94AD4-4397-3535-0F06-30B856B3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53DF1-F7C7-49D4-BC5A-4FF6C5AFEEAB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68AA73-D0CA-208D-7B52-A53EB0B4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EA6999-4C3A-5B8A-8F1A-DEF70445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78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FF409-57C6-396A-747C-535039F0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725C5C-56B9-3E30-1EA1-A85680B6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AB0368-5A3A-E45D-118D-AB69D761E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7C6A42-677A-02A3-FE1F-98593304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ABF7D-2347-4FE0-9200-B62D284906B3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5E0AD0-8D85-B67E-8D79-FD7C4295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1FA9480-20D1-BCE2-A3B2-9FEDE80B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84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AEC3FF-0DD4-DAEC-0419-3C3FB967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31A1A57-E08F-E58D-F8B1-86EB650C2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2F093A-EEBA-C158-A039-29AB5096A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3D9762-74C9-55C2-7F92-A7B9316B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977F4-0A41-49E4-9959-93B4B3DD1DA3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20874B-3C9C-3064-FF62-BFEAA9ED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D395F7-B45B-1DD5-F92B-4CB2AD66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06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9ABEF-BA4C-609E-E437-CB50747B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608081-CBE8-331B-41FA-8B691289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81BDE4-266C-5DF7-87FA-C87C00E5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F2509-FEA0-47DA-A211-5B97B419D580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E6DC46-E306-297A-3582-E6323D1F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31FBA7-3329-DB9B-DAEF-7A9C960E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31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6ED68D-25C5-B980-A69F-53F455AD0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F4FBFB-987A-8D94-D003-225A6B68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8CE7C2-0131-47A5-866A-5D456D74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F9E1-8169-4D8F-93DA-1391FCBDAC3F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93C8F6-4840-0315-A68D-031A4E9C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339154-C024-70F4-28F5-C59E853C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E7E7-1A6A-444B-8BC4-05258C288F0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r" defTabSz="914400" rtl="0" eaLnBrk="1" latinLnBrk="0" hangingPunct="1">
              <a:defRPr lang="zh-CN" altLang="en-US" sz="20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Segoe UI" panose="020B0502040204020203" pitchFamily="34" charset="0"/>
              </a:defRPr>
            </a:lvl1pPr>
          </a:lstStyle>
          <a:p>
            <a:fld id="{726FD8BB-E3C9-46DF-9B94-1AF8F33E9E37}" type="slidenum">
              <a:rPr lang="en-US" altLang="zh-TW" smtClean="0"/>
              <a:pPr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2990314628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95B3C8A-5A11-D2EF-C6F1-B072D2B5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D50545-9FF4-49E7-32B5-E6617F65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8BA9B3-E10D-C6EE-DA51-96820D4B5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42702-F307-4F56-A702-D0E8B84E3864}" type="datetime1">
              <a:rPr lang="zh-CN" altLang="en-US" smtClean="0"/>
              <a:t>2026/9/29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FB3720-30B7-F5E1-FC07-B4AF4E6A2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3475AE-8D69-DDBC-4232-D97E754D8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4F607-EBAE-4F4B-BF62-778A00D928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42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/>
          <p:cNvSpPr/>
          <p:nvPr/>
        </p:nvSpPr>
        <p:spPr>
          <a:xfrm>
            <a:off x="1861500" y="-805500"/>
            <a:ext cx="8469000" cy="846900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2074950" y="-592050"/>
            <a:ext cx="8042100" cy="80421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105172" y="4347299"/>
            <a:ext cx="1981654" cy="605575"/>
            <a:chOff x="5257132" y="4318938"/>
            <a:chExt cx="1800000" cy="550062"/>
          </a:xfrm>
        </p:grpSpPr>
        <p:sp>
          <p:nvSpPr>
            <p:cNvPr id="52" name="文本框 51"/>
            <p:cNvSpPr txBox="1"/>
            <p:nvPr/>
          </p:nvSpPr>
          <p:spPr>
            <a:xfrm>
              <a:off x="5478294" y="4350589"/>
              <a:ext cx="1324924" cy="475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solidFill>
                    <a:srgbClr val="002060"/>
                  </a:solidFill>
                  <a:latin typeface="迷你简汉真广标" panose="02010609000101010101" pitchFamily="49" charset="-122"/>
                  <a:ea typeface="迷你简汉真广标" panose="02010609000101010101" pitchFamily="49" charset="-122"/>
                </a:rPr>
                <a:t>蕭育仁教授 </a:t>
              </a:r>
              <a:r>
                <a:rPr lang="en-US" altLang="zh-TW" sz="1400" dirty="0">
                  <a:solidFill>
                    <a:srgbClr val="002060"/>
                  </a:solidFill>
                  <a:latin typeface="迷你简汉真广标" panose="02010609000101010101" pitchFamily="49" charset="-122"/>
                  <a:ea typeface="迷你简汉真广标" panose="02010609000101010101" pitchFamily="49" charset="-122"/>
                </a:rPr>
                <a:t>2026/09/29</a:t>
              </a:r>
              <a:endParaRPr lang="en-US" altLang="zh-CN" sz="1400" dirty="0">
                <a:solidFill>
                  <a:srgbClr val="002060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5257132" y="4318938"/>
              <a:ext cx="1800000" cy="550062"/>
              <a:chOff x="5257132" y="4318938"/>
              <a:chExt cx="1800000" cy="550062"/>
            </a:xfrm>
          </p:grpSpPr>
          <p:sp>
            <p:nvSpPr>
              <p:cNvPr id="50" name="圆角矩形 49"/>
              <p:cNvSpPr/>
              <p:nvPr/>
            </p:nvSpPr>
            <p:spPr>
              <a:xfrm>
                <a:off x="5257132" y="4318938"/>
                <a:ext cx="1800000" cy="540000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870756" y="4851000"/>
                <a:ext cx="540000" cy="180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820381" y="2075156"/>
            <a:ext cx="319500" cy="792801"/>
            <a:chOff x="1820381" y="2075156"/>
            <a:chExt cx="319500" cy="792801"/>
          </a:xfrm>
        </p:grpSpPr>
        <p:sp>
          <p:nvSpPr>
            <p:cNvPr id="57" name="椭圆 56"/>
            <p:cNvSpPr/>
            <p:nvPr/>
          </p:nvSpPr>
          <p:spPr>
            <a:xfrm>
              <a:off x="1975944" y="2075156"/>
              <a:ext cx="163937" cy="1639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820381" y="2331550"/>
              <a:ext cx="295688" cy="29568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820381" y="2704020"/>
              <a:ext cx="163937" cy="1639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椭圆 27"/>
          <p:cNvSpPr/>
          <p:nvPr/>
        </p:nvSpPr>
        <p:spPr>
          <a:xfrm>
            <a:off x="9900088" y="5049000"/>
            <a:ext cx="163937" cy="1639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9687375" y="5324444"/>
            <a:ext cx="295688" cy="2956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9539737" y="5696914"/>
            <a:ext cx="163937" cy="1639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3002844" y="2947021"/>
            <a:ext cx="6186309" cy="963958"/>
            <a:chOff x="3819319" y="3096464"/>
            <a:chExt cx="4490006" cy="699642"/>
          </a:xfrm>
        </p:grpSpPr>
        <p:sp>
          <p:nvSpPr>
            <p:cNvPr id="5" name="矩形 4"/>
            <p:cNvSpPr/>
            <p:nvPr/>
          </p:nvSpPr>
          <p:spPr>
            <a:xfrm>
              <a:off x="3819319" y="3096464"/>
              <a:ext cx="4490006" cy="469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3600" b="1" dirty="0">
                  <a:solidFill>
                    <a:srgbClr val="002060"/>
                  </a:solidFill>
                  <a:latin typeface="迷你简汉真广标" panose="02010609000101010101" pitchFamily="49" charset="-122"/>
                  <a:ea typeface="迷你简汉真广标" panose="02010609000101010101" pitchFamily="49" charset="-122"/>
                </a:rPr>
                <a:t>微型氣體感測器產品設計開發</a:t>
              </a:r>
              <a:endParaRPr lang="en-US" altLang="zh-TW" sz="3600" b="1" dirty="0">
                <a:solidFill>
                  <a:srgbClr val="002060"/>
                </a:solidFill>
                <a:latin typeface="迷你简汉真广标" panose="02010609000101010101" pitchFamily="49" charset="-122"/>
                <a:ea typeface="迷你简汉真广标" panose="02010609000101010101" pitchFamily="49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010400" y="3528044"/>
              <a:ext cx="134078" cy="2680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pc="300" dirty="0">
                <a:solidFill>
                  <a:srgbClr val="002060"/>
                </a:solidFill>
                <a:latin typeface="造字工房悦黑体验版纤细体" pitchFamily="50" charset="-122"/>
                <a:ea typeface="造字工房悦黑体验版纤细体" pitchFamily="5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780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32F65E-2254-2749-121E-FA845EC7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1</a:t>
            </a:fld>
            <a:endParaRPr lang="zh-CN" altLang="en-US"/>
          </a:p>
        </p:txBody>
      </p:sp>
      <p:pic>
        <p:nvPicPr>
          <p:cNvPr id="53" name="图片 3">
            <a:extLst>
              <a:ext uri="{FF2B5EF4-FFF2-40B4-BE49-F238E27FC236}">
                <a16:creationId xmlns:a16="http://schemas.microsoft.com/office/drawing/2014/main" id="{473FADD3-4574-27AB-221A-A0C99F01F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272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4" name="群組 53">
            <a:extLst>
              <a:ext uri="{FF2B5EF4-FFF2-40B4-BE49-F238E27FC236}">
                <a16:creationId xmlns:a16="http://schemas.microsoft.com/office/drawing/2014/main" id="{138ECCEC-7662-D28D-BF96-EB8268B10580}"/>
              </a:ext>
            </a:extLst>
          </p:cNvPr>
          <p:cNvGrpSpPr/>
          <p:nvPr/>
        </p:nvGrpSpPr>
        <p:grpSpPr>
          <a:xfrm>
            <a:off x="2218866" y="718304"/>
            <a:ext cx="4277000" cy="647700"/>
            <a:chOff x="4410075" y="1504950"/>
            <a:chExt cx="4277000" cy="647700"/>
          </a:xfrm>
        </p:grpSpPr>
        <p:sp>
          <p:nvSpPr>
            <p:cNvPr id="55" name="文本框 4">
              <a:extLst>
                <a:ext uri="{FF2B5EF4-FFF2-40B4-BE49-F238E27FC236}">
                  <a16:creationId xmlns:a16="http://schemas.microsoft.com/office/drawing/2014/main" id="{28752B15-C0ED-8099-4064-FF238BAB5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1504950"/>
              <a:ext cx="696913" cy="647700"/>
            </a:xfrm>
            <a:prstGeom prst="rect">
              <a:avLst/>
            </a:prstGeom>
            <a:solidFill>
              <a:srgbClr val="2BA8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文本框 9">
              <a:extLst>
                <a:ext uri="{FF2B5EF4-FFF2-40B4-BE49-F238E27FC236}">
                  <a16:creationId xmlns:a16="http://schemas.microsoft.com/office/drawing/2014/main" id="{E4EF50A1-1751-212C-0DE9-B6772781C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1598613"/>
              <a:ext cx="32784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TW" altLang="en-US" sz="2400" b="1" dirty="0">
                  <a:solidFill>
                    <a:srgbClr val="2BA85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智慧型氣體感測器應用</a:t>
              </a:r>
            </a:p>
          </p:txBody>
        </p:sp>
        <p:cxnSp>
          <p:nvCxnSpPr>
            <p:cNvPr id="57" name="直接连接符 14">
              <a:extLst>
                <a:ext uri="{FF2B5EF4-FFF2-40B4-BE49-F238E27FC236}">
                  <a16:creationId xmlns:a16="http://schemas.microsoft.com/office/drawing/2014/main" id="{9889B3D0-801E-1E5F-4BE7-23BAFD8FD9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97488" y="1600200"/>
              <a:ext cx="0" cy="457200"/>
            </a:xfrm>
            <a:prstGeom prst="line">
              <a:avLst/>
            </a:prstGeom>
            <a:noFill/>
            <a:ln w="6350">
              <a:solidFill>
                <a:srgbClr val="2BA85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直接连接符 23">
              <a:extLst>
                <a:ext uri="{FF2B5EF4-FFF2-40B4-BE49-F238E27FC236}">
                  <a16:creationId xmlns:a16="http://schemas.microsoft.com/office/drawing/2014/main" id="{16DDEDF5-244C-AED3-9B78-547E345E64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40338" y="1600200"/>
              <a:ext cx="0" cy="457200"/>
            </a:xfrm>
            <a:prstGeom prst="line">
              <a:avLst/>
            </a:prstGeom>
            <a:noFill/>
            <a:ln w="28575">
              <a:solidFill>
                <a:srgbClr val="2BA85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C5C93134-9DF1-15A4-EF62-BCDF969682B3}"/>
              </a:ext>
            </a:extLst>
          </p:cNvPr>
          <p:cNvGrpSpPr/>
          <p:nvPr/>
        </p:nvGrpSpPr>
        <p:grpSpPr>
          <a:xfrm>
            <a:off x="2218866" y="2345402"/>
            <a:ext cx="5205139" cy="646331"/>
            <a:chOff x="4410075" y="2613025"/>
            <a:chExt cx="5205139" cy="646331"/>
          </a:xfrm>
        </p:grpSpPr>
        <p:sp>
          <p:nvSpPr>
            <p:cNvPr id="60" name="文本框 6">
              <a:extLst>
                <a:ext uri="{FF2B5EF4-FFF2-40B4-BE49-F238E27FC236}">
                  <a16:creationId xmlns:a16="http://schemas.microsoft.com/office/drawing/2014/main" id="{BBA64795-2C0B-1E96-9453-10375DBE6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2613025"/>
              <a:ext cx="697627" cy="646331"/>
            </a:xfrm>
            <a:prstGeom prst="rect">
              <a:avLst/>
            </a:prstGeom>
            <a:solidFill>
              <a:srgbClr val="5130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文本框 10">
              <a:extLst>
                <a:ext uri="{FF2B5EF4-FFF2-40B4-BE49-F238E27FC236}">
                  <a16:creationId xmlns:a16="http://schemas.microsoft.com/office/drawing/2014/main" id="{A62D5F42-E909-A7A7-AE96-BF0C7E259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2706688"/>
              <a:ext cx="42066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TW" altLang="en-US" sz="2400" b="1" dirty="0">
                  <a:solidFill>
                    <a:srgbClr val="51308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空氣品質與健康危害之關聯性</a:t>
              </a:r>
            </a:p>
          </p:txBody>
        </p:sp>
        <p:cxnSp>
          <p:nvCxnSpPr>
            <p:cNvPr id="62" name="直接连接符 15">
              <a:extLst>
                <a:ext uri="{FF2B5EF4-FFF2-40B4-BE49-F238E27FC236}">
                  <a16:creationId xmlns:a16="http://schemas.microsoft.com/office/drawing/2014/main" id="{21AFD9E0-2B45-2A70-0E27-D30F54773E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6538" y="2705100"/>
              <a:ext cx="0" cy="457200"/>
            </a:xfrm>
            <a:prstGeom prst="line">
              <a:avLst/>
            </a:prstGeom>
            <a:noFill/>
            <a:ln w="6350">
              <a:solidFill>
                <a:srgbClr val="5130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直接连接符 24">
              <a:extLst>
                <a:ext uri="{FF2B5EF4-FFF2-40B4-BE49-F238E27FC236}">
                  <a16:creationId xmlns:a16="http://schemas.microsoft.com/office/drawing/2014/main" id="{B218AC73-0FA8-1DDB-4D28-0021A43503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59388" y="2705100"/>
              <a:ext cx="0" cy="457200"/>
            </a:xfrm>
            <a:prstGeom prst="line">
              <a:avLst/>
            </a:prstGeom>
            <a:noFill/>
            <a:ln w="28575">
              <a:solidFill>
                <a:srgbClr val="5130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2607F688-0C98-AF36-B1F2-4A491DEE64A1}"/>
              </a:ext>
            </a:extLst>
          </p:cNvPr>
          <p:cNvGrpSpPr/>
          <p:nvPr/>
        </p:nvGrpSpPr>
        <p:grpSpPr>
          <a:xfrm>
            <a:off x="2218866" y="3968487"/>
            <a:ext cx="3348861" cy="646331"/>
            <a:chOff x="4410075" y="3721100"/>
            <a:chExt cx="3348861" cy="646331"/>
          </a:xfrm>
        </p:grpSpPr>
        <p:sp>
          <p:nvSpPr>
            <p:cNvPr id="65" name="文本框 7">
              <a:extLst>
                <a:ext uri="{FF2B5EF4-FFF2-40B4-BE49-F238E27FC236}">
                  <a16:creationId xmlns:a16="http://schemas.microsoft.com/office/drawing/2014/main" id="{E13362B4-5580-B75F-3BBD-9F5B02298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3721100"/>
              <a:ext cx="697627" cy="646331"/>
            </a:xfrm>
            <a:prstGeom prst="rect">
              <a:avLst/>
            </a:prstGeom>
            <a:solidFill>
              <a:srgbClr val="DE44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11">
              <a:extLst>
                <a:ext uri="{FF2B5EF4-FFF2-40B4-BE49-F238E27FC236}">
                  <a16:creationId xmlns:a16="http://schemas.microsoft.com/office/drawing/2014/main" id="{C90B95DC-E659-C0DE-7557-F2DEAB706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3813175"/>
              <a:ext cx="235032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TW" altLang="en-US" sz="2400" b="1" dirty="0">
                  <a:solidFill>
                    <a:srgbClr val="DE44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微型感測器歷史</a:t>
              </a:r>
            </a:p>
          </p:txBody>
        </p:sp>
        <p:cxnSp>
          <p:nvCxnSpPr>
            <p:cNvPr id="67" name="直接连接符 16">
              <a:extLst>
                <a:ext uri="{FF2B5EF4-FFF2-40B4-BE49-F238E27FC236}">
                  <a16:creationId xmlns:a16="http://schemas.microsoft.com/office/drawing/2014/main" id="{3216DD49-EB0E-D0FC-EA1D-294D994EB7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6538" y="3817938"/>
              <a:ext cx="0" cy="457200"/>
            </a:xfrm>
            <a:prstGeom prst="line">
              <a:avLst/>
            </a:prstGeom>
            <a:noFill/>
            <a:ln w="6350">
              <a:solidFill>
                <a:srgbClr val="DE44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直接连接符 25">
              <a:extLst>
                <a:ext uri="{FF2B5EF4-FFF2-40B4-BE49-F238E27FC236}">
                  <a16:creationId xmlns:a16="http://schemas.microsoft.com/office/drawing/2014/main" id="{A0A4F7CC-4A9B-07A6-D3BB-C25310DB0C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59388" y="3817938"/>
              <a:ext cx="0" cy="457200"/>
            </a:xfrm>
            <a:prstGeom prst="line">
              <a:avLst/>
            </a:prstGeom>
            <a:noFill/>
            <a:ln w="28575">
              <a:solidFill>
                <a:srgbClr val="DE44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BEF30329-A2FD-DEF4-2D77-7C424021CF06}"/>
              </a:ext>
            </a:extLst>
          </p:cNvPr>
          <p:cNvGrpSpPr/>
          <p:nvPr/>
        </p:nvGrpSpPr>
        <p:grpSpPr>
          <a:xfrm>
            <a:off x="2206763" y="5493365"/>
            <a:ext cx="5205139" cy="646331"/>
            <a:chOff x="4410075" y="4829175"/>
            <a:chExt cx="5205139" cy="646331"/>
          </a:xfrm>
        </p:grpSpPr>
        <p:sp>
          <p:nvSpPr>
            <p:cNvPr id="3" name="文本框 8">
              <a:extLst>
                <a:ext uri="{FF2B5EF4-FFF2-40B4-BE49-F238E27FC236}">
                  <a16:creationId xmlns:a16="http://schemas.microsoft.com/office/drawing/2014/main" id="{475AEEE7-5EDF-BE61-9D7E-D377985A7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075" y="4829175"/>
              <a:ext cx="697627" cy="646331"/>
            </a:xfrm>
            <a:prstGeom prst="rect">
              <a:avLst/>
            </a:prstGeom>
            <a:solidFill>
              <a:srgbClr val="F4BB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zh-CN" alt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文本框 12">
              <a:extLst>
                <a:ext uri="{FF2B5EF4-FFF2-40B4-BE49-F238E27FC236}">
                  <a16:creationId xmlns:a16="http://schemas.microsoft.com/office/drawing/2014/main" id="{8A249188-D9B7-2547-3363-195E0EE47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8613" y="4921250"/>
              <a:ext cx="42066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TW" altLang="en-US" sz="2400" b="1" dirty="0">
                  <a:solidFill>
                    <a:srgbClr val="F4BB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現有產業技術整合之市場商機</a:t>
              </a:r>
              <a:endParaRPr lang="en-US" altLang="zh-TW" sz="2400" b="1" dirty="0">
                <a:solidFill>
                  <a:srgbClr val="F4BB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直接连接符 17">
              <a:extLst>
                <a:ext uri="{FF2B5EF4-FFF2-40B4-BE49-F238E27FC236}">
                  <a16:creationId xmlns:a16="http://schemas.microsoft.com/office/drawing/2014/main" id="{AACB18C0-55C6-66FE-4212-C92A7A5B20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6538" y="4895850"/>
              <a:ext cx="0" cy="457200"/>
            </a:xfrm>
            <a:prstGeom prst="line">
              <a:avLst/>
            </a:prstGeom>
            <a:noFill/>
            <a:ln w="6350">
              <a:solidFill>
                <a:srgbClr val="F4BB4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直接连接符 26">
              <a:extLst>
                <a:ext uri="{FF2B5EF4-FFF2-40B4-BE49-F238E27FC236}">
                  <a16:creationId xmlns:a16="http://schemas.microsoft.com/office/drawing/2014/main" id="{826B6627-A04D-014C-7868-CB980089F0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59388" y="4895850"/>
              <a:ext cx="0" cy="457200"/>
            </a:xfrm>
            <a:prstGeom prst="line">
              <a:avLst/>
            </a:prstGeom>
            <a:noFill/>
            <a:ln w="28575">
              <a:solidFill>
                <a:srgbClr val="F4BB4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1377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3" y="190222"/>
            <a:ext cx="7736107" cy="69275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9016">
            <a:off x="521061" y="1548367"/>
            <a:ext cx="3966765" cy="35193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85930" y="2377002"/>
            <a:ext cx="476773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>
                <a:latin typeface="Impact" panose="020B0806030902050204" pitchFamily="34" charset="0"/>
              </a:rPr>
              <a:t>PART0</a:t>
            </a:r>
            <a:r>
              <a:rPr lang="en-US" altLang="zh-TW" sz="11500" dirty="0">
                <a:latin typeface="Impact" panose="020B0806030902050204" pitchFamily="34" charset="0"/>
              </a:rPr>
              <a:t>1</a:t>
            </a:r>
            <a:endParaRPr lang="zh-CN" altLang="en-US" sz="11500" dirty="0">
              <a:latin typeface="Impact" panose="020B080603090205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32F65E-2254-2749-121E-FA845EC7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5B005715-E492-9D3B-7556-B61A306FC18E}"/>
              </a:ext>
            </a:extLst>
          </p:cNvPr>
          <p:cNvSpPr txBox="1"/>
          <p:nvPr/>
        </p:nvSpPr>
        <p:spPr>
          <a:xfrm>
            <a:off x="1118244" y="4032824"/>
            <a:ext cx="53031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方正兰亭粗黑简体" panose="02000000000000000000" pitchFamily="2" charset="-122"/>
                <a:ea typeface="方正兰亭粗黑简体" panose="02000000000000000000"/>
              </a:rPr>
              <a:t>智慧型氣體感測器</a:t>
            </a:r>
            <a:endParaRPr lang="en-US" altLang="zh-TW" sz="4400" dirty="0">
              <a:latin typeface="方正兰亭粗黑简体" panose="02000000000000000000" pitchFamily="2" charset="-122"/>
              <a:ea typeface="方正兰亭粗黑简体" panose="02000000000000000000"/>
            </a:endParaRPr>
          </a:p>
          <a:p>
            <a:pPr algn="ctr"/>
            <a:r>
              <a:rPr lang="zh-TW" altLang="en-US" sz="4400" dirty="0">
                <a:latin typeface="方正兰亭粗黑简体" panose="02000000000000000000" pitchFamily="2" charset="-122"/>
                <a:ea typeface="方正兰亭粗黑简体" panose="02000000000000000000"/>
              </a:rPr>
              <a:t>應用</a:t>
            </a:r>
            <a:endParaRPr lang="zh-CN" altLang="en-US" sz="3200" dirty="0">
              <a:latin typeface="方正兰亭粗黑简体" panose="02000000000000000000" pitchFamily="2" charset="-122"/>
              <a:ea typeface="方正兰亭粗黑简体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900239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9FA61F-70E2-DCDF-C39E-3841E0C9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905988"/>
          </a:xfrm>
        </p:spPr>
        <p:txBody>
          <a:bodyPr>
            <a:normAutofit/>
          </a:bodyPr>
          <a:lstStyle/>
          <a:p>
            <a:r>
              <a:rPr lang="zh-TW" altLang="en-US" dirty="0"/>
              <a:t>現今的感測器若不跟晶片、 </a:t>
            </a:r>
            <a:r>
              <a:rPr lang="en-US" altLang="zh-TW" dirty="0"/>
              <a:t>AI</a:t>
            </a:r>
            <a:r>
              <a:rPr lang="zh-TW" altLang="en-US" dirty="0"/>
              <a:t> 整合，競爭力會相較薄弱。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攜帶型感測器與定點固定式感測器本身並不衝突，若以取代原有的產品為目的會很困難，選擇與現有固定式環境感測器做互補則具有市場潛力。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3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智慧型氣體感測器應用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77EE36A-35A5-E55D-0C13-D9EABDFA0ED8}"/>
              </a:ext>
            </a:extLst>
          </p:cNvPr>
          <p:cNvSpPr/>
          <p:nvPr/>
        </p:nvSpPr>
        <p:spPr>
          <a:xfrm>
            <a:off x="3051313" y="2796978"/>
            <a:ext cx="2335696" cy="626165"/>
          </a:xfrm>
          <a:prstGeom prst="round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rgbClr val="0C0C0C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一般型氣體感測器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99590E0-FD3D-D284-3B3F-72E5CAA637B7}"/>
              </a:ext>
            </a:extLst>
          </p:cNvPr>
          <p:cNvSpPr/>
          <p:nvPr/>
        </p:nvSpPr>
        <p:spPr>
          <a:xfrm>
            <a:off x="6904383" y="2796978"/>
            <a:ext cx="2955234" cy="626165"/>
          </a:xfrm>
          <a:prstGeom prst="round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rgbClr val="0C0C0C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智慧型氣體感測器晶片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D1F2DF2-C6A9-1213-74C1-D2F2983BA671}"/>
              </a:ext>
            </a:extLst>
          </p:cNvPr>
          <p:cNvSpPr txBox="1"/>
          <p:nvPr/>
        </p:nvSpPr>
        <p:spPr>
          <a:xfrm>
            <a:off x="3434331" y="34896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空間環境偵測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0B0A392-4944-7251-27BC-5E95C51F8EFD}"/>
              </a:ext>
            </a:extLst>
          </p:cNvPr>
          <p:cNvSpPr txBox="1"/>
          <p:nvPr/>
        </p:nvSpPr>
        <p:spPr>
          <a:xfrm>
            <a:off x="7020088" y="348967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以</a:t>
            </a:r>
            <a:r>
              <a:rPr lang="zh-TW" altLang="en-US" dirty="0">
                <a:solidFill>
                  <a:srgbClr val="FF000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「人」為中心</a:t>
            </a: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環境偵測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E5F45275-19A8-07CF-E741-BBAEF9219CD2}"/>
              </a:ext>
            </a:extLst>
          </p:cNvPr>
          <p:cNvSpPr/>
          <p:nvPr/>
        </p:nvSpPr>
        <p:spPr>
          <a:xfrm>
            <a:off x="5703404" y="3110059"/>
            <a:ext cx="884583" cy="313083"/>
          </a:xfrm>
          <a:prstGeom prst="rightArrow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0388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4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智慧型氣體感測器應用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77EE36A-35A5-E55D-0C13-D9EABDFA0ED8}"/>
              </a:ext>
            </a:extLst>
          </p:cNvPr>
          <p:cNvSpPr/>
          <p:nvPr/>
        </p:nvSpPr>
        <p:spPr>
          <a:xfrm>
            <a:off x="2047459" y="1926415"/>
            <a:ext cx="2554357" cy="1307883"/>
          </a:xfrm>
          <a:prstGeom prst="roundRect">
            <a:avLst/>
          </a:prstGeom>
          <a:solidFill>
            <a:srgbClr val="92D05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rgbClr val="0C0C0C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一氧化碳中毒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E945043-BB5A-998D-35BB-028EBFB0BB98}"/>
              </a:ext>
            </a:extLst>
          </p:cNvPr>
          <p:cNvSpPr/>
          <p:nvPr/>
        </p:nvSpPr>
        <p:spPr>
          <a:xfrm>
            <a:off x="6990520" y="4364816"/>
            <a:ext cx="2554357" cy="1307883"/>
          </a:xfrm>
          <a:prstGeom prst="roundRect">
            <a:avLst/>
          </a:prstGeom>
          <a:solidFill>
            <a:srgbClr val="E9ABE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rgbClr val="0C0C0C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環境揮發性</a:t>
            </a:r>
            <a:endParaRPr lang="en-US" altLang="zh-TW" sz="2800" b="1" dirty="0">
              <a:solidFill>
                <a:srgbClr val="0C0C0C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sz="2800" b="1" dirty="0">
                <a:solidFill>
                  <a:srgbClr val="0C0C0C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有機物監測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674FC8F-9E1D-33A9-4E3A-A97339CEA65F}"/>
              </a:ext>
            </a:extLst>
          </p:cNvPr>
          <p:cNvSpPr/>
          <p:nvPr/>
        </p:nvSpPr>
        <p:spPr>
          <a:xfrm>
            <a:off x="6990521" y="1926415"/>
            <a:ext cx="2554357" cy="130788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rgbClr val="0C0C0C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二氧化碳監控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80799ED-2EC3-5AB9-B570-23F9AF2A1A53}"/>
              </a:ext>
            </a:extLst>
          </p:cNvPr>
          <p:cNvSpPr/>
          <p:nvPr/>
        </p:nvSpPr>
        <p:spPr>
          <a:xfrm>
            <a:off x="2047458" y="4364816"/>
            <a:ext cx="2554357" cy="13078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rgbClr val="0C0C0C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駕駛酒精濃度測驗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26D2BAA-D061-39D9-D2A8-1E6F64F300F6}"/>
              </a:ext>
            </a:extLst>
          </p:cNvPr>
          <p:cNvSpPr txBox="1"/>
          <p:nvPr/>
        </p:nvSpPr>
        <p:spPr>
          <a:xfrm>
            <a:off x="7021203" y="568009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（甲醛、乙烯、丙烯）</a:t>
            </a:r>
          </a:p>
        </p:txBody>
      </p:sp>
    </p:spTree>
    <p:extLst>
      <p:ext uri="{BB962C8B-B14F-4D97-AF65-F5344CB8AC3E}">
        <p14:creationId xmlns:p14="http://schemas.microsoft.com/office/powerpoint/2010/main" val="28650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3" y="190222"/>
            <a:ext cx="7736107" cy="69275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9016">
            <a:off x="521061" y="1548367"/>
            <a:ext cx="3966765" cy="35193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85930" y="2377002"/>
            <a:ext cx="476773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 dirty="0">
                <a:latin typeface="Impact" panose="020B0806030902050204" pitchFamily="34" charset="0"/>
              </a:rPr>
              <a:t>PART02</a:t>
            </a:r>
            <a:endParaRPr lang="zh-CN" altLang="en-US" sz="11500" dirty="0">
              <a:latin typeface="Impact" panose="020B080603090205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18244" y="4029511"/>
            <a:ext cx="53031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方正兰亭粗黑简体" panose="02000000000000000000" pitchFamily="2" charset="-122"/>
                <a:ea typeface="方正兰亭粗黑简体" panose="02000000000000000000"/>
              </a:rPr>
              <a:t>空氣品質與健康危害之關聯性</a:t>
            </a:r>
            <a:endParaRPr lang="zh-CN" altLang="en-US" sz="3200" dirty="0">
              <a:latin typeface="方正兰亭粗黑简体" panose="02000000000000000000" pitchFamily="2" charset="-122"/>
              <a:ea typeface="方正兰亭粗黑简体" panose="0200000000000000000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32F65E-2254-2749-121E-FA845EC7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17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6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空氣品質與健康危害之關聯性</a:t>
            </a: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3702313E-8686-50CA-841C-993084CAD432}"/>
              </a:ext>
            </a:extLst>
          </p:cNvPr>
          <p:cNvSpPr/>
          <p:nvPr/>
        </p:nvSpPr>
        <p:spPr>
          <a:xfrm>
            <a:off x="3331264" y="1251800"/>
            <a:ext cx="5529471" cy="4866685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癌症</a:t>
            </a:r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心臟病</a:t>
            </a:r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慢性阻塞性肺病</a:t>
            </a:r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空氣品質</a:t>
            </a:r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相關疾病</a:t>
            </a:r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感染</a:t>
            </a:r>
            <a:r>
              <a:rPr lang="en-US" altLang="zh-TW" sz="1400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/</a:t>
            </a:r>
            <a:r>
              <a:rPr lang="zh-TW" altLang="en-US" sz="1400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過敏性疾病</a:t>
            </a:r>
            <a:endParaRPr lang="en-US" altLang="zh-TW" sz="1400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病態建築症候群</a:t>
            </a:r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刺激性反應</a:t>
            </a:r>
            <a:endParaRPr lang="en-US" altLang="zh-TW" sz="1400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各種身體不適症狀</a:t>
            </a:r>
            <a:endParaRPr lang="en-US" altLang="zh-TW" sz="1400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en-US" altLang="zh-TW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ctr"/>
            <a:endParaRPr lang="zh-TW" altLang="en-US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529312E-253F-5434-244B-3211950F770E}"/>
              </a:ext>
            </a:extLst>
          </p:cNvPr>
          <p:cNvCxnSpPr>
            <a:cxnSpLocks/>
          </p:cNvCxnSpPr>
          <p:nvPr/>
        </p:nvCxnSpPr>
        <p:spPr>
          <a:xfrm>
            <a:off x="4961283" y="3289322"/>
            <a:ext cx="2276061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2115086-E603-EFBA-2A64-FCF7DA2F9A41}"/>
              </a:ext>
            </a:extLst>
          </p:cNvPr>
          <p:cNvCxnSpPr>
            <a:cxnSpLocks/>
          </p:cNvCxnSpPr>
          <p:nvPr/>
        </p:nvCxnSpPr>
        <p:spPr>
          <a:xfrm>
            <a:off x="4156213" y="4674174"/>
            <a:ext cx="3886200" cy="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574C083-20FD-517D-DFB0-EEBE0A9C5DA4}"/>
              </a:ext>
            </a:extLst>
          </p:cNvPr>
          <p:cNvSpPr txBox="1"/>
          <p:nvPr/>
        </p:nvSpPr>
        <p:spPr>
          <a:xfrm flipH="1">
            <a:off x="4033629" y="6215933"/>
            <a:ext cx="4124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室內空氣品質與健康危害</a:t>
            </a:r>
            <a:endParaRPr lang="en-US" altLang="zh-TW" sz="2400" b="1" dirty="0">
              <a:solidFill>
                <a:schemeClr val="tx1"/>
              </a:solidFill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endParaRPr lang="zh-TW" altLang="en-US" sz="2400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3CB0327-0BDE-B428-FA50-ED165739E4AD}"/>
              </a:ext>
            </a:extLst>
          </p:cNvPr>
          <p:cNvCxnSpPr>
            <a:cxnSpLocks/>
          </p:cNvCxnSpPr>
          <p:nvPr/>
        </p:nvCxnSpPr>
        <p:spPr>
          <a:xfrm flipV="1">
            <a:off x="3001618" y="1540565"/>
            <a:ext cx="0" cy="45779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E6695C8-2307-B446-F6A6-5B998EF41B7D}"/>
              </a:ext>
            </a:extLst>
          </p:cNvPr>
          <p:cNvSpPr txBox="1"/>
          <p:nvPr/>
        </p:nvSpPr>
        <p:spPr>
          <a:xfrm flipH="1">
            <a:off x="2524540" y="1171233"/>
            <a:ext cx="954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嚴重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9759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7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空氣品質與健康危害之關聯性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63B5D58A-0505-BC79-66E3-2E0EF20070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940744"/>
                  </p:ext>
                </p:extLst>
              </p:nvPr>
            </p:nvGraphicFramePr>
            <p:xfrm>
              <a:off x="983180" y="1115801"/>
              <a:ext cx="10419523" cy="56553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5087">
                      <a:extLst>
                        <a:ext uri="{9D8B030D-6E8A-4147-A177-3AD203B41FA5}">
                          <a16:colId xmlns:a16="http://schemas.microsoft.com/office/drawing/2014/main" val="1990166527"/>
                        </a:ext>
                      </a:extLst>
                    </a:gridCol>
                    <a:gridCol w="1898374">
                      <a:extLst>
                        <a:ext uri="{9D8B030D-6E8A-4147-A177-3AD203B41FA5}">
                          <a16:colId xmlns:a16="http://schemas.microsoft.com/office/drawing/2014/main" val="1816298922"/>
                        </a:ext>
                      </a:extLst>
                    </a:gridCol>
                    <a:gridCol w="2047461">
                      <a:extLst>
                        <a:ext uri="{9D8B030D-6E8A-4147-A177-3AD203B41FA5}">
                          <a16:colId xmlns:a16="http://schemas.microsoft.com/office/drawing/2014/main" val="4139950495"/>
                        </a:ext>
                      </a:extLst>
                    </a:gridCol>
                    <a:gridCol w="1954696">
                      <a:extLst>
                        <a:ext uri="{9D8B030D-6E8A-4147-A177-3AD203B41FA5}">
                          <a16:colId xmlns:a16="http://schemas.microsoft.com/office/drawing/2014/main" val="354576991"/>
                        </a:ext>
                      </a:extLst>
                    </a:gridCol>
                    <a:gridCol w="2083905">
                      <a:extLst>
                        <a:ext uri="{9D8B030D-6E8A-4147-A177-3AD203B41FA5}">
                          <a16:colId xmlns:a16="http://schemas.microsoft.com/office/drawing/2014/main" val="112115863"/>
                        </a:ext>
                      </a:extLst>
                    </a:gridCol>
                  </a:tblGrid>
                  <a:tr h="337766">
                    <a:tc>
                      <a:txBody>
                        <a:bodyPr/>
                        <a:lstStyle/>
                        <a:p>
                          <a:pPr algn="dist"/>
                          <a:r>
                            <a:rPr lang="zh-TW" altLang="en-US" sz="1600" dirty="0"/>
                            <a:t>項目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dist"/>
                          <a:r>
                            <a:rPr lang="zh-TW" altLang="en-US" sz="1600" dirty="0"/>
                            <a:t>建議值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dist"/>
                          <a:r>
                            <a:rPr lang="zh-TW" altLang="en-US" sz="1600" dirty="0"/>
                            <a:t>單位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117339"/>
                      </a:ext>
                    </a:extLst>
                  </a:tr>
                  <a:tr h="337766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二氧化碳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8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600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0711413"/>
                      </a:ext>
                    </a:extLst>
                  </a:tr>
                  <a:tr h="33776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3314775"/>
                      </a:ext>
                    </a:extLst>
                  </a:tr>
                  <a:tr h="337766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一氧化碳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8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2585491"/>
                      </a:ext>
                    </a:extLst>
                  </a:tr>
                  <a:tr h="33776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9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576179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甲醛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0.1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2106602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總揮發性有機化合物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3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798390"/>
                      </a:ext>
                    </a:extLst>
                  </a:tr>
                  <a:tr h="337213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臭氧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8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0.03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6495935"/>
                      </a:ext>
                    </a:extLst>
                  </a:tr>
                  <a:tr h="337213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0.05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2981946"/>
                      </a:ext>
                    </a:extLst>
                  </a:tr>
                  <a:tr h="337213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細菌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最高值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500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CFU/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zh-TW" altLang="en-US" sz="1600" b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1600" b="1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TW" altLang="en-US" sz="1600" b="1" i="0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8797789"/>
                      </a:ext>
                    </a:extLst>
                  </a:tr>
                  <a:tr h="337213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294344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真菌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最高值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CFU/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zh-TW" altLang="en-US" sz="16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1600" b="1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TW" altLang="en-US" sz="1600" b="1" i="0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7715619"/>
                      </a:ext>
                    </a:extLst>
                  </a:tr>
                  <a:tr h="337766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粒徑小於等於</a:t>
                          </a:r>
                          <a:r>
                            <a:rPr lang="en-US" altLang="zh-TW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</a:t>
                          </a:r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微米</a:t>
                          </a:r>
                          <a:endParaRPr lang="en-US" altLang="zh-TW" sz="1600" b="1" dirty="0">
                            <a:solidFill>
                              <a:srgbClr val="FF0000"/>
                            </a:solidFill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之懸浮微粒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24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60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µg/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zh-TW" altLang="en-US" sz="16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1600" b="1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TW" altLang="en-US" sz="1600" b="1" i="0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8897722"/>
                      </a:ext>
                    </a:extLst>
                  </a:tr>
                  <a:tr h="33776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150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7815607"/>
                      </a:ext>
                    </a:extLst>
                  </a:tr>
                  <a:tr h="59109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粒徑小於等於</a:t>
                          </a:r>
                          <a:r>
                            <a:rPr lang="en-US" altLang="zh-TW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2.5</a:t>
                          </a:r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微米</a:t>
                          </a:r>
                          <a:endParaRPr lang="en-US" altLang="zh-TW" sz="1600" b="1" dirty="0">
                            <a:solidFill>
                              <a:srgbClr val="FF0000"/>
                            </a:solidFill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之懸浮微粒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24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µg/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zh-TW" altLang="en-US" sz="1600" b="1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1600" b="1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TW" altLang="en-US" sz="1600" b="1" i="0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9967078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溫度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15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至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28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°C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189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63B5D58A-0505-BC79-66E3-2E0EF20070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940744"/>
                  </p:ext>
                </p:extLst>
              </p:nvPr>
            </p:nvGraphicFramePr>
            <p:xfrm>
              <a:off x="983180" y="1115801"/>
              <a:ext cx="10419523" cy="56553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5087">
                      <a:extLst>
                        <a:ext uri="{9D8B030D-6E8A-4147-A177-3AD203B41FA5}">
                          <a16:colId xmlns:a16="http://schemas.microsoft.com/office/drawing/2014/main" val="1990166527"/>
                        </a:ext>
                      </a:extLst>
                    </a:gridCol>
                    <a:gridCol w="1898374">
                      <a:extLst>
                        <a:ext uri="{9D8B030D-6E8A-4147-A177-3AD203B41FA5}">
                          <a16:colId xmlns:a16="http://schemas.microsoft.com/office/drawing/2014/main" val="1816298922"/>
                        </a:ext>
                      </a:extLst>
                    </a:gridCol>
                    <a:gridCol w="2047461">
                      <a:extLst>
                        <a:ext uri="{9D8B030D-6E8A-4147-A177-3AD203B41FA5}">
                          <a16:colId xmlns:a16="http://schemas.microsoft.com/office/drawing/2014/main" val="4139950495"/>
                        </a:ext>
                      </a:extLst>
                    </a:gridCol>
                    <a:gridCol w="1954696">
                      <a:extLst>
                        <a:ext uri="{9D8B030D-6E8A-4147-A177-3AD203B41FA5}">
                          <a16:colId xmlns:a16="http://schemas.microsoft.com/office/drawing/2014/main" val="354576991"/>
                        </a:ext>
                      </a:extLst>
                    </a:gridCol>
                    <a:gridCol w="2083905">
                      <a:extLst>
                        <a:ext uri="{9D8B030D-6E8A-4147-A177-3AD203B41FA5}">
                          <a16:colId xmlns:a16="http://schemas.microsoft.com/office/drawing/2014/main" val="112115863"/>
                        </a:ext>
                      </a:extLst>
                    </a:gridCol>
                  </a:tblGrid>
                  <a:tr h="337766">
                    <a:tc>
                      <a:txBody>
                        <a:bodyPr/>
                        <a:lstStyle/>
                        <a:p>
                          <a:pPr algn="dist"/>
                          <a:r>
                            <a:rPr lang="zh-TW" altLang="en-US" sz="1600" dirty="0"/>
                            <a:t>項目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dist"/>
                          <a:r>
                            <a:rPr lang="zh-TW" altLang="en-US" sz="1600" dirty="0"/>
                            <a:t>建議值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dist"/>
                          <a:r>
                            <a:rPr lang="zh-TW" altLang="en-US" sz="1600" dirty="0"/>
                            <a:t>單位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117339"/>
                      </a:ext>
                    </a:extLst>
                  </a:tr>
                  <a:tr h="337766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二氧化碳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8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600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0711413"/>
                      </a:ext>
                    </a:extLst>
                  </a:tr>
                  <a:tr h="33776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l"/>
                          <a:endParaRPr lang="zh-TW" altLang="en-US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3314775"/>
                      </a:ext>
                    </a:extLst>
                  </a:tr>
                  <a:tr h="337766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一氧化碳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8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52585491"/>
                      </a:ext>
                    </a:extLst>
                  </a:tr>
                  <a:tr h="33776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9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576179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甲醛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0.1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2106602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總揮發性有機化合物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3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3798390"/>
                      </a:ext>
                    </a:extLst>
                  </a:tr>
                  <a:tr h="337213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臭氧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8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0.03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ppm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6495935"/>
                      </a:ext>
                    </a:extLst>
                  </a:tr>
                  <a:tr h="337213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0.05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2981946"/>
                      </a:ext>
                    </a:extLst>
                  </a:tr>
                  <a:tr h="337213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細菌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最高值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500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292" t="-457273" r="-1170" b="-30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8797789"/>
                      </a:ext>
                    </a:extLst>
                  </a:tr>
                  <a:tr h="337213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294344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真菌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最高值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400292" t="-1094643" r="-1170" b="-4910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715619"/>
                      </a:ext>
                    </a:extLst>
                  </a:tr>
                  <a:tr h="337766"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粒徑小於等於</a:t>
                          </a:r>
                          <a:r>
                            <a:rPr lang="en-US" altLang="zh-TW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</a:t>
                          </a:r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微米</a:t>
                          </a:r>
                          <a:endParaRPr lang="en-US" altLang="zh-TW" sz="1600" b="1" dirty="0">
                            <a:solidFill>
                              <a:srgbClr val="FF0000"/>
                            </a:solidFill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之懸浮微粒</a:t>
                          </a: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24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60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292" t="-602703" r="-1170" b="-1477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8897722"/>
                      </a:ext>
                    </a:extLst>
                  </a:tr>
                  <a:tr h="337766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150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7815607"/>
                      </a:ext>
                    </a:extLst>
                  </a:tr>
                  <a:tr h="59109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粒徑小於等於</a:t>
                          </a:r>
                          <a:r>
                            <a:rPr lang="en-US" altLang="zh-TW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2.5</a:t>
                          </a:r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微米</a:t>
                          </a:r>
                          <a:endParaRPr lang="en-US" altLang="zh-TW" sz="1600" b="1" dirty="0">
                            <a:solidFill>
                              <a:srgbClr val="FF0000"/>
                            </a:solidFill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之懸浮微粒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24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100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292" t="-804124" r="-1170" b="-69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9967078"/>
                      </a:ext>
                    </a:extLst>
                  </a:tr>
                  <a:tr h="3377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solidFill>
                                <a:srgbClr val="FF0000"/>
                              </a:solidFill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溫度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小時值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第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類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15</a:t>
                          </a:r>
                          <a:r>
                            <a:rPr lang="zh-TW" altLang="en-US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至</a:t>
                          </a:r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28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600" b="1" dirty="0">
                              <a:latin typeface="Noto Serif TC" panose="02020200000000000000" pitchFamily="18" charset="-120"/>
                              <a:ea typeface="Noto Serif TC" panose="02020200000000000000" pitchFamily="18" charset="-120"/>
                            </a:rPr>
                            <a:t>°C</a:t>
                          </a:r>
                          <a:endParaRPr lang="zh-TW" altLang="en-US" sz="1600" b="1" dirty="0">
                            <a:latin typeface="Noto Serif TC" panose="02020200000000000000" pitchFamily="18" charset="-120"/>
                            <a:ea typeface="Noto Serif TC" panose="02020200000000000000" pitchFamily="18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189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305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3" y="190222"/>
            <a:ext cx="7736107" cy="69275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9016">
            <a:off x="521061" y="1548367"/>
            <a:ext cx="3966765" cy="35193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85930" y="2377002"/>
            <a:ext cx="476773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 dirty="0">
                <a:latin typeface="Impact" panose="020B0806030902050204" pitchFamily="34" charset="0"/>
              </a:rPr>
              <a:t>PART03</a:t>
            </a:r>
            <a:endParaRPr lang="zh-CN" altLang="en-US" sz="11500" dirty="0">
              <a:latin typeface="Impact" panose="020B080603090205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18244" y="4029511"/>
            <a:ext cx="5303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方正兰亭粗黑简体" panose="02000000000000000000" pitchFamily="2" charset="-122"/>
                <a:ea typeface="方正兰亭粗黑简体" panose="02000000000000000000"/>
              </a:rPr>
              <a:t>微型感測器歷史</a:t>
            </a:r>
            <a:endParaRPr lang="zh-CN" altLang="en-US" sz="3200" dirty="0">
              <a:latin typeface="方正兰亭粗黑简体" panose="02000000000000000000" pitchFamily="2" charset="-122"/>
              <a:ea typeface="方正兰亭粗黑简体" panose="0200000000000000000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32F65E-2254-2749-121E-FA845EC7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0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9FA61F-70E2-DCDF-C39E-3841E0C9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905988"/>
          </a:xfrm>
        </p:spPr>
        <p:txBody>
          <a:bodyPr>
            <a:normAutofit/>
          </a:bodyPr>
          <a:lstStyle/>
          <a:p>
            <a:r>
              <a:rPr lang="zh-TW" altLang="en-US" dirty="0"/>
              <a:t>早期的氣體感測器是一隻金絲雀，礦工帶金絲雀進入煤礦坑來偵測有毒氣體。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9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/>
              <a:t>01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微型感測器歷史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33617B0-D8AA-146F-5484-DE1D3558E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29" y="2406651"/>
            <a:ext cx="49149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50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9FA61F-70E2-DCDF-C39E-3841E0C9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905988"/>
          </a:xfrm>
        </p:spPr>
        <p:txBody>
          <a:bodyPr>
            <a:normAutofit/>
          </a:bodyPr>
          <a:lstStyle/>
          <a:p>
            <a:r>
              <a:rPr lang="zh-TW" altLang="en-US" dirty="0"/>
              <a:t> </a:t>
            </a:r>
            <a:r>
              <a:rPr lang="en-US" altLang="zh-TW" dirty="0"/>
              <a:t>MEMS</a:t>
            </a:r>
            <a:r>
              <a:rPr lang="zh-TW" altLang="en-US" dirty="0"/>
              <a:t>（微機電系統）感測器在近幾年慢慢進入成熟期。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10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微型感測器歷史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22E4FF7-75CB-7374-9521-26C07C77CBA4}"/>
              </a:ext>
            </a:extLst>
          </p:cNvPr>
          <p:cNvSpPr/>
          <p:nvPr/>
        </p:nvSpPr>
        <p:spPr>
          <a:xfrm>
            <a:off x="2372046" y="3783497"/>
            <a:ext cx="1143000" cy="675861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00B0F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陀螺儀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065D6D2-24E1-A436-000C-197561B5DD78}"/>
              </a:ext>
            </a:extLst>
          </p:cNvPr>
          <p:cNvSpPr/>
          <p:nvPr/>
        </p:nvSpPr>
        <p:spPr>
          <a:xfrm>
            <a:off x="5885530" y="3784015"/>
            <a:ext cx="1143000" cy="675861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92D05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麥克風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34C44D1-FBF7-E0C1-C53A-D005B550CC98}"/>
              </a:ext>
            </a:extLst>
          </p:cNvPr>
          <p:cNvSpPr/>
          <p:nvPr/>
        </p:nvSpPr>
        <p:spPr>
          <a:xfrm>
            <a:off x="621102" y="3783496"/>
            <a:ext cx="1143000" cy="675861"/>
          </a:xfrm>
          <a:prstGeom prst="round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FF0066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流體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1D14AD0-B683-5B85-DA7D-C2772C98A9C6}"/>
              </a:ext>
            </a:extLst>
          </p:cNvPr>
          <p:cNvSpPr/>
          <p:nvPr/>
        </p:nvSpPr>
        <p:spPr>
          <a:xfrm>
            <a:off x="4128788" y="3783497"/>
            <a:ext cx="1143000" cy="675861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00B0F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磁力計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B21A2F9-7207-C65C-A8E1-1B560DB06E33}"/>
              </a:ext>
            </a:extLst>
          </p:cNvPr>
          <p:cNvSpPr/>
          <p:nvPr/>
        </p:nvSpPr>
        <p:spPr>
          <a:xfrm>
            <a:off x="7642272" y="3784014"/>
            <a:ext cx="1143000" cy="675861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92D05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濕度</a:t>
            </a:r>
            <a:r>
              <a:rPr lang="en-US" altLang="zh-TW" sz="1600" b="1" dirty="0">
                <a:solidFill>
                  <a:srgbClr val="92D05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/</a:t>
            </a:r>
            <a:r>
              <a:rPr lang="zh-TW" altLang="en-US" sz="1600" b="1" dirty="0">
                <a:solidFill>
                  <a:srgbClr val="92D05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溫度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FBD5822-F952-D9EE-BB60-1309D974205A}"/>
              </a:ext>
            </a:extLst>
          </p:cNvPr>
          <p:cNvSpPr/>
          <p:nvPr/>
        </p:nvSpPr>
        <p:spPr>
          <a:xfrm>
            <a:off x="9399014" y="3784014"/>
            <a:ext cx="1143000" cy="675861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92D05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氣體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D64EA6E-9A52-6622-9409-D0C9D37A5A8E}"/>
              </a:ext>
            </a:extLst>
          </p:cNvPr>
          <p:cNvSpPr/>
          <p:nvPr/>
        </p:nvSpPr>
        <p:spPr>
          <a:xfrm>
            <a:off x="1490776" y="2753141"/>
            <a:ext cx="1143000" cy="675861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00B0F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加速度計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9F347D7-5BDA-A894-4271-35C94CBD5155}"/>
              </a:ext>
            </a:extLst>
          </p:cNvPr>
          <p:cNvSpPr/>
          <p:nvPr/>
        </p:nvSpPr>
        <p:spPr>
          <a:xfrm>
            <a:off x="3243376" y="2753140"/>
            <a:ext cx="1143000" cy="675861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00B0F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慣性模塊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B9993DFA-0EB3-9C33-3B19-964107F8C09F}"/>
              </a:ext>
            </a:extLst>
          </p:cNvPr>
          <p:cNvSpPr/>
          <p:nvPr/>
        </p:nvSpPr>
        <p:spPr>
          <a:xfrm>
            <a:off x="4995976" y="2753139"/>
            <a:ext cx="1143000" cy="675861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92D05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壓力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53A1023C-FB03-4D70-B5A7-B67496022D7E}"/>
              </a:ext>
            </a:extLst>
          </p:cNvPr>
          <p:cNvSpPr/>
          <p:nvPr/>
        </p:nvSpPr>
        <p:spPr>
          <a:xfrm>
            <a:off x="6748576" y="2753138"/>
            <a:ext cx="1143000" cy="675861"/>
          </a:xfrm>
          <a:prstGeom prst="round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FF0066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微鏡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DAE9AA49-26F6-274D-F6B9-58D985A65891}"/>
              </a:ext>
            </a:extLst>
          </p:cNvPr>
          <p:cNvSpPr/>
          <p:nvPr/>
        </p:nvSpPr>
        <p:spPr>
          <a:xfrm>
            <a:off x="8501176" y="2753137"/>
            <a:ext cx="1143000" cy="675861"/>
          </a:xfrm>
          <a:prstGeom prst="round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FF0066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壓電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F3A6D1F-B628-D875-5545-B64A8E294504}"/>
              </a:ext>
            </a:extLst>
          </p:cNvPr>
          <p:cNvSpPr/>
          <p:nvPr/>
        </p:nvSpPr>
        <p:spPr>
          <a:xfrm>
            <a:off x="10253776" y="2753136"/>
            <a:ext cx="1143000" cy="675861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92D050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水壓力</a:t>
            </a:r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E7FEA2E3-FB29-DFCA-248D-FAC9B26C9108}"/>
              </a:ext>
            </a:extLst>
          </p:cNvPr>
          <p:cNvSpPr/>
          <p:nvPr/>
        </p:nvSpPr>
        <p:spPr>
          <a:xfrm>
            <a:off x="1" y="4890052"/>
            <a:ext cx="12192000" cy="54665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BA8CB697-5A25-F074-71E2-1CFE52AF5A70}"/>
              </a:ext>
            </a:extLst>
          </p:cNvPr>
          <p:cNvSpPr/>
          <p:nvPr/>
        </p:nvSpPr>
        <p:spPr>
          <a:xfrm>
            <a:off x="1094997" y="5100817"/>
            <a:ext cx="139148" cy="13914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8446951-684A-C59D-E789-F2853F712C18}"/>
              </a:ext>
            </a:extLst>
          </p:cNvPr>
          <p:cNvSpPr txBox="1"/>
          <p:nvPr/>
        </p:nvSpPr>
        <p:spPr>
          <a:xfrm>
            <a:off x="838200" y="46831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2000</a:t>
            </a:r>
            <a:endParaRPr lang="zh-TW" altLang="en-US" b="1" dirty="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1FA7CE8A-AF94-C335-62FA-0DCEACCA22D2}"/>
              </a:ext>
            </a:extLst>
          </p:cNvPr>
          <p:cNvSpPr/>
          <p:nvPr/>
        </p:nvSpPr>
        <p:spPr>
          <a:xfrm>
            <a:off x="2302471" y="5105591"/>
            <a:ext cx="139148" cy="13914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1405ED0-06CA-BCD3-2B3D-5F6113B833D0}"/>
              </a:ext>
            </a:extLst>
          </p:cNvPr>
          <p:cNvSpPr txBox="1"/>
          <p:nvPr/>
        </p:nvSpPr>
        <p:spPr>
          <a:xfrm>
            <a:off x="2045674" y="468795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2005</a:t>
            </a:r>
            <a:endParaRPr lang="zh-TW" altLang="en-US" b="1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61D39905-ADE4-0B90-81A3-9364C79AA1D4}"/>
              </a:ext>
            </a:extLst>
          </p:cNvPr>
          <p:cNvSpPr/>
          <p:nvPr/>
        </p:nvSpPr>
        <p:spPr>
          <a:xfrm>
            <a:off x="4419485" y="5100817"/>
            <a:ext cx="139148" cy="13914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5C2F7DA-28DC-853B-4052-385BB82A4391}"/>
              </a:ext>
            </a:extLst>
          </p:cNvPr>
          <p:cNvSpPr txBox="1"/>
          <p:nvPr/>
        </p:nvSpPr>
        <p:spPr>
          <a:xfrm>
            <a:off x="4162688" y="46831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2010</a:t>
            </a:r>
            <a:endParaRPr lang="zh-TW" altLang="en-US" b="1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C94658D5-5BE3-798B-FA6F-915821BC372B}"/>
              </a:ext>
            </a:extLst>
          </p:cNvPr>
          <p:cNvSpPr/>
          <p:nvPr/>
        </p:nvSpPr>
        <p:spPr>
          <a:xfrm>
            <a:off x="7337324" y="5100817"/>
            <a:ext cx="139148" cy="13914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14326D5-0576-56DB-A2DF-256A4FCF1A5F}"/>
              </a:ext>
            </a:extLst>
          </p:cNvPr>
          <p:cNvSpPr txBox="1"/>
          <p:nvPr/>
        </p:nvSpPr>
        <p:spPr>
          <a:xfrm>
            <a:off x="7080527" y="46831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2015</a:t>
            </a:r>
            <a:endParaRPr lang="zh-TW" altLang="en-US" b="1" dirty="0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77632EB2-23CE-3965-B1F0-51B838944B8E}"/>
              </a:ext>
            </a:extLst>
          </p:cNvPr>
          <p:cNvSpPr/>
          <p:nvPr/>
        </p:nvSpPr>
        <p:spPr>
          <a:xfrm>
            <a:off x="9229742" y="5101878"/>
            <a:ext cx="139148" cy="13914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0AE8BE7-0AE2-DD55-C971-F6C647CDB656}"/>
              </a:ext>
            </a:extLst>
          </p:cNvPr>
          <p:cNvSpPr txBox="1"/>
          <p:nvPr/>
        </p:nvSpPr>
        <p:spPr>
          <a:xfrm>
            <a:off x="8972945" y="468424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2017</a:t>
            </a:r>
            <a:endParaRPr lang="zh-TW" altLang="en-US" b="1" dirty="0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53173B17-EC7D-91CC-A0B0-3ACEAA211505}"/>
              </a:ext>
            </a:extLst>
          </p:cNvPr>
          <p:cNvSpPr/>
          <p:nvPr/>
        </p:nvSpPr>
        <p:spPr>
          <a:xfrm>
            <a:off x="10394312" y="5100817"/>
            <a:ext cx="139148" cy="13914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6A2FA1C-DF0E-BA78-DD6D-13ADBB1A3991}"/>
              </a:ext>
            </a:extLst>
          </p:cNvPr>
          <p:cNvSpPr txBox="1"/>
          <p:nvPr/>
        </p:nvSpPr>
        <p:spPr>
          <a:xfrm>
            <a:off x="10137515" y="46831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2018</a:t>
            </a:r>
            <a:endParaRPr lang="zh-TW" altLang="en-US" b="1" dirty="0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C1B6150C-5ED7-488F-1D35-A7AF64A17168}"/>
              </a:ext>
            </a:extLst>
          </p:cNvPr>
          <p:cNvSpPr/>
          <p:nvPr/>
        </p:nvSpPr>
        <p:spPr>
          <a:xfrm>
            <a:off x="11737878" y="5095230"/>
            <a:ext cx="139148" cy="13914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371D79E-49E4-412F-3879-12D324831E5B}"/>
              </a:ext>
            </a:extLst>
          </p:cNvPr>
          <p:cNvSpPr txBox="1"/>
          <p:nvPr/>
        </p:nvSpPr>
        <p:spPr>
          <a:xfrm>
            <a:off x="11481081" y="467759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2021</a:t>
            </a:r>
            <a:endParaRPr lang="zh-TW" altLang="en-US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978DAA-C322-FDD7-2095-55E21859B137}"/>
              </a:ext>
            </a:extLst>
          </p:cNvPr>
          <p:cNvSpPr/>
          <p:nvPr/>
        </p:nvSpPr>
        <p:spPr>
          <a:xfrm>
            <a:off x="1958009" y="5705061"/>
            <a:ext cx="414037" cy="41744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E49C397F-1F68-70CF-CC78-2232B614A88E}"/>
              </a:ext>
            </a:extLst>
          </p:cNvPr>
          <p:cNvSpPr txBox="1"/>
          <p:nvPr/>
        </p:nvSpPr>
        <p:spPr>
          <a:xfrm>
            <a:off x="2441619" y="572911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感測器（慣性）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49ABB89-485B-62FF-5753-E2C1B28A2F84}"/>
              </a:ext>
            </a:extLst>
          </p:cNvPr>
          <p:cNvSpPr/>
          <p:nvPr/>
        </p:nvSpPr>
        <p:spPr>
          <a:xfrm>
            <a:off x="5053221" y="5706397"/>
            <a:ext cx="414037" cy="41744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FFCBBC4-D537-1253-2AD8-7F1A7B55456E}"/>
              </a:ext>
            </a:extLst>
          </p:cNvPr>
          <p:cNvSpPr txBox="1"/>
          <p:nvPr/>
        </p:nvSpPr>
        <p:spPr>
          <a:xfrm>
            <a:off x="5536831" y="573045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感測器（環境）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1A6C22-E097-5778-0216-4C513FF23BD3}"/>
              </a:ext>
            </a:extLst>
          </p:cNvPr>
          <p:cNvSpPr/>
          <p:nvPr/>
        </p:nvSpPr>
        <p:spPr>
          <a:xfrm>
            <a:off x="8153936" y="5707854"/>
            <a:ext cx="414037" cy="417443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9E79B73-A1A7-B8E9-97E4-FA646F5F0010}"/>
              </a:ext>
            </a:extLst>
          </p:cNvPr>
          <p:cNvSpPr txBox="1"/>
          <p:nvPr/>
        </p:nvSpPr>
        <p:spPr>
          <a:xfrm>
            <a:off x="8637546" y="573190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感測器（車輛）</a:t>
            </a:r>
          </a:p>
        </p:txBody>
      </p:sp>
    </p:spTree>
    <p:extLst>
      <p:ext uri="{BB962C8B-B14F-4D97-AF65-F5344CB8AC3E}">
        <p14:creationId xmlns:p14="http://schemas.microsoft.com/office/powerpoint/2010/main" val="265103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9FA61F-70E2-DCDF-C39E-3841E0C9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905988"/>
          </a:xfrm>
        </p:spPr>
        <p:txBody>
          <a:bodyPr>
            <a:normAutofit/>
          </a:bodyPr>
          <a:lstStyle/>
          <a:p>
            <a:r>
              <a:rPr lang="zh-TW" altLang="en-US" dirty="0"/>
              <a:t>氣體感測器被應用於許多領域，包括檢測有毒和可燃氣體，監測車輛排放和其他燃燒過程。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如何優化仍然是關鍵挑戰。</a:t>
            </a:r>
            <a:endParaRPr lang="en-US" altLang="zh-TW" dirty="0"/>
          </a:p>
          <a:p>
            <a:pPr lvl="1"/>
            <a:r>
              <a:rPr lang="en-US" altLang="zh-TW" dirty="0"/>
              <a:t>1. </a:t>
            </a:r>
            <a:r>
              <a:rPr lang="zh-TW" altLang="en-US" dirty="0"/>
              <a:t>感測器靈敏度</a:t>
            </a:r>
            <a:endParaRPr lang="en-US" altLang="zh-TW" dirty="0"/>
          </a:p>
          <a:p>
            <a:pPr lvl="1"/>
            <a:r>
              <a:rPr lang="en-US" altLang="zh-TW" dirty="0"/>
              <a:t>2. </a:t>
            </a:r>
            <a:r>
              <a:rPr lang="zh-TW" altLang="en-US" dirty="0"/>
              <a:t>選擇性</a:t>
            </a:r>
            <a:endParaRPr lang="en-US" altLang="zh-TW" dirty="0"/>
          </a:p>
          <a:p>
            <a:pPr lvl="1"/>
            <a:r>
              <a:rPr lang="en-US" altLang="zh-TW" dirty="0"/>
              <a:t>3. </a:t>
            </a:r>
            <a:r>
              <a:rPr lang="zh-TW" altLang="en-US" dirty="0"/>
              <a:t>響應速度和穩定性</a:t>
            </a:r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7199FE-753F-E5FE-05C7-8739BD0E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11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6F92D5-81EF-A292-98CA-30F4C0ABBC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340C1B-5A9C-E14D-1DC3-51EF82D198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氣體感測器</a:t>
            </a:r>
          </a:p>
        </p:txBody>
      </p:sp>
    </p:spTree>
    <p:extLst>
      <p:ext uri="{BB962C8B-B14F-4D97-AF65-F5344CB8AC3E}">
        <p14:creationId xmlns:p14="http://schemas.microsoft.com/office/powerpoint/2010/main" val="354940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93" y="190222"/>
            <a:ext cx="7736107" cy="69275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9016">
            <a:off x="521061" y="1548367"/>
            <a:ext cx="3966765" cy="35193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85930" y="2377002"/>
            <a:ext cx="476773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 dirty="0">
                <a:latin typeface="Impact" panose="020B0806030902050204" pitchFamily="34" charset="0"/>
              </a:rPr>
              <a:t>PART04</a:t>
            </a:r>
            <a:endParaRPr lang="zh-CN" altLang="en-US" sz="11500" dirty="0">
              <a:latin typeface="Impact" panose="020B080603090205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18244" y="4029511"/>
            <a:ext cx="53031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方正兰亭粗黑简体" panose="02000000000000000000" pitchFamily="2" charset="-122"/>
                <a:ea typeface="方正兰亭粗黑简体" panose="02000000000000000000"/>
              </a:rPr>
              <a:t>現有產業技術整合之市場商機</a:t>
            </a:r>
            <a:endParaRPr lang="zh-CN" altLang="en-US" sz="3200" dirty="0">
              <a:latin typeface="方正兰亭粗黑简体" panose="02000000000000000000" pitchFamily="2" charset="-122"/>
              <a:ea typeface="方正兰亭粗黑简体" panose="0200000000000000000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32F65E-2254-2749-121E-FA845EC7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80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D435-8AC9-3187-4A45-9C7CB85F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9D8C715-EE65-FCC3-B8CA-C8CE4468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13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4E02E2-40DD-A974-38D9-D847DB51A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2DF648E-7A14-551E-4A9A-753702739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62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800" dirty="0"/>
              <a:t>智慧工廠 </a:t>
            </a:r>
            <a:r>
              <a:rPr lang="zh-TW" altLang="en-US" sz="2800" b="1" u="sng" dirty="0">
                <a:solidFill>
                  <a:srgbClr val="FF0000"/>
                </a:solidFill>
              </a:rPr>
              <a:t>氣體感測</a:t>
            </a:r>
            <a:r>
              <a:rPr lang="zh-TW" altLang="en-US" sz="2800" dirty="0">
                <a:solidFill>
                  <a:srgbClr val="FF0000"/>
                </a:solidFill>
              </a:rPr>
              <a:t> </a:t>
            </a:r>
            <a:r>
              <a:rPr lang="zh-TW" altLang="en-US" sz="2800" dirty="0"/>
              <a:t>應用需求</a:t>
            </a:r>
            <a:endParaRPr lang="en-US" altLang="zh-TW" sz="2800" dirty="0"/>
          </a:p>
          <a:p>
            <a:pPr marL="0" indent="0">
              <a:lnSpc>
                <a:spcPct val="150000"/>
              </a:lnSpc>
              <a:buNone/>
            </a:pPr>
            <a:endParaRPr lang="en-US" altLang="zh-TW" sz="1200" dirty="0"/>
          </a:p>
          <a:p>
            <a:pPr lvl="1">
              <a:lnSpc>
                <a:spcPct val="150000"/>
              </a:lnSpc>
            </a:pPr>
            <a:r>
              <a:rPr lang="zh-TW" altLang="en-US" sz="2400" dirty="0">
                <a:solidFill>
                  <a:srgbClr val="0070C0"/>
                </a:solidFill>
              </a:rPr>
              <a:t>複合式氣體偵測</a:t>
            </a:r>
            <a:r>
              <a:rPr lang="zh-TW" altLang="en-US" sz="2400" dirty="0"/>
              <a:t>：滿足不同生產屬性的客製化需求</a:t>
            </a:r>
            <a:endParaRPr lang="en-US" altLang="zh-TW" sz="2400" dirty="0"/>
          </a:p>
          <a:p>
            <a:pPr lvl="1">
              <a:lnSpc>
                <a:spcPct val="150000"/>
              </a:lnSpc>
            </a:pPr>
            <a:r>
              <a:rPr lang="zh-TW" altLang="en-US" sz="2400" dirty="0">
                <a:solidFill>
                  <a:srgbClr val="0070C0"/>
                </a:solidFill>
              </a:rPr>
              <a:t>相同性高、感度好、反應快</a:t>
            </a:r>
            <a:r>
              <a:rPr lang="zh-TW" altLang="en-US" sz="2400" dirty="0"/>
              <a:t>：與既有設備</a:t>
            </a:r>
            <a:r>
              <a:rPr lang="en-US" altLang="zh-TW" sz="2400" dirty="0"/>
              <a:t>/</a:t>
            </a:r>
            <a:r>
              <a:rPr lang="zh-TW" altLang="en-US" sz="2400" dirty="0"/>
              <a:t>系統連動，降低氣體溢散災損</a:t>
            </a:r>
            <a:endParaRPr lang="en-US" altLang="zh-TW" sz="2400" dirty="0"/>
          </a:p>
          <a:p>
            <a:pPr lvl="1">
              <a:lnSpc>
                <a:spcPct val="150000"/>
              </a:lnSpc>
            </a:pPr>
            <a:r>
              <a:rPr lang="zh-TW" altLang="en-US" sz="2400" dirty="0">
                <a:solidFill>
                  <a:srgbClr val="0070C0"/>
                </a:solidFill>
              </a:rPr>
              <a:t>低功耗</a:t>
            </a:r>
            <a:r>
              <a:rPr lang="en-US" altLang="zh-TW" sz="2400" dirty="0">
                <a:solidFill>
                  <a:srgbClr val="0070C0"/>
                </a:solidFill>
              </a:rPr>
              <a:t>/</a:t>
            </a:r>
            <a:r>
              <a:rPr lang="zh-TW" altLang="en-US" sz="2400" dirty="0">
                <a:solidFill>
                  <a:srgbClr val="0070C0"/>
                </a:solidFill>
              </a:rPr>
              <a:t>自供電</a:t>
            </a:r>
            <a:r>
              <a:rPr lang="zh-TW" altLang="en-US" sz="2400" dirty="0"/>
              <a:t>：降低維運成本、減少檢修次數</a:t>
            </a:r>
            <a:endParaRPr lang="en-US" altLang="zh-TW" sz="2400" dirty="0"/>
          </a:p>
          <a:p>
            <a:pPr lvl="1">
              <a:lnSpc>
                <a:spcPct val="150000"/>
              </a:lnSpc>
            </a:pPr>
            <a:r>
              <a:rPr lang="zh-TW" altLang="en-US" sz="2400" dirty="0">
                <a:solidFill>
                  <a:srgbClr val="0070C0"/>
                </a:solidFill>
              </a:rPr>
              <a:t>微尺寸、低成本</a:t>
            </a:r>
            <a:r>
              <a:rPr lang="zh-TW" altLang="en-US" sz="2400" dirty="0"/>
              <a:t>：可大量佈建</a:t>
            </a:r>
            <a:endParaRPr lang="en-US" altLang="zh-TW" sz="2400" dirty="0"/>
          </a:p>
          <a:p>
            <a:pPr lvl="1"/>
            <a:endParaRPr lang="en-US" altLang="zh-TW" sz="2400" dirty="0"/>
          </a:p>
          <a:p>
            <a:pPr lvl="1"/>
            <a:endParaRPr lang="en-US" altLang="zh-TW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42D43696-2E2C-F778-CBD1-08E13502240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TW" altLang="en-US" dirty="0"/>
              <a:t>現有產業技術整合之市場商機</a:t>
            </a:r>
          </a:p>
        </p:txBody>
      </p:sp>
    </p:spTree>
    <p:extLst>
      <p:ext uri="{BB962C8B-B14F-4D97-AF65-F5344CB8AC3E}">
        <p14:creationId xmlns:p14="http://schemas.microsoft.com/office/powerpoint/2010/main" val="2376917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D435-8AC9-3187-4A45-9C7CB85F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9D8C715-EE65-FCC3-B8CA-C8CE4468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14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4E02E2-40DD-A974-38D9-D847DB51A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2DF648E-7A14-551E-4A9A-753702739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625000"/>
          </a:xfrm>
        </p:spPr>
        <p:txBody>
          <a:bodyPr>
            <a:normAutofit/>
          </a:bodyPr>
          <a:lstStyle/>
          <a:p>
            <a:r>
              <a:rPr lang="zh-TW" altLang="en-US" dirty="0"/>
              <a:t>各產業對小型、輕量和智慧型裝置的需求不斷增長，是 </a:t>
            </a:r>
            <a:r>
              <a:rPr lang="en-US" altLang="zh-TW" dirty="0"/>
              <a:t>MEMS</a:t>
            </a:r>
            <a:r>
              <a:rPr lang="zh-TW" altLang="en-US" dirty="0"/>
              <a:t> 感測器市場的重要驅動力。 </a:t>
            </a:r>
            <a:r>
              <a:rPr lang="en-US" altLang="zh-TW" dirty="0"/>
              <a:t>MEMS</a:t>
            </a:r>
            <a:r>
              <a:rPr lang="zh-TW" altLang="en-US" dirty="0"/>
              <a:t> 感測器具有微型尺寸、低功耗和高性能，使其適合整合到智慧型手機、穿戴式裝置、醫療儀器、汽車系統和物聯網設備等各種設備中。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儘管過去二十年感測器技術有所發展，但氣體外洩事件並未減少。市場上感測器的痛點主要有三個：</a:t>
            </a:r>
            <a:r>
              <a:rPr lang="zh-TW" altLang="en-US" b="1" dirty="0">
                <a:solidFill>
                  <a:srgbClr val="FF0000"/>
                </a:solidFill>
              </a:rPr>
              <a:t>高能耗</a:t>
            </a:r>
            <a:r>
              <a:rPr lang="zh-TW" altLang="en-US" dirty="0"/>
              <a:t>、</a:t>
            </a:r>
            <a:r>
              <a:rPr lang="zh-TW" altLang="en-US" b="1" dirty="0">
                <a:solidFill>
                  <a:srgbClr val="FF0000"/>
                </a:solidFill>
              </a:rPr>
              <a:t>加熱不均勻導致穩定性差</a:t>
            </a:r>
            <a:r>
              <a:rPr lang="zh-TW" altLang="en-US" dirty="0"/>
              <a:t>及</a:t>
            </a:r>
            <a:r>
              <a:rPr lang="zh-TW" altLang="en-US" b="1" dirty="0">
                <a:solidFill>
                  <a:srgbClr val="FF0000"/>
                </a:solidFill>
              </a:rPr>
              <a:t>低靈敏且響應時間長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42D43696-2E2C-F778-CBD1-08E13502240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TW" altLang="en-US" dirty="0"/>
              <a:t>現有產業技術整合之市場商機</a:t>
            </a:r>
          </a:p>
        </p:txBody>
      </p:sp>
    </p:spTree>
    <p:extLst>
      <p:ext uri="{BB962C8B-B14F-4D97-AF65-F5344CB8AC3E}">
        <p14:creationId xmlns:p14="http://schemas.microsoft.com/office/powerpoint/2010/main" val="254073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D435-8AC9-3187-4A45-9C7CB85F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9D8C715-EE65-FCC3-B8CA-C8CE4468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4F607-EBAE-4F4B-BF62-778A00D92850}" type="slidenum">
              <a:rPr lang="en-US" altLang="zh-TW" smtClean="0"/>
              <a:pPr/>
              <a:t>15</a:t>
            </a:fld>
            <a:endParaRPr 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4E02E2-40DD-A974-38D9-D847DB51A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03</a:t>
            </a:r>
            <a:endParaRPr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2DF648E-7A14-551E-4A9A-753702739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10515600" cy="4625000"/>
          </a:xfrm>
        </p:spPr>
        <p:txBody>
          <a:bodyPr>
            <a:normAutofit/>
          </a:bodyPr>
          <a:lstStyle/>
          <a:p>
            <a:r>
              <a:rPr lang="zh-TW" altLang="en-US" dirty="0"/>
              <a:t>若能比市售的感測器具有更高的靈敏度使其更快地偵測到氣體洩漏，就能提供更多的預警時間且具有市場價值。</a:t>
            </a:r>
            <a:endParaRPr lang="en-US" altLang="zh-TW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42D43696-2E2C-F778-CBD1-08E13502240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TW" altLang="en-US" dirty="0"/>
              <a:t>現有產業技術整合之市場商機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9B6A447-4ACD-F5D0-55CB-B7AF8DEEC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240" y="2353937"/>
            <a:ext cx="5589519" cy="426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69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/>
        </p:nvSpPr>
        <p:spPr>
          <a:xfrm>
            <a:off x="3768011" y="1181869"/>
            <a:ext cx="4650475" cy="4650475"/>
          </a:xfrm>
          <a:prstGeom prst="frame">
            <a:avLst>
              <a:gd name="adj1" fmla="val 240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98"/>
          <a:stretch>
            <a:fillRect/>
          </a:stretch>
        </p:blipFill>
        <p:spPr>
          <a:xfrm rot="5400000">
            <a:off x="1624347" y="-1129249"/>
            <a:ext cx="6791780" cy="849402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14356" y="2613313"/>
            <a:ext cx="4357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600">
                <a:latin typeface="Impact" panose="020B0806030902050204" pitchFamily="34" charset="0"/>
              </a:rPr>
              <a:t>THANKS</a:t>
            </a:r>
            <a:endParaRPr lang="zh-CN" altLang="en-US" sz="9600" dirty="0">
              <a:latin typeface="Impact" panose="020B080603090205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04069">
            <a:off x="9232802" y="4104149"/>
            <a:ext cx="1950088" cy="18998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1041">
            <a:off x="7530864" y="3142331"/>
            <a:ext cx="3123449" cy="277112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37916" y="4020237"/>
            <a:ext cx="17161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endParaRPr lang="zh-CN" altLang="en-US" sz="2400" dirty="0">
              <a:latin typeface="Impact" panose="020B0806030902050204" pitchFamily="34" charset="0"/>
              <a:ea typeface="方正兰亭粗黑简体" panose="02000000000000000000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494752" y="4972973"/>
            <a:ext cx="309880" cy="37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方正正黑简体" panose="02000000000000000000" pitchFamily="2" charset="-122"/>
              <a:ea typeface="方正正黑简体" panose="02000000000000000000" pitchFamily="2" charset="-122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E581CB-71FB-0E4B-1417-610DE1DB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FD8BB-E3C9-46DF-9B94-1AF8F33E9E37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22718</TotalTime>
  <Words>796</Words>
  <Application>Microsoft Office PowerPoint</Application>
  <PresentationFormat>寬螢幕</PresentationFormat>
  <Paragraphs>208</Paragraphs>
  <Slides>17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30" baseType="lpstr">
      <vt:lpstr>Noto Sans TC</vt:lpstr>
      <vt:lpstr>Noto Serif TC</vt:lpstr>
      <vt:lpstr>Yu Gothic UI Semibold</vt:lpstr>
      <vt:lpstr>方正兰亭粗黑简体</vt:lpstr>
      <vt:lpstr>方正正黑简体</vt:lpstr>
      <vt:lpstr>迷你简汉真广标</vt:lpstr>
      <vt:lpstr>造字工房悦黑体验版纤细体</vt:lpstr>
      <vt:lpstr>Arial</vt:lpstr>
      <vt:lpstr>Calibri</vt:lpstr>
      <vt:lpstr>Calibri Light</vt:lpstr>
      <vt:lpstr>Cambria Math</vt:lpstr>
      <vt:lpstr>Impact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彥均 賴</dc:creator>
  <cp:lastModifiedBy>user</cp:lastModifiedBy>
  <cp:revision>774</cp:revision>
  <dcterms:created xsi:type="dcterms:W3CDTF">2022-05-28T08:29:41Z</dcterms:created>
  <dcterms:modified xsi:type="dcterms:W3CDTF">2026-09-29T14:29:27Z</dcterms:modified>
</cp:coreProperties>
</file>