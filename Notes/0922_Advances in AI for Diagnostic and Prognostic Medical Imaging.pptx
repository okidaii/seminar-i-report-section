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18"/>
  </p:notesMasterIdLst>
  <p:handoutMasterIdLst>
    <p:handoutMasterId r:id="rId19"/>
  </p:handoutMasterIdLst>
  <p:sldIdLst>
    <p:sldId id="284" r:id="rId2"/>
    <p:sldId id="389" r:id="rId3"/>
    <p:sldId id="446" r:id="rId4"/>
    <p:sldId id="452" r:id="rId5"/>
    <p:sldId id="530" r:id="rId6"/>
    <p:sldId id="495" r:id="rId7"/>
    <p:sldId id="531" r:id="rId8"/>
    <p:sldId id="527" r:id="rId9"/>
    <p:sldId id="536" r:id="rId10"/>
    <p:sldId id="535" r:id="rId11"/>
    <p:sldId id="532" r:id="rId12"/>
    <p:sldId id="537" r:id="rId13"/>
    <p:sldId id="533" r:id="rId14"/>
    <p:sldId id="534" r:id="rId15"/>
    <p:sldId id="538" r:id="rId16"/>
    <p:sldId id="265"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頭 芋" initials="頭" lastIdx="1" clrIdx="0">
    <p:extLst>
      <p:ext uri="{19B8F6BF-5375-455C-9EA6-DF929625EA0E}">
        <p15:presenceInfo xmlns:p15="http://schemas.microsoft.com/office/powerpoint/2012/main" userId="ea54bbee7b24dc6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0C0C"/>
    <a:srgbClr val="8FAADC"/>
    <a:srgbClr val="FFFFFF"/>
    <a:srgbClr val="F8F8F8"/>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中等深淺樣式 3 - 輔色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0" autoAdjust="0"/>
    <p:restoredTop sz="87021" autoAdjust="0"/>
  </p:normalViewPr>
  <p:slideViewPr>
    <p:cSldViewPr snapToGrid="0">
      <p:cViewPr varScale="1">
        <p:scale>
          <a:sx n="96" d="100"/>
          <a:sy n="96" d="100"/>
        </p:scale>
        <p:origin x="1128" y="96"/>
      </p:cViewPr>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142F4CBD-CDBF-889B-181E-5DA6F30299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77FC4326-5F44-30FC-57B0-9F09151AA7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496DC2A-8C08-46CB-B0AC-8A85B798D43A}" type="datetimeFigureOut">
              <a:rPr lang="zh-TW" altLang="en-US" smtClean="0"/>
              <a:t>2026/9/22</a:t>
            </a:fld>
            <a:endParaRPr lang="zh-TW" altLang="en-US"/>
          </a:p>
        </p:txBody>
      </p:sp>
      <p:sp>
        <p:nvSpPr>
          <p:cNvPr id="4" name="頁尾版面配置區 3">
            <a:extLst>
              <a:ext uri="{FF2B5EF4-FFF2-40B4-BE49-F238E27FC236}">
                <a16:creationId xmlns:a16="http://schemas.microsoft.com/office/drawing/2014/main" id="{05B129BB-56D9-D4F1-5C37-480271CD3A9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52A0AF85-34F4-3ABA-1C4E-58C7C613768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394F727-02A4-470A-9AAF-390F16553B58}" type="slidenum">
              <a:rPr lang="zh-TW" altLang="en-US" smtClean="0"/>
              <a:t>‹#›</a:t>
            </a:fld>
            <a:endParaRPr lang="zh-TW" altLang="en-US"/>
          </a:p>
        </p:txBody>
      </p:sp>
    </p:spTree>
    <p:extLst>
      <p:ext uri="{BB962C8B-B14F-4D97-AF65-F5344CB8AC3E}">
        <p14:creationId xmlns:p14="http://schemas.microsoft.com/office/powerpoint/2010/main" val="4143240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9B3DE7-9129-45A7-8751-D04716C26067}" type="datetimeFigureOut">
              <a:rPr lang="zh-TW" altLang="en-US" smtClean="0"/>
              <a:t>2026/9/22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CFD6F0-2D1B-4ADC-A920-0C559ABD6C9C}" type="slidenum">
              <a:rPr lang="zh-TW" altLang="en-US" smtClean="0"/>
              <a:t>‹#›</a:t>
            </a:fld>
            <a:endParaRPr lang="zh-TW" altLang="en-US"/>
          </a:p>
        </p:txBody>
      </p:sp>
    </p:spTree>
    <p:extLst>
      <p:ext uri="{BB962C8B-B14F-4D97-AF65-F5344CB8AC3E}">
        <p14:creationId xmlns:p14="http://schemas.microsoft.com/office/powerpoint/2010/main" val="68423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6CFD6F0-2D1B-4ADC-A920-0C559ABD6C9C}" type="slidenum">
              <a:rPr lang="zh-TW" altLang="en-US" smtClean="0"/>
              <a:t>1</a:t>
            </a:fld>
            <a:endParaRPr lang="zh-TW" altLang="en-US"/>
          </a:p>
        </p:txBody>
      </p:sp>
    </p:spTree>
    <p:extLst>
      <p:ext uri="{BB962C8B-B14F-4D97-AF65-F5344CB8AC3E}">
        <p14:creationId xmlns:p14="http://schemas.microsoft.com/office/powerpoint/2010/main" val="76648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86CFD6F0-2D1B-4ADC-A920-0C559ABD6C9C}" type="slidenum">
              <a:rPr lang="zh-TW" altLang="en-US" smtClean="0"/>
              <a:t>3</a:t>
            </a:fld>
            <a:endParaRPr lang="zh-TW" altLang="en-US"/>
          </a:p>
        </p:txBody>
      </p:sp>
    </p:spTree>
    <p:extLst>
      <p:ext uri="{BB962C8B-B14F-4D97-AF65-F5344CB8AC3E}">
        <p14:creationId xmlns:p14="http://schemas.microsoft.com/office/powerpoint/2010/main" val="3268603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B959E-CFF4-EB82-FDC3-14838FDE9DE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9A5D63A-D1F0-0474-60F9-DE11EFDAEF4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A82029A-B8FA-D860-EBFA-90A9758B29A5}"/>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F94D6990-3C97-9FB1-96BD-EE14E5668213}"/>
              </a:ext>
            </a:extLst>
          </p:cNvPr>
          <p:cNvSpPr>
            <a:spLocks noGrp="1"/>
          </p:cNvSpPr>
          <p:nvPr>
            <p:ph type="sldNum" sz="quarter" idx="5"/>
          </p:nvPr>
        </p:nvSpPr>
        <p:spPr/>
        <p:txBody>
          <a:bodyPr/>
          <a:lstStyle/>
          <a:p>
            <a:fld id="{86CFD6F0-2D1B-4ADC-A920-0C559ABD6C9C}" type="slidenum">
              <a:rPr lang="zh-TW" altLang="en-US" smtClean="0"/>
              <a:t>5</a:t>
            </a:fld>
            <a:endParaRPr lang="zh-TW" altLang="en-US"/>
          </a:p>
        </p:txBody>
      </p:sp>
    </p:spTree>
    <p:extLst>
      <p:ext uri="{BB962C8B-B14F-4D97-AF65-F5344CB8AC3E}">
        <p14:creationId xmlns:p14="http://schemas.microsoft.com/office/powerpoint/2010/main" val="3925070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8E81-89AC-2FEC-7D1E-8A0A7B01FF4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BF2599B-2770-20DB-02FF-66ACBD3181A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44A7B8A-9A99-F241-CAA5-2AC8ACB66959}"/>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D9CB51BC-4FDA-E632-EE3E-30A155D49FFF}"/>
              </a:ext>
            </a:extLst>
          </p:cNvPr>
          <p:cNvSpPr>
            <a:spLocks noGrp="1"/>
          </p:cNvSpPr>
          <p:nvPr>
            <p:ph type="sldNum" sz="quarter" idx="5"/>
          </p:nvPr>
        </p:nvSpPr>
        <p:spPr/>
        <p:txBody>
          <a:bodyPr/>
          <a:lstStyle/>
          <a:p>
            <a:fld id="{86CFD6F0-2D1B-4ADC-A920-0C559ABD6C9C}" type="slidenum">
              <a:rPr lang="zh-TW" altLang="en-US" smtClean="0"/>
              <a:t>7</a:t>
            </a:fld>
            <a:endParaRPr lang="zh-TW" altLang="en-US"/>
          </a:p>
        </p:txBody>
      </p:sp>
    </p:spTree>
    <p:extLst>
      <p:ext uri="{BB962C8B-B14F-4D97-AF65-F5344CB8AC3E}">
        <p14:creationId xmlns:p14="http://schemas.microsoft.com/office/powerpoint/2010/main" val="446384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8E81-89AC-2FEC-7D1E-8A0A7B01FF4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BF2599B-2770-20DB-02FF-66ACBD3181A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44A7B8A-9A99-F241-CAA5-2AC8ACB66959}"/>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D9CB51BC-4FDA-E632-EE3E-30A155D49FFF}"/>
              </a:ext>
            </a:extLst>
          </p:cNvPr>
          <p:cNvSpPr>
            <a:spLocks noGrp="1"/>
          </p:cNvSpPr>
          <p:nvPr>
            <p:ph type="sldNum" sz="quarter" idx="5"/>
          </p:nvPr>
        </p:nvSpPr>
        <p:spPr/>
        <p:txBody>
          <a:bodyPr/>
          <a:lstStyle/>
          <a:p>
            <a:fld id="{86CFD6F0-2D1B-4ADC-A920-0C559ABD6C9C}" type="slidenum">
              <a:rPr lang="zh-TW" altLang="en-US" smtClean="0"/>
              <a:t>8</a:t>
            </a:fld>
            <a:endParaRPr lang="zh-TW" altLang="en-US"/>
          </a:p>
        </p:txBody>
      </p:sp>
    </p:spTree>
    <p:extLst>
      <p:ext uri="{BB962C8B-B14F-4D97-AF65-F5344CB8AC3E}">
        <p14:creationId xmlns:p14="http://schemas.microsoft.com/office/powerpoint/2010/main" val="2974068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8E81-89AC-2FEC-7D1E-8A0A7B01FF4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BF2599B-2770-20DB-02FF-66ACBD3181A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44A7B8A-9A99-F241-CAA5-2AC8ACB66959}"/>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D9CB51BC-4FDA-E632-EE3E-30A155D49FFF}"/>
              </a:ext>
            </a:extLst>
          </p:cNvPr>
          <p:cNvSpPr>
            <a:spLocks noGrp="1"/>
          </p:cNvSpPr>
          <p:nvPr>
            <p:ph type="sldNum" sz="quarter" idx="5"/>
          </p:nvPr>
        </p:nvSpPr>
        <p:spPr/>
        <p:txBody>
          <a:bodyPr/>
          <a:lstStyle/>
          <a:p>
            <a:fld id="{86CFD6F0-2D1B-4ADC-A920-0C559ABD6C9C}" type="slidenum">
              <a:rPr lang="zh-TW" altLang="en-US" smtClean="0"/>
              <a:t>9</a:t>
            </a:fld>
            <a:endParaRPr lang="zh-TW" altLang="en-US"/>
          </a:p>
        </p:txBody>
      </p:sp>
    </p:spTree>
    <p:extLst>
      <p:ext uri="{BB962C8B-B14F-4D97-AF65-F5344CB8AC3E}">
        <p14:creationId xmlns:p14="http://schemas.microsoft.com/office/powerpoint/2010/main" val="1156355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8E81-89AC-2FEC-7D1E-8A0A7B01FF4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BF2599B-2770-20DB-02FF-66ACBD3181A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44A7B8A-9A99-F241-CAA5-2AC8ACB66959}"/>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D9CB51BC-4FDA-E632-EE3E-30A155D49FFF}"/>
              </a:ext>
            </a:extLst>
          </p:cNvPr>
          <p:cNvSpPr>
            <a:spLocks noGrp="1"/>
          </p:cNvSpPr>
          <p:nvPr>
            <p:ph type="sldNum" sz="quarter" idx="5"/>
          </p:nvPr>
        </p:nvSpPr>
        <p:spPr/>
        <p:txBody>
          <a:bodyPr/>
          <a:lstStyle/>
          <a:p>
            <a:fld id="{86CFD6F0-2D1B-4ADC-A920-0C559ABD6C9C}" type="slidenum">
              <a:rPr lang="zh-TW" altLang="en-US" smtClean="0"/>
              <a:t>10</a:t>
            </a:fld>
            <a:endParaRPr lang="zh-TW" altLang="en-US"/>
          </a:p>
        </p:txBody>
      </p:sp>
    </p:spTree>
    <p:extLst>
      <p:ext uri="{BB962C8B-B14F-4D97-AF65-F5344CB8AC3E}">
        <p14:creationId xmlns:p14="http://schemas.microsoft.com/office/powerpoint/2010/main" val="2093509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8E81-89AC-2FEC-7D1E-8A0A7B01FF4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BF2599B-2770-20DB-02FF-66ACBD3181A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44A7B8A-9A99-F241-CAA5-2AC8ACB66959}"/>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D9CB51BC-4FDA-E632-EE3E-30A155D49FFF}"/>
              </a:ext>
            </a:extLst>
          </p:cNvPr>
          <p:cNvSpPr>
            <a:spLocks noGrp="1"/>
          </p:cNvSpPr>
          <p:nvPr>
            <p:ph type="sldNum" sz="quarter" idx="5"/>
          </p:nvPr>
        </p:nvSpPr>
        <p:spPr/>
        <p:txBody>
          <a:bodyPr/>
          <a:lstStyle/>
          <a:p>
            <a:fld id="{86CFD6F0-2D1B-4ADC-A920-0C559ABD6C9C}" type="slidenum">
              <a:rPr lang="zh-TW" altLang="en-US" smtClean="0"/>
              <a:t>11</a:t>
            </a:fld>
            <a:endParaRPr lang="zh-TW" altLang="en-US"/>
          </a:p>
        </p:txBody>
      </p:sp>
    </p:spTree>
    <p:extLst>
      <p:ext uri="{BB962C8B-B14F-4D97-AF65-F5344CB8AC3E}">
        <p14:creationId xmlns:p14="http://schemas.microsoft.com/office/powerpoint/2010/main" val="1182117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8E81-89AC-2FEC-7D1E-8A0A7B01FF4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BF2599B-2770-20DB-02FF-66ACBD3181A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44A7B8A-9A99-F241-CAA5-2AC8ACB66959}"/>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D9CB51BC-4FDA-E632-EE3E-30A155D49FFF}"/>
              </a:ext>
            </a:extLst>
          </p:cNvPr>
          <p:cNvSpPr>
            <a:spLocks noGrp="1"/>
          </p:cNvSpPr>
          <p:nvPr>
            <p:ph type="sldNum" sz="quarter" idx="5"/>
          </p:nvPr>
        </p:nvSpPr>
        <p:spPr/>
        <p:txBody>
          <a:bodyPr/>
          <a:lstStyle/>
          <a:p>
            <a:fld id="{86CFD6F0-2D1B-4ADC-A920-0C559ABD6C9C}" type="slidenum">
              <a:rPr lang="zh-TW" altLang="en-US" smtClean="0"/>
              <a:t>12</a:t>
            </a:fld>
            <a:endParaRPr lang="zh-TW" altLang="en-US"/>
          </a:p>
        </p:txBody>
      </p:sp>
    </p:spTree>
    <p:extLst>
      <p:ext uri="{BB962C8B-B14F-4D97-AF65-F5344CB8AC3E}">
        <p14:creationId xmlns:p14="http://schemas.microsoft.com/office/powerpoint/2010/main" val="28746697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8E81-89AC-2FEC-7D1E-8A0A7B01FF4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BF2599B-2770-20DB-02FF-66ACBD3181A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44A7B8A-9A99-F241-CAA5-2AC8ACB66959}"/>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D9CB51BC-4FDA-E632-EE3E-30A155D49FFF}"/>
              </a:ext>
            </a:extLst>
          </p:cNvPr>
          <p:cNvSpPr>
            <a:spLocks noGrp="1"/>
          </p:cNvSpPr>
          <p:nvPr>
            <p:ph type="sldNum" sz="quarter" idx="5"/>
          </p:nvPr>
        </p:nvSpPr>
        <p:spPr/>
        <p:txBody>
          <a:bodyPr/>
          <a:lstStyle/>
          <a:p>
            <a:fld id="{86CFD6F0-2D1B-4ADC-A920-0C559ABD6C9C}" type="slidenum">
              <a:rPr lang="zh-TW" altLang="en-US" smtClean="0"/>
              <a:t>13</a:t>
            </a:fld>
            <a:endParaRPr lang="zh-TW" altLang="en-US"/>
          </a:p>
        </p:txBody>
      </p:sp>
    </p:spTree>
    <p:extLst>
      <p:ext uri="{BB962C8B-B14F-4D97-AF65-F5344CB8AC3E}">
        <p14:creationId xmlns:p14="http://schemas.microsoft.com/office/powerpoint/2010/main" val="91383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8E81-89AC-2FEC-7D1E-8A0A7B01FF4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BF2599B-2770-20DB-02FF-66ACBD3181A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44A7B8A-9A99-F241-CAA5-2AC8ACB66959}"/>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D9CB51BC-4FDA-E632-EE3E-30A155D49FFF}"/>
              </a:ext>
            </a:extLst>
          </p:cNvPr>
          <p:cNvSpPr>
            <a:spLocks noGrp="1"/>
          </p:cNvSpPr>
          <p:nvPr>
            <p:ph type="sldNum" sz="quarter" idx="5"/>
          </p:nvPr>
        </p:nvSpPr>
        <p:spPr/>
        <p:txBody>
          <a:bodyPr/>
          <a:lstStyle/>
          <a:p>
            <a:fld id="{86CFD6F0-2D1B-4ADC-A920-0C559ABD6C9C}" type="slidenum">
              <a:rPr lang="zh-TW" altLang="en-US" smtClean="0"/>
              <a:t>14</a:t>
            </a:fld>
            <a:endParaRPr lang="zh-TW" altLang="en-US"/>
          </a:p>
        </p:txBody>
      </p:sp>
    </p:spTree>
    <p:extLst>
      <p:ext uri="{BB962C8B-B14F-4D97-AF65-F5344CB8AC3E}">
        <p14:creationId xmlns:p14="http://schemas.microsoft.com/office/powerpoint/2010/main" val="13005406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Font typeface="Arial" panose="020B0604020202020204" pitchFamily="34" charset="0"/>
              <a:buNone/>
            </a:pPr>
            <a:endParaRPr lang="en-US" altLang="zh-TW"/>
          </a:p>
        </p:txBody>
      </p:sp>
      <p:sp>
        <p:nvSpPr>
          <p:cNvPr id="4" name="投影片編號版面配置區 3"/>
          <p:cNvSpPr>
            <a:spLocks noGrp="1"/>
          </p:cNvSpPr>
          <p:nvPr>
            <p:ph type="sldNum" sz="quarter" idx="5"/>
          </p:nvPr>
        </p:nvSpPr>
        <p:spPr/>
        <p:txBody>
          <a:bodyPr/>
          <a:lstStyle/>
          <a:p>
            <a:fld id="{86CFD6F0-2D1B-4ADC-A920-0C559ABD6C9C}" type="slidenum">
              <a:rPr lang="zh-TW" altLang="en-US" smtClean="0"/>
              <a:t>15</a:t>
            </a:fld>
            <a:endParaRPr lang="zh-TW" altLang="en-US"/>
          </a:p>
        </p:txBody>
      </p:sp>
    </p:spTree>
    <p:extLst>
      <p:ext uri="{BB962C8B-B14F-4D97-AF65-F5344CB8AC3E}">
        <p14:creationId xmlns:p14="http://schemas.microsoft.com/office/powerpoint/2010/main" val="1993304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897023-E6AF-F51A-4C56-B31C1AA9817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AC6FE30D-EF9C-4D74-570C-DD357BB724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826D0C6E-D82F-9D20-F01E-17F3280F619B}"/>
              </a:ext>
            </a:extLst>
          </p:cNvPr>
          <p:cNvSpPr>
            <a:spLocks noGrp="1"/>
          </p:cNvSpPr>
          <p:nvPr>
            <p:ph type="dt" sz="half" idx="10"/>
          </p:nvPr>
        </p:nvSpPr>
        <p:spPr/>
        <p:txBody>
          <a:bodyPr/>
          <a:lstStyle/>
          <a:p>
            <a:fld id="{B1CA8DEE-7FDD-4340-B660-1D6F7691C8F2}" type="datetime1">
              <a:rPr lang="zh-CN" altLang="en-US" smtClean="0"/>
              <a:t>2026/9/22</a:t>
            </a:fld>
            <a:endParaRPr lang="zh-TW" altLang="en-US"/>
          </a:p>
        </p:txBody>
      </p:sp>
      <p:sp>
        <p:nvSpPr>
          <p:cNvPr id="5" name="頁尾版面配置區 4">
            <a:extLst>
              <a:ext uri="{FF2B5EF4-FFF2-40B4-BE49-F238E27FC236}">
                <a16:creationId xmlns:a16="http://schemas.microsoft.com/office/drawing/2014/main" id="{37CC2FAA-5407-99B7-4014-E3F6FC26C86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93B54F3-7ECD-1A53-2BEF-38B6851AD574}"/>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1058214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5EDD6064-51B4-E1BB-BADF-F2E8E75EB488}"/>
              </a:ext>
            </a:extLst>
          </p:cNvPr>
          <p:cNvSpPr>
            <a:spLocks noGrp="1"/>
          </p:cNvSpPr>
          <p:nvPr>
            <p:ph idx="1"/>
          </p:nvPr>
        </p:nvSpPr>
        <p:spPr>
          <a:xfrm>
            <a:off x="838200" y="1338544"/>
            <a:ext cx="10515600" cy="4838419"/>
          </a:xfrm>
        </p:spPr>
        <p:txBody>
          <a:bodyPr>
            <a:normAutofit/>
          </a:bodyPr>
          <a:lstStyle>
            <a:lvl1pPr marL="228600" indent="-228600">
              <a:buFontTx/>
              <a:buBlip>
                <a:blip r:embed="rId2"/>
              </a:buBlip>
              <a:defRPr lang="zh-TW" altLang="en-US" sz="2400" b="0" kern="1200" baseline="0" dirty="0">
                <a:solidFill>
                  <a:schemeClr val="tx1"/>
                </a:solidFill>
                <a:latin typeface="Noto Sans TC" panose="020B0500000000000000"/>
                <a:ea typeface="標楷體" panose="03000509000000000000" pitchFamily="65" charset="-120"/>
                <a:cs typeface="+mn-cs"/>
              </a:defRPr>
            </a:lvl1pPr>
            <a:lvl2pPr marL="685800" indent="-228600">
              <a:buFontTx/>
              <a:buBlip>
                <a:blip r:embed="rId3"/>
              </a:buBlip>
              <a:defRPr lang="zh-TW" altLang="en-US" sz="2000" b="0" kern="1200" baseline="0" dirty="0">
                <a:solidFill>
                  <a:schemeClr val="tx1"/>
                </a:solidFill>
                <a:latin typeface="Noto Sans TC" panose="020B0500000000000000"/>
                <a:ea typeface="標楷體" panose="03000509000000000000" pitchFamily="65" charset="-120"/>
                <a:cs typeface="+mn-cs"/>
              </a:defRPr>
            </a:lvl2pPr>
            <a:lvl3pPr marL="1143000" indent="-228600">
              <a:buFontTx/>
              <a:buBlip>
                <a:blip r:embed="rId4"/>
              </a:buBlip>
              <a:defRPr lang="zh-TW" altLang="en-US" sz="1800" b="0" kern="1200" baseline="0" dirty="0">
                <a:solidFill>
                  <a:schemeClr val="tx1"/>
                </a:solidFill>
                <a:latin typeface="Noto Sans TC" panose="020B0500000000000000"/>
                <a:ea typeface="標楷體" panose="03000509000000000000" pitchFamily="65" charset="-120"/>
                <a:cs typeface="+mn-cs"/>
              </a:defRPr>
            </a:lvl3pPr>
            <a:lvl4pPr marL="1600200" indent="-228600">
              <a:buFontTx/>
              <a:buBlip>
                <a:blip r:embed="rId5"/>
              </a:buBlip>
              <a:defRPr lang="zh-TW" altLang="en-US" sz="1800" b="0" kern="1200" baseline="0" dirty="0">
                <a:solidFill>
                  <a:schemeClr val="tx1"/>
                </a:solidFill>
                <a:latin typeface="Noto Sans TC" panose="020B0500000000000000"/>
                <a:ea typeface="標楷體" panose="03000509000000000000" pitchFamily="65" charset="-120"/>
                <a:cs typeface="+mn-cs"/>
              </a:defRPr>
            </a:lvl4pPr>
            <a:lvl5pPr marL="2057400" indent="-228600">
              <a:buFontTx/>
              <a:buBlip>
                <a:blip r:embed="rId6"/>
              </a:buBlip>
              <a:defRPr lang="zh-TW" altLang="en-US" sz="1800" b="0" kern="1200" baseline="0" dirty="0">
                <a:solidFill>
                  <a:schemeClr val="tx1"/>
                </a:solidFill>
                <a:latin typeface="Noto Sans TC" panose="020B0500000000000000"/>
                <a:ea typeface="標楷體" panose="03000509000000000000" pitchFamily="65" charset="-120"/>
                <a:cs typeface="+mn-cs"/>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日期版面配置區 3">
            <a:extLst>
              <a:ext uri="{FF2B5EF4-FFF2-40B4-BE49-F238E27FC236}">
                <a16:creationId xmlns:a16="http://schemas.microsoft.com/office/drawing/2014/main" id="{D7EC7A5E-6C39-3C29-29C2-2C9AD405FD2B}"/>
              </a:ext>
            </a:extLst>
          </p:cNvPr>
          <p:cNvSpPr>
            <a:spLocks noGrp="1"/>
          </p:cNvSpPr>
          <p:nvPr>
            <p:ph type="dt" sz="half" idx="10"/>
          </p:nvPr>
        </p:nvSpPr>
        <p:spPr/>
        <p:txBody>
          <a:bodyPr/>
          <a:lstStyle/>
          <a:p>
            <a:fld id="{D78CF8A4-AF2A-4D4E-9B51-3178D5BC1227}" type="datetime1">
              <a:rPr lang="zh-CN" altLang="en-US" smtClean="0"/>
              <a:t>2026/9/22</a:t>
            </a:fld>
            <a:endParaRPr lang="zh-TW" altLang="en-US"/>
          </a:p>
        </p:txBody>
      </p:sp>
      <p:sp>
        <p:nvSpPr>
          <p:cNvPr id="5" name="頁尾版面配置區 4">
            <a:extLst>
              <a:ext uri="{FF2B5EF4-FFF2-40B4-BE49-F238E27FC236}">
                <a16:creationId xmlns:a16="http://schemas.microsoft.com/office/drawing/2014/main" id="{3BD504E1-3BC1-CF2A-57C2-300C4CD04C3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03E844F-67FF-04C4-AE70-764DCBFC47A4}"/>
              </a:ext>
            </a:extLst>
          </p:cNvPr>
          <p:cNvSpPr>
            <a:spLocks noGrp="1"/>
          </p:cNvSpPr>
          <p:nvPr>
            <p:ph type="sldNum" sz="quarter" idx="12"/>
          </p:nvPr>
        </p:nvSpPr>
        <p:spPr/>
        <p:txBody>
          <a:bodyPr/>
          <a:lstStyle>
            <a:lvl1pPr>
              <a:defRPr lang="zh-TW" altLang="en-US" sz="2000" kern="1200" smtClean="0">
                <a:solidFill>
                  <a:schemeClr val="tx1">
                    <a:lumMod val="65000"/>
                    <a:lumOff val="35000"/>
                  </a:schemeClr>
                </a:solidFill>
                <a:latin typeface="Yu Gothic UI Semibold" panose="020B0700000000000000" pitchFamily="34" charset="-128"/>
                <a:ea typeface="Yu Gothic UI Semibold" panose="020B0700000000000000" pitchFamily="34" charset="-128"/>
                <a:cs typeface="Segoe UI" panose="020B0502040204020203" pitchFamily="34" charset="0"/>
              </a:defRPr>
            </a:lvl1pPr>
          </a:lstStyle>
          <a:p>
            <a:fld id="{A6C4F607-EBAE-4F4B-BF62-778A00D92850}" type="slidenum">
              <a:rPr lang="en-US" altLang="zh-TW" smtClean="0"/>
              <a:pPr/>
              <a:t>‹#›</a:t>
            </a:fld>
            <a:endParaRPr lang="en-US" dirty="0"/>
          </a:p>
        </p:txBody>
      </p:sp>
      <p:grpSp>
        <p:nvGrpSpPr>
          <p:cNvPr id="7" name="组合 69">
            <a:extLst>
              <a:ext uri="{FF2B5EF4-FFF2-40B4-BE49-F238E27FC236}">
                <a16:creationId xmlns:a16="http://schemas.microsoft.com/office/drawing/2014/main" id="{E7FC2324-5CD9-5D60-4C24-FEF81532854D}"/>
              </a:ext>
            </a:extLst>
          </p:cNvPr>
          <p:cNvGrpSpPr/>
          <p:nvPr userDrawn="1"/>
        </p:nvGrpSpPr>
        <p:grpSpPr>
          <a:xfrm>
            <a:off x="-6508" y="0"/>
            <a:ext cx="1501840" cy="1200863"/>
            <a:chOff x="-259891" y="-1"/>
            <a:chExt cx="1501840" cy="1200863"/>
          </a:xfrm>
        </p:grpSpPr>
        <p:sp>
          <p:nvSpPr>
            <p:cNvPr id="8" name="图文框 70">
              <a:extLst>
                <a:ext uri="{FF2B5EF4-FFF2-40B4-BE49-F238E27FC236}">
                  <a16:creationId xmlns:a16="http://schemas.microsoft.com/office/drawing/2014/main" id="{F547B038-3577-DE64-785C-16002FAEA9E1}"/>
                </a:ext>
              </a:extLst>
            </p:cNvPr>
            <p:cNvSpPr/>
            <p:nvPr/>
          </p:nvSpPr>
          <p:spPr>
            <a:xfrm>
              <a:off x="269620" y="258143"/>
              <a:ext cx="822256" cy="822256"/>
            </a:xfrm>
            <a:prstGeom prst="frame">
              <a:avLst>
                <a:gd name="adj1" fmla="val 240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9" name="图片 71">
              <a:extLst>
                <a:ext uri="{FF2B5EF4-FFF2-40B4-BE49-F238E27FC236}">
                  <a16:creationId xmlns:a16="http://schemas.microsoft.com/office/drawing/2014/main" id="{6B640C1A-B4C1-70A5-2CA5-7ED10F677EF8}"/>
                </a:ext>
              </a:extLst>
            </p:cNvPr>
            <p:cNvPicPr>
              <a:picLocks noChangeAspect="1"/>
            </p:cNvPicPr>
            <p:nvPr userDrawn="1"/>
          </p:nvPicPr>
          <p:blipFill rotWithShape="1">
            <a:blip r:embed="rId7" cstate="print">
              <a:extLst>
                <a:ext uri="{28A0092B-C50C-407E-A947-70E740481C1C}">
                  <a14:useLocalDpi xmlns:a14="http://schemas.microsoft.com/office/drawing/2010/main" val="0"/>
                </a:ext>
              </a:extLst>
            </a:blip>
            <a:srcRect l="28398"/>
            <a:stretch>
              <a:fillRect/>
            </a:stretch>
          </p:blipFill>
          <p:spPr>
            <a:xfrm rot="5400000">
              <a:off x="-109403" y="-150489"/>
              <a:ext cx="1200863" cy="1501840"/>
            </a:xfrm>
            <a:prstGeom prst="rect">
              <a:avLst/>
            </a:prstGeom>
          </p:spPr>
        </p:pic>
      </p:grpSp>
      <p:sp>
        <p:nvSpPr>
          <p:cNvPr id="19" name="文字版面配置區 18">
            <a:extLst>
              <a:ext uri="{FF2B5EF4-FFF2-40B4-BE49-F238E27FC236}">
                <a16:creationId xmlns:a16="http://schemas.microsoft.com/office/drawing/2014/main" id="{77583E69-A175-505C-18EA-C907958635D5}"/>
              </a:ext>
            </a:extLst>
          </p:cNvPr>
          <p:cNvSpPr>
            <a:spLocks noGrp="1"/>
          </p:cNvSpPr>
          <p:nvPr>
            <p:ph type="body" sz="quarter" idx="13"/>
          </p:nvPr>
        </p:nvSpPr>
        <p:spPr>
          <a:xfrm>
            <a:off x="621102" y="400049"/>
            <a:ext cx="724157" cy="621427"/>
          </a:xfrm>
        </p:spPr>
        <p:txBody>
          <a:bodyPr/>
          <a:lstStyle>
            <a:lvl1pPr marL="0" indent="0">
              <a:buNone/>
              <a:defRPr sz="3600" baseline="0">
                <a:latin typeface="Impact" panose="020B0806030902050204" pitchFamily="34" charset="0"/>
                <a:ea typeface="標楷體" panose="03000509000000000000" pitchFamily="65" charset="-120"/>
              </a:defRPr>
            </a:lvl1pPr>
            <a:lvl3pPr marL="914400" indent="0">
              <a:buNone/>
              <a:defRPr>
                <a:latin typeface="Yu Gothic UI Semibold" panose="020B0700000000000000" pitchFamily="34" charset="-128"/>
                <a:ea typeface="Yu Gothic UI Semibold" panose="020B0700000000000000" pitchFamily="34" charset="-128"/>
              </a:defRPr>
            </a:lvl3pPr>
            <a:lvl4pPr marL="1371600" indent="0">
              <a:buNone/>
              <a:defRPr>
                <a:latin typeface="Yu Gothic UI Semibold" panose="020B0700000000000000" pitchFamily="34" charset="-128"/>
                <a:ea typeface="Yu Gothic UI Semibold" panose="020B0700000000000000" pitchFamily="34" charset="-128"/>
              </a:defRPr>
            </a:lvl4pPr>
            <a:lvl5pPr marL="1828800" indent="0">
              <a:buNone/>
              <a:defRPr>
                <a:latin typeface="Yu Gothic UI Semibold" panose="020B0700000000000000" pitchFamily="34" charset="-128"/>
                <a:ea typeface="Yu Gothic UI Semibold" panose="020B0700000000000000" pitchFamily="34" charset="-128"/>
              </a:defRPr>
            </a:lvl5pPr>
          </a:lstStyle>
          <a:p>
            <a:pPr lvl="0"/>
            <a:endParaRPr lang="zh-TW" altLang="en-US" dirty="0"/>
          </a:p>
        </p:txBody>
      </p:sp>
      <p:sp>
        <p:nvSpPr>
          <p:cNvPr id="21" name="內容版面配置區 20">
            <a:extLst>
              <a:ext uri="{FF2B5EF4-FFF2-40B4-BE49-F238E27FC236}">
                <a16:creationId xmlns:a16="http://schemas.microsoft.com/office/drawing/2014/main" id="{07743784-288B-9EBE-D190-D8B747E140A7}"/>
              </a:ext>
            </a:extLst>
          </p:cNvPr>
          <p:cNvSpPr>
            <a:spLocks noGrp="1"/>
          </p:cNvSpPr>
          <p:nvPr>
            <p:ph sz="quarter" idx="14"/>
          </p:nvPr>
        </p:nvSpPr>
        <p:spPr>
          <a:xfrm>
            <a:off x="1443358" y="460690"/>
            <a:ext cx="9910442" cy="553245"/>
          </a:xfrm>
        </p:spPr>
        <p:txBody>
          <a:bodyPr/>
          <a:lstStyle>
            <a:lvl1pPr marL="0" indent="0">
              <a:buNone/>
              <a:defRPr sz="2800">
                <a:latin typeface="Yu Gothic UI Semibold" panose="020B0700000000000000" pitchFamily="34" charset="-128"/>
                <a:ea typeface="Yu Gothic UI Semibold" panose="020B0700000000000000" pitchFamily="34" charset="-128"/>
              </a:defRPr>
            </a:lvl1pPr>
            <a:lvl2pPr marL="457200" indent="0">
              <a:buNone/>
              <a:defRPr sz="2400"/>
            </a:lvl2pPr>
            <a:lvl3pPr marL="914400" indent="0">
              <a:buNone/>
              <a:defRPr/>
            </a:lvl3pPr>
            <a:lvl4pPr marL="1371600" indent="0">
              <a:buNone/>
              <a:defRPr/>
            </a:lvl4pPr>
            <a:lvl5pPr marL="1828800" indent="0">
              <a:buNone/>
              <a:defRPr/>
            </a:lvl5pPr>
          </a:lstStyle>
          <a:p>
            <a:pPr lvl="0"/>
            <a:r>
              <a:rPr lang="zh-TW" altLang="en-US" dirty="0"/>
              <a:t>按一下以編輯母片</a:t>
            </a:r>
            <a:r>
              <a:rPr lang="zh-TW" altLang="en-US"/>
              <a:t>文字樣式</a:t>
            </a:r>
            <a:endParaRPr lang="zh-TW" altLang="en-US" dirty="0"/>
          </a:p>
        </p:txBody>
      </p:sp>
    </p:spTree>
    <p:extLst>
      <p:ext uri="{BB962C8B-B14F-4D97-AF65-F5344CB8AC3E}">
        <p14:creationId xmlns:p14="http://schemas.microsoft.com/office/powerpoint/2010/main" val="2274484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950263-887A-6192-0006-7D07E7BDD548}"/>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5685CEF-E57D-FBE0-79BF-1EC7D90455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0147C377-302E-924C-5672-7303CDA6A16B}"/>
              </a:ext>
            </a:extLst>
          </p:cNvPr>
          <p:cNvSpPr>
            <a:spLocks noGrp="1"/>
          </p:cNvSpPr>
          <p:nvPr>
            <p:ph type="dt" sz="half" idx="10"/>
          </p:nvPr>
        </p:nvSpPr>
        <p:spPr/>
        <p:txBody>
          <a:bodyPr/>
          <a:lstStyle/>
          <a:p>
            <a:fld id="{646D6069-CE43-448A-87B7-AC01F0325C7F}" type="datetime1">
              <a:rPr lang="zh-CN" altLang="en-US" smtClean="0"/>
              <a:t>2026/9/22</a:t>
            </a:fld>
            <a:endParaRPr lang="zh-TW" altLang="en-US"/>
          </a:p>
        </p:txBody>
      </p:sp>
      <p:sp>
        <p:nvSpPr>
          <p:cNvPr id="5" name="頁尾版面配置區 4">
            <a:extLst>
              <a:ext uri="{FF2B5EF4-FFF2-40B4-BE49-F238E27FC236}">
                <a16:creationId xmlns:a16="http://schemas.microsoft.com/office/drawing/2014/main" id="{49ADA280-5099-DCDE-1589-78E52F56F0E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CB00827-FD48-0746-A7E2-53EBBAEEEA26}"/>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1826414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205BD-76E4-2535-57BE-A2D59043E8B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B6B4B5F-F9D8-B168-76C3-B8530C0820C6}"/>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851D563B-A93E-E8D6-49E7-34AEA00E0805}"/>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16EE00D-9005-6974-7714-0AA2FBF4C725}"/>
              </a:ext>
            </a:extLst>
          </p:cNvPr>
          <p:cNvSpPr>
            <a:spLocks noGrp="1"/>
          </p:cNvSpPr>
          <p:nvPr>
            <p:ph type="dt" sz="half" idx="10"/>
          </p:nvPr>
        </p:nvSpPr>
        <p:spPr/>
        <p:txBody>
          <a:bodyPr/>
          <a:lstStyle/>
          <a:p>
            <a:fld id="{5BCFBBA1-D63F-473D-804B-6506B6C6D37F}" type="datetime1">
              <a:rPr lang="zh-CN" altLang="en-US" smtClean="0"/>
              <a:t>2026/9/22</a:t>
            </a:fld>
            <a:endParaRPr lang="zh-TW" altLang="en-US"/>
          </a:p>
        </p:txBody>
      </p:sp>
      <p:sp>
        <p:nvSpPr>
          <p:cNvPr id="6" name="頁尾版面配置區 5">
            <a:extLst>
              <a:ext uri="{FF2B5EF4-FFF2-40B4-BE49-F238E27FC236}">
                <a16:creationId xmlns:a16="http://schemas.microsoft.com/office/drawing/2014/main" id="{F947DF0B-0DEA-D991-7509-E999E0143A0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BFEB125-1055-2A89-9F0C-44E52A733D46}"/>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1774588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035C7B-C306-4CEC-3B71-97D43F9CBAC5}"/>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F04B253-24FC-BFC9-6BD9-36C626E521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48871199-9225-6097-FFD0-54C32109A790}"/>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ADDFA38B-59B9-9336-CBE7-B5F587A70C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40AB019E-7208-8F8F-1F12-23FD07F69CD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0613BE6-3352-1046-53E4-F417303D28AE}"/>
              </a:ext>
            </a:extLst>
          </p:cNvPr>
          <p:cNvSpPr>
            <a:spLocks noGrp="1"/>
          </p:cNvSpPr>
          <p:nvPr>
            <p:ph type="dt" sz="half" idx="10"/>
          </p:nvPr>
        </p:nvSpPr>
        <p:spPr/>
        <p:txBody>
          <a:bodyPr/>
          <a:lstStyle/>
          <a:p>
            <a:fld id="{A6E56CB7-C9F2-4039-B61D-7255A5437C4E}" type="datetime1">
              <a:rPr lang="zh-CN" altLang="en-US" smtClean="0"/>
              <a:t>2026/9/22</a:t>
            </a:fld>
            <a:endParaRPr lang="zh-TW" altLang="en-US"/>
          </a:p>
        </p:txBody>
      </p:sp>
      <p:sp>
        <p:nvSpPr>
          <p:cNvPr id="8" name="頁尾版面配置區 7">
            <a:extLst>
              <a:ext uri="{FF2B5EF4-FFF2-40B4-BE49-F238E27FC236}">
                <a16:creationId xmlns:a16="http://schemas.microsoft.com/office/drawing/2014/main" id="{12B41862-C707-8AE2-19F3-95814F4343BE}"/>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432AD494-E488-C42F-4DF6-D7A3179B8C9F}"/>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3064019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3" name="日期版面配置區 2">
            <a:extLst>
              <a:ext uri="{FF2B5EF4-FFF2-40B4-BE49-F238E27FC236}">
                <a16:creationId xmlns:a16="http://schemas.microsoft.com/office/drawing/2014/main" id="{1D761D6D-68EE-79FC-2D99-3E130CBE9A17}"/>
              </a:ext>
            </a:extLst>
          </p:cNvPr>
          <p:cNvSpPr>
            <a:spLocks noGrp="1"/>
          </p:cNvSpPr>
          <p:nvPr>
            <p:ph type="dt" sz="half" idx="10"/>
          </p:nvPr>
        </p:nvSpPr>
        <p:spPr/>
        <p:txBody>
          <a:bodyPr/>
          <a:lstStyle/>
          <a:p>
            <a:fld id="{C2355D34-6BBF-43CB-9103-199F94C41776}" type="datetime1">
              <a:rPr lang="zh-CN" altLang="en-US" smtClean="0"/>
              <a:t>2026/9/22</a:t>
            </a:fld>
            <a:endParaRPr lang="zh-TW" altLang="en-US"/>
          </a:p>
        </p:txBody>
      </p:sp>
      <p:sp>
        <p:nvSpPr>
          <p:cNvPr id="4" name="頁尾版面配置區 3">
            <a:extLst>
              <a:ext uri="{FF2B5EF4-FFF2-40B4-BE49-F238E27FC236}">
                <a16:creationId xmlns:a16="http://schemas.microsoft.com/office/drawing/2014/main" id="{D92CBFFA-7257-70F7-359B-9E216A26DC9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64D702D5-B7DB-1B35-39DA-7FAF83B8716D}"/>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2390283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A5594AD4-4397-3535-0F06-30B856B32241}"/>
              </a:ext>
            </a:extLst>
          </p:cNvPr>
          <p:cNvSpPr>
            <a:spLocks noGrp="1"/>
          </p:cNvSpPr>
          <p:nvPr>
            <p:ph type="dt" sz="half" idx="10"/>
          </p:nvPr>
        </p:nvSpPr>
        <p:spPr/>
        <p:txBody>
          <a:bodyPr/>
          <a:lstStyle/>
          <a:p>
            <a:fld id="{2D353DF1-F7C7-49D4-BC5A-4FF6C5AFEEAB}" type="datetime1">
              <a:rPr lang="zh-CN" altLang="en-US" smtClean="0"/>
              <a:t>2026/9/22</a:t>
            </a:fld>
            <a:endParaRPr lang="zh-TW" altLang="en-US"/>
          </a:p>
        </p:txBody>
      </p:sp>
      <p:sp>
        <p:nvSpPr>
          <p:cNvPr id="3" name="頁尾版面配置區 2">
            <a:extLst>
              <a:ext uri="{FF2B5EF4-FFF2-40B4-BE49-F238E27FC236}">
                <a16:creationId xmlns:a16="http://schemas.microsoft.com/office/drawing/2014/main" id="{3168AA73-D0CA-208D-7B52-A53EB0B472AE}"/>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EEEA6999-4C3A-5B8A-8F1A-DEF7044576E8}"/>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2612789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6FF409-57C6-396A-747C-535039F0E9E9}"/>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0F725C5C-56B9-3E30-1EA1-A85680B6FA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CAB0368-5A3A-E45D-118D-AB69D761EE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7C6A42-677A-02A3-FE1F-98593304CD9C}"/>
              </a:ext>
            </a:extLst>
          </p:cNvPr>
          <p:cNvSpPr>
            <a:spLocks noGrp="1"/>
          </p:cNvSpPr>
          <p:nvPr>
            <p:ph type="dt" sz="half" idx="10"/>
          </p:nvPr>
        </p:nvSpPr>
        <p:spPr/>
        <p:txBody>
          <a:bodyPr/>
          <a:lstStyle/>
          <a:p>
            <a:fld id="{769ABF7D-2347-4FE0-9200-B62D284906B3}" type="datetime1">
              <a:rPr lang="zh-CN" altLang="en-US" smtClean="0"/>
              <a:t>2026/9/22</a:t>
            </a:fld>
            <a:endParaRPr lang="zh-TW" altLang="en-US"/>
          </a:p>
        </p:txBody>
      </p:sp>
      <p:sp>
        <p:nvSpPr>
          <p:cNvPr id="6" name="頁尾版面配置區 5">
            <a:extLst>
              <a:ext uri="{FF2B5EF4-FFF2-40B4-BE49-F238E27FC236}">
                <a16:creationId xmlns:a16="http://schemas.microsoft.com/office/drawing/2014/main" id="{DC5E0AD0-8D85-B67E-8D79-FD7C42950DF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1FA9480-20D1-BCE2-A3B2-9FEDE80BAEEF}"/>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3207842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AEC3FF-0DD4-DAEC-0419-3C3FB9670DC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31A1A57-E08F-E58D-F8B1-86EB650C22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B2F093A-EEBA-C158-A039-29AB5096A8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DF3D9762-74C9-55C2-7F92-A7B9316B549F}"/>
              </a:ext>
            </a:extLst>
          </p:cNvPr>
          <p:cNvSpPr>
            <a:spLocks noGrp="1"/>
          </p:cNvSpPr>
          <p:nvPr>
            <p:ph type="dt" sz="half" idx="10"/>
          </p:nvPr>
        </p:nvSpPr>
        <p:spPr/>
        <p:txBody>
          <a:bodyPr/>
          <a:lstStyle/>
          <a:p>
            <a:fld id="{168977F4-0A41-49E4-9959-93B4B3DD1DA3}" type="datetime1">
              <a:rPr lang="zh-CN" altLang="en-US" smtClean="0"/>
              <a:t>2026/9/22</a:t>
            </a:fld>
            <a:endParaRPr lang="zh-TW" altLang="en-US"/>
          </a:p>
        </p:txBody>
      </p:sp>
      <p:sp>
        <p:nvSpPr>
          <p:cNvPr id="6" name="頁尾版面配置區 5">
            <a:extLst>
              <a:ext uri="{FF2B5EF4-FFF2-40B4-BE49-F238E27FC236}">
                <a16:creationId xmlns:a16="http://schemas.microsoft.com/office/drawing/2014/main" id="{E920874B-3C9C-3064-FF62-BFEAA9EDFFE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FD395F7-B45B-1DD5-F92B-4CB2AD66F34A}"/>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2656065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69ABEF-BA4C-609E-E437-CB50747BD41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F0608081-CBE8-331B-41FA-8B69128924C5}"/>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781BDE4-266C-5DF7-87FA-C87C00E5BDD7}"/>
              </a:ext>
            </a:extLst>
          </p:cNvPr>
          <p:cNvSpPr>
            <a:spLocks noGrp="1"/>
          </p:cNvSpPr>
          <p:nvPr>
            <p:ph type="dt" sz="half" idx="10"/>
          </p:nvPr>
        </p:nvSpPr>
        <p:spPr/>
        <p:txBody>
          <a:bodyPr/>
          <a:lstStyle/>
          <a:p>
            <a:fld id="{5E1F2509-FEA0-47DA-A211-5B97B419D580}" type="datetime1">
              <a:rPr lang="zh-CN" altLang="en-US" smtClean="0"/>
              <a:t>2026/9/22</a:t>
            </a:fld>
            <a:endParaRPr lang="zh-TW" altLang="en-US"/>
          </a:p>
        </p:txBody>
      </p:sp>
      <p:sp>
        <p:nvSpPr>
          <p:cNvPr id="5" name="頁尾版面配置區 4">
            <a:extLst>
              <a:ext uri="{FF2B5EF4-FFF2-40B4-BE49-F238E27FC236}">
                <a16:creationId xmlns:a16="http://schemas.microsoft.com/office/drawing/2014/main" id="{EFE6DC46-E306-297A-3582-E6323D1F465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31FBA7-3329-DB9B-DAEF-7A9C960E9662}"/>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517314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B6ED68D-25C5-B980-A69F-53F455AD06F1}"/>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4F4FBFB-987A-8D94-D003-225A6B683F4F}"/>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B8CE7C2-0131-47A5-866A-5D456D740E1D}"/>
              </a:ext>
            </a:extLst>
          </p:cNvPr>
          <p:cNvSpPr>
            <a:spLocks noGrp="1"/>
          </p:cNvSpPr>
          <p:nvPr>
            <p:ph type="dt" sz="half" idx="10"/>
          </p:nvPr>
        </p:nvSpPr>
        <p:spPr/>
        <p:txBody>
          <a:bodyPr/>
          <a:lstStyle/>
          <a:p>
            <a:fld id="{7E13F9E1-8169-4D8F-93DA-1391FCBDAC3F}" type="datetime1">
              <a:rPr lang="zh-CN" altLang="en-US" smtClean="0"/>
              <a:t>2026/9/22</a:t>
            </a:fld>
            <a:endParaRPr lang="zh-TW" altLang="en-US"/>
          </a:p>
        </p:txBody>
      </p:sp>
      <p:sp>
        <p:nvSpPr>
          <p:cNvPr id="5" name="頁尾版面配置區 4">
            <a:extLst>
              <a:ext uri="{FF2B5EF4-FFF2-40B4-BE49-F238E27FC236}">
                <a16:creationId xmlns:a16="http://schemas.microsoft.com/office/drawing/2014/main" id="{F293C8F6-4840-0315-A68D-031A4E9C92A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9339154-C024-70F4-28F5-C59E853C6330}"/>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350914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B79E7E7-1A6A-444B-8BC4-05258C288F0E}" type="datetime1">
              <a:rPr lang="zh-CN" altLang="en-US" smtClean="0"/>
              <a:t>2026/9/22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marL="0" algn="r" defTabSz="914400" rtl="0" eaLnBrk="1" latinLnBrk="0" hangingPunct="1">
              <a:defRPr lang="zh-CN" altLang="en-US" sz="2000" kern="1200" smtClean="0">
                <a:solidFill>
                  <a:schemeClr val="tx1">
                    <a:lumMod val="65000"/>
                    <a:lumOff val="35000"/>
                  </a:schemeClr>
                </a:solidFill>
                <a:latin typeface="Yu Gothic UI Semibold" panose="020B0700000000000000" pitchFamily="34" charset="-128"/>
                <a:ea typeface="Yu Gothic UI Semibold" panose="020B0700000000000000" pitchFamily="34" charset="-128"/>
                <a:cs typeface="Segoe UI" panose="020B0502040204020203" pitchFamily="34" charset="0"/>
              </a:defRPr>
            </a:lvl1pPr>
          </a:lstStyle>
          <a:p>
            <a:fld id="{726FD8BB-E3C9-46DF-9B94-1AF8F33E9E37}" type="slidenum">
              <a:rPr lang="en-US" altLang="zh-TW" smtClean="0"/>
              <a:pPr/>
              <a:t>‹#›</a:t>
            </a:fld>
            <a:endParaRPr lang="zh-TW" dirty="0"/>
          </a:p>
        </p:txBody>
      </p:sp>
    </p:spTree>
    <p:extLst>
      <p:ext uri="{BB962C8B-B14F-4D97-AF65-F5344CB8AC3E}">
        <p14:creationId xmlns:p14="http://schemas.microsoft.com/office/powerpoint/2010/main" val="2990314628"/>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F95B3C8A-5A11-D2EF-C6F1-B072D2B549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4D50545-9FF4-49E7-32B5-E6617F6502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A8BA9B3-E10D-C6EE-DA51-96820D4B5B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B42702-F307-4F56-A702-D0E8B84E3864}" type="datetime1">
              <a:rPr lang="zh-CN" altLang="en-US" smtClean="0"/>
              <a:t>2026/9/22</a:t>
            </a:fld>
            <a:endParaRPr lang="zh-TW" altLang="en-US"/>
          </a:p>
        </p:txBody>
      </p:sp>
      <p:sp>
        <p:nvSpPr>
          <p:cNvPr id="5" name="頁尾版面配置區 4">
            <a:extLst>
              <a:ext uri="{FF2B5EF4-FFF2-40B4-BE49-F238E27FC236}">
                <a16:creationId xmlns:a16="http://schemas.microsoft.com/office/drawing/2014/main" id="{C0FB3720-30B7-F5E1-FC07-B4AF4E6A22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D33475AE-8D69-DDBC-4232-D97E754D80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4003420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1.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椭圆 35"/>
          <p:cNvSpPr/>
          <p:nvPr/>
        </p:nvSpPr>
        <p:spPr>
          <a:xfrm>
            <a:off x="1861500" y="-805500"/>
            <a:ext cx="8469000" cy="8469000"/>
          </a:xfrm>
          <a:prstGeom prst="ellipse">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2074950" y="-592050"/>
            <a:ext cx="8042100" cy="8042100"/>
          </a:xfrm>
          <a:prstGeom prst="ellipse">
            <a:avLst/>
          </a:prstGeom>
          <a:solidFill>
            <a:schemeClr val="bg1">
              <a:lumMod val="9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5105172" y="4347299"/>
            <a:ext cx="1981654" cy="605575"/>
            <a:chOff x="5257132" y="4318938"/>
            <a:chExt cx="1800000" cy="550062"/>
          </a:xfrm>
        </p:grpSpPr>
        <p:sp>
          <p:nvSpPr>
            <p:cNvPr id="52" name="文本框 51"/>
            <p:cNvSpPr txBox="1"/>
            <p:nvPr/>
          </p:nvSpPr>
          <p:spPr>
            <a:xfrm>
              <a:off x="5478294" y="4350589"/>
              <a:ext cx="1324924" cy="475257"/>
            </a:xfrm>
            <a:prstGeom prst="rect">
              <a:avLst/>
            </a:prstGeom>
            <a:noFill/>
          </p:spPr>
          <p:txBody>
            <a:bodyPr wrap="square" rtlCol="0">
              <a:spAutoFit/>
            </a:bodyPr>
            <a:lstStyle/>
            <a:p>
              <a:pPr algn="ctr"/>
              <a:r>
                <a:rPr lang="zh-TW" altLang="en-US" sz="1400" dirty="0">
                  <a:solidFill>
                    <a:srgbClr val="002060"/>
                  </a:solidFill>
                  <a:latin typeface="迷你简汉真广标" panose="02010609000101010101" pitchFamily="49" charset="-122"/>
                  <a:ea typeface="迷你简汉真广标" panose="02010609000101010101" pitchFamily="49" charset="-122"/>
                </a:rPr>
                <a:t>彭徐鈞教授 </a:t>
              </a:r>
              <a:r>
                <a:rPr lang="en-US" altLang="zh-TW" sz="1400" dirty="0">
                  <a:solidFill>
                    <a:srgbClr val="002060"/>
                  </a:solidFill>
                  <a:latin typeface="迷你简汉真广标" panose="02010609000101010101" pitchFamily="49" charset="-122"/>
                  <a:ea typeface="迷你简汉真广标" panose="02010609000101010101" pitchFamily="49" charset="-122"/>
                </a:rPr>
                <a:t>2026/09/22</a:t>
              </a:r>
              <a:endParaRPr lang="en-US" altLang="zh-CN" sz="1400" dirty="0">
                <a:solidFill>
                  <a:srgbClr val="002060"/>
                </a:solidFill>
                <a:latin typeface="迷你简汉真广标" panose="02010609000101010101" pitchFamily="49" charset="-122"/>
                <a:ea typeface="迷你简汉真广标" panose="02010609000101010101" pitchFamily="49" charset="-122"/>
              </a:endParaRPr>
            </a:p>
          </p:txBody>
        </p:sp>
        <p:grpSp>
          <p:nvGrpSpPr>
            <p:cNvPr id="9" name="组合 8"/>
            <p:cNvGrpSpPr/>
            <p:nvPr/>
          </p:nvGrpSpPr>
          <p:grpSpPr>
            <a:xfrm>
              <a:off x="5257132" y="4318938"/>
              <a:ext cx="1800000" cy="550062"/>
              <a:chOff x="5257132" y="4318938"/>
              <a:chExt cx="1800000" cy="550062"/>
            </a:xfrm>
          </p:grpSpPr>
          <p:sp>
            <p:nvSpPr>
              <p:cNvPr id="50" name="圆角矩形 49"/>
              <p:cNvSpPr/>
              <p:nvPr/>
            </p:nvSpPr>
            <p:spPr>
              <a:xfrm>
                <a:off x="5257132" y="4318938"/>
                <a:ext cx="1800000" cy="540000"/>
              </a:xfrm>
              <a:prstGeom prst="roundRect">
                <a:avLst>
                  <a:gd name="adj" fmla="val 5000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5870756" y="4851000"/>
                <a:ext cx="540000" cy="1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 name="组合 1"/>
          <p:cNvGrpSpPr/>
          <p:nvPr/>
        </p:nvGrpSpPr>
        <p:grpSpPr>
          <a:xfrm>
            <a:off x="1820381" y="2075156"/>
            <a:ext cx="319500" cy="792801"/>
            <a:chOff x="1820381" y="2075156"/>
            <a:chExt cx="319500" cy="792801"/>
          </a:xfrm>
        </p:grpSpPr>
        <p:sp>
          <p:nvSpPr>
            <p:cNvPr id="57" name="椭圆 56"/>
            <p:cNvSpPr/>
            <p:nvPr/>
          </p:nvSpPr>
          <p:spPr>
            <a:xfrm>
              <a:off x="1975944" y="2075156"/>
              <a:ext cx="163937" cy="1639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1820381" y="2331550"/>
              <a:ext cx="295688" cy="295688"/>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820381" y="2704020"/>
              <a:ext cx="163937" cy="1639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椭圆 27"/>
          <p:cNvSpPr/>
          <p:nvPr/>
        </p:nvSpPr>
        <p:spPr>
          <a:xfrm>
            <a:off x="9900088" y="5049000"/>
            <a:ext cx="163937" cy="1639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9687375" y="5324444"/>
            <a:ext cx="295688" cy="295688"/>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9539737" y="5696914"/>
            <a:ext cx="163937" cy="1639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3446480" y="2479394"/>
            <a:ext cx="5262979" cy="1589821"/>
            <a:chOff x="4154416" y="2642211"/>
            <a:chExt cx="3819874" cy="1153895"/>
          </a:xfrm>
        </p:grpSpPr>
        <p:sp>
          <p:nvSpPr>
            <p:cNvPr id="5" name="矩形 4"/>
            <p:cNvSpPr/>
            <p:nvPr/>
          </p:nvSpPr>
          <p:spPr>
            <a:xfrm>
              <a:off x="4154416" y="2642211"/>
              <a:ext cx="3819874" cy="871201"/>
            </a:xfrm>
            <a:prstGeom prst="rect">
              <a:avLst/>
            </a:prstGeom>
          </p:spPr>
          <p:txBody>
            <a:bodyPr wrap="none">
              <a:spAutoFit/>
            </a:bodyPr>
            <a:lstStyle/>
            <a:p>
              <a:pPr algn="ctr"/>
              <a:r>
                <a:rPr lang="zh-TW" altLang="en-US" sz="3600" b="1" dirty="0">
                  <a:solidFill>
                    <a:srgbClr val="002060"/>
                  </a:solidFill>
                  <a:latin typeface="迷你简汉真广标" panose="02010609000101010101" pitchFamily="49" charset="-122"/>
                  <a:ea typeface="迷你简汉真广标" panose="02010609000101010101" pitchFamily="49" charset="-122"/>
                </a:rPr>
                <a:t>人工智慧於醫學訊號診斷</a:t>
              </a:r>
              <a:endParaRPr lang="en-US" altLang="zh-TW" sz="3600" b="1" dirty="0">
                <a:solidFill>
                  <a:srgbClr val="002060"/>
                </a:solidFill>
                <a:latin typeface="迷你简汉真广标" panose="02010609000101010101" pitchFamily="49" charset="-122"/>
                <a:ea typeface="迷你简汉真广标" panose="02010609000101010101" pitchFamily="49" charset="-122"/>
              </a:endParaRPr>
            </a:p>
            <a:p>
              <a:pPr algn="ctr"/>
              <a:r>
                <a:rPr lang="zh-TW" altLang="en-US" sz="3600" b="1" dirty="0">
                  <a:solidFill>
                    <a:srgbClr val="002060"/>
                  </a:solidFill>
                  <a:latin typeface="迷你简汉真广标" panose="02010609000101010101" pitchFamily="49" charset="-122"/>
                  <a:ea typeface="迷你简汉真广标" panose="02010609000101010101" pitchFamily="49" charset="-122"/>
                </a:rPr>
                <a:t>與預後評估之最新進展</a:t>
              </a:r>
              <a:endParaRPr lang="en-US" altLang="zh-TW" sz="3600" b="1" dirty="0">
                <a:solidFill>
                  <a:srgbClr val="002060"/>
                </a:solidFill>
                <a:latin typeface="迷你简汉真广标" panose="02010609000101010101" pitchFamily="49" charset="-122"/>
                <a:ea typeface="迷你简汉真广标" panose="02010609000101010101" pitchFamily="49" charset="-122"/>
              </a:endParaRPr>
            </a:p>
          </p:txBody>
        </p:sp>
        <p:sp>
          <p:nvSpPr>
            <p:cNvPr id="6" name="矩形 5"/>
            <p:cNvSpPr/>
            <p:nvPr/>
          </p:nvSpPr>
          <p:spPr>
            <a:xfrm>
              <a:off x="6010400" y="3528044"/>
              <a:ext cx="134078" cy="268062"/>
            </a:xfrm>
            <a:prstGeom prst="rect">
              <a:avLst/>
            </a:prstGeom>
          </p:spPr>
          <p:txBody>
            <a:bodyPr wrap="none">
              <a:spAutoFit/>
            </a:bodyPr>
            <a:lstStyle/>
            <a:p>
              <a:pPr algn="ctr"/>
              <a:endParaRPr lang="zh-CN" altLang="en-US" spc="300" dirty="0">
                <a:solidFill>
                  <a:srgbClr val="002060"/>
                </a:solidFill>
                <a:latin typeface="造字工房悦黑体验版纤细体" pitchFamily="50" charset="-122"/>
                <a:ea typeface="造字工房悦黑体验版纤细体" pitchFamily="50" charset="-122"/>
              </a:endParaRPr>
            </a:p>
          </p:txBody>
        </p:sp>
      </p:grpSp>
    </p:spTree>
    <p:extLst>
      <p:ext uri="{BB962C8B-B14F-4D97-AF65-F5344CB8AC3E}">
        <p14:creationId xmlns:p14="http://schemas.microsoft.com/office/powerpoint/2010/main" val="637808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B32F65E-2254-2749-121E-FA845EC7759F}"/>
              </a:ext>
            </a:extLst>
          </p:cNvPr>
          <p:cNvSpPr>
            <a:spLocks noGrp="1"/>
          </p:cNvSpPr>
          <p:nvPr>
            <p:ph type="sldNum" sz="quarter" idx="12"/>
          </p:nvPr>
        </p:nvSpPr>
        <p:spPr/>
        <p:txBody>
          <a:bodyPr/>
          <a:lstStyle/>
          <a:p>
            <a:fld id="{726FD8BB-E3C9-46DF-9B94-1AF8F33E9E37}" type="slidenum">
              <a:rPr lang="zh-CN" altLang="en-US" smtClean="0"/>
              <a:pPr/>
              <a:t>1</a:t>
            </a:fld>
            <a:endParaRPr lang="zh-CN" altLang="en-US"/>
          </a:p>
        </p:txBody>
      </p:sp>
      <p:pic>
        <p:nvPicPr>
          <p:cNvPr id="53" name="图片 3">
            <a:extLst>
              <a:ext uri="{FF2B5EF4-FFF2-40B4-BE49-F238E27FC236}">
                <a16:creationId xmlns:a16="http://schemas.microsoft.com/office/drawing/2014/main" id="{473FADD3-4574-27AB-221A-A0C99F01F1A7}"/>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0"/>
            <a:ext cx="21272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4" name="群組 53">
            <a:extLst>
              <a:ext uri="{FF2B5EF4-FFF2-40B4-BE49-F238E27FC236}">
                <a16:creationId xmlns:a16="http://schemas.microsoft.com/office/drawing/2014/main" id="{138ECCEC-7662-D28D-BF96-EB8268B10580}"/>
              </a:ext>
            </a:extLst>
          </p:cNvPr>
          <p:cNvGrpSpPr/>
          <p:nvPr/>
        </p:nvGrpSpPr>
        <p:grpSpPr>
          <a:xfrm>
            <a:off x="2286276" y="1523234"/>
            <a:ext cx="2420722" cy="647700"/>
            <a:chOff x="4410075" y="1504950"/>
            <a:chExt cx="2420722" cy="647700"/>
          </a:xfrm>
        </p:grpSpPr>
        <p:sp>
          <p:nvSpPr>
            <p:cNvPr id="55" name="文本框 4">
              <a:extLst>
                <a:ext uri="{FF2B5EF4-FFF2-40B4-BE49-F238E27FC236}">
                  <a16:creationId xmlns:a16="http://schemas.microsoft.com/office/drawing/2014/main" id="{28752B15-C0ED-8099-4064-FF238BAB5C5C}"/>
                </a:ext>
              </a:extLst>
            </p:cNvPr>
            <p:cNvSpPr txBox="1">
              <a:spLocks noChangeArrowheads="1"/>
            </p:cNvSpPr>
            <p:nvPr/>
          </p:nvSpPr>
          <p:spPr bwMode="auto">
            <a:xfrm>
              <a:off x="4410075" y="1504950"/>
              <a:ext cx="696913" cy="647700"/>
            </a:xfrm>
            <a:prstGeom prst="rect">
              <a:avLst/>
            </a:prstGeom>
            <a:solidFill>
              <a:srgbClr val="2BA85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600" b="1">
                  <a:solidFill>
                    <a:schemeClr val="bg1"/>
                  </a:solidFill>
                  <a:latin typeface="Arial" panose="020B0604020202020204" pitchFamily="34" charset="0"/>
                  <a:cs typeface="Arial" panose="020B0604020202020204" pitchFamily="34" charset="0"/>
                </a:rPr>
                <a:t>01</a:t>
              </a:r>
              <a:endParaRPr lang="zh-CN" altLang="en-US" sz="3600" b="1">
                <a:solidFill>
                  <a:schemeClr val="bg1"/>
                </a:solidFill>
                <a:latin typeface="Arial" panose="020B0604020202020204" pitchFamily="34" charset="0"/>
                <a:cs typeface="Arial" panose="020B0604020202020204" pitchFamily="34" charset="0"/>
              </a:endParaRPr>
            </a:p>
          </p:txBody>
        </p:sp>
        <p:sp>
          <p:nvSpPr>
            <p:cNvPr id="56" name="文本框 9">
              <a:extLst>
                <a:ext uri="{FF2B5EF4-FFF2-40B4-BE49-F238E27FC236}">
                  <a16:creationId xmlns:a16="http://schemas.microsoft.com/office/drawing/2014/main" id="{E4EF50A1-1751-212C-0DE9-B6772781C008}"/>
                </a:ext>
              </a:extLst>
            </p:cNvPr>
            <p:cNvSpPr txBox="1">
              <a:spLocks noChangeArrowheads="1"/>
            </p:cNvSpPr>
            <p:nvPr/>
          </p:nvSpPr>
          <p:spPr bwMode="auto">
            <a:xfrm>
              <a:off x="5408613" y="1598613"/>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TW" altLang="en-US" sz="2400" b="1" dirty="0">
                  <a:solidFill>
                    <a:srgbClr val="2BA854"/>
                  </a:solidFill>
                  <a:latin typeface="Arial" panose="020B0604020202020204" pitchFamily="34" charset="0"/>
                  <a:cs typeface="Arial" panose="020B0604020202020204" pitchFamily="34" charset="0"/>
                </a:rPr>
                <a:t>發展趨勢</a:t>
              </a:r>
            </a:p>
          </p:txBody>
        </p:sp>
        <p:cxnSp>
          <p:nvCxnSpPr>
            <p:cNvPr id="57" name="直接连接符 14">
              <a:extLst>
                <a:ext uri="{FF2B5EF4-FFF2-40B4-BE49-F238E27FC236}">
                  <a16:creationId xmlns:a16="http://schemas.microsoft.com/office/drawing/2014/main" id="{9889B3D0-801E-1E5F-4BE7-23BAFD8FD93F}"/>
                </a:ext>
              </a:extLst>
            </p:cNvPr>
            <p:cNvCxnSpPr>
              <a:cxnSpLocks noChangeShapeType="1"/>
            </p:cNvCxnSpPr>
            <p:nvPr/>
          </p:nvCxnSpPr>
          <p:spPr bwMode="auto">
            <a:xfrm>
              <a:off x="5297488" y="1600200"/>
              <a:ext cx="0" cy="457200"/>
            </a:xfrm>
            <a:prstGeom prst="line">
              <a:avLst/>
            </a:prstGeom>
            <a:noFill/>
            <a:ln w="6350">
              <a:solidFill>
                <a:srgbClr val="2BA854"/>
              </a:solidFill>
              <a:round/>
              <a:headEnd/>
              <a:tailEnd/>
            </a:ln>
            <a:extLst>
              <a:ext uri="{909E8E84-426E-40DD-AFC4-6F175D3DCCD1}">
                <a14:hiddenFill xmlns:a14="http://schemas.microsoft.com/office/drawing/2010/main">
                  <a:noFill/>
                </a14:hiddenFill>
              </a:ext>
            </a:extLst>
          </p:spPr>
        </p:cxnSp>
        <p:cxnSp>
          <p:nvCxnSpPr>
            <p:cNvPr id="58" name="直接连接符 23">
              <a:extLst>
                <a:ext uri="{FF2B5EF4-FFF2-40B4-BE49-F238E27FC236}">
                  <a16:creationId xmlns:a16="http://schemas.microsoft.com/office/drawing/2014/main" id="{16DDEDF5-244C-AED3-9B78-547E345E6486}"/>
                </a:ext>
              </a:extLst>
            </p:cNvPr>
            <p:cNvCxnSpPr>
              <a:cxnSpLocks noChangeShapeType="1"/>
            </p:cNvCxnSpPr>
            <p:nvPr/>
          </p:nvCxnSpPr>
          <p:spPr bwMode="auto">
            <a:xfrm>
              <a:off x="5240338" y="1600200"/>
              <a:ext cx="0" cy="457200"/>
            </a:xfrm>
            <a:prstGeom prst="line">
              <a:avLst/>
            </a:prstGeom>
            <a:noFill/>
            <a:ln w="28575">
              <a:solidFill>
                <a:srgbClr val="2BA854"/>
              </a:solidFill>
              <a:round/>
              <a:headEnd/>
              <a:tailEnd/>
            </a:ln>
            <a:extLst>
              <a:ext uri="{909E8E84-426E-40DD-AFC4-6F175D3DCCD1}">
                <a14:hiddenFill xmlns:a14="http://schemas.microsoft.com/office/drawing/2010/main">
                  <a:noFill/>
                </a14:hiddenFill>
              </a:ext>
            </a:extLst>
          </p:spPr>
        </p:cxnSp>
      </p:grpSp>
      <p:grpSp>
        <p:nvGrpSpPr>
          <p:cNvPr id="59" name="群組 58">
            <a:extLst>
              <a:ext uri="{FF2B5EF4-FFF2-40B4-BE49-F238E27FC236}">
                <a16:creationId xmlns:a16="http://schemas.microsoft.com/office/drawing/2014/main" id="{C5C93134-9DF1-15A4-EF62-BCDF969682B3}"/>
              </a:ext>
            </a:extLst>
          </p:cNvPr>
          <p:cNvGrpSpPr/>
          <p:nvPr/>
        </p:nvGrpSpPr>
        <p:grpSpPr>
          <a:xfrm>
            <a:off x="2286276" y="3150332"/>
            <a:ext cx="3658240" cy="646331"/>
            <a:chOff x="4410075" y="2613025"/>
            <a:chExt cx="3658240" cy="646331"/>
          </a:xfrm>
        </p:grpSpPr>
        <p:sp>
          <p:nvSpPr>
            <p:cNvPr id="60" name="文本框 6">
              <a:extLst>
                <a:ext uri="{FF2B5EF4-FFF2-40B4-BE49-F238E27FC236}">
                  <a16:creationId xmlns:a16="http://schemas.microsoft.com/office/drawing/2014/main" id="{BBA64795-2C0B-1E96-9453-10375DBE6827}"/>
                </a:ext>
              </a:extLst>
            </p:cNvPr>
            <p:cNvSpPr txBox="1">
              <a:spLocks noChangeArrowheads="1"/>
            </p:cNvSpPr>
            <p:nvPr/>
          </p:nvSpPr>
          <p:spPr bwMode="auto">
            <a:xfrm>
              <a:off x="4410075" y="2613025"/>
              <a:ext cx="697627" cy="646331"/>
            </a:xfrm>
            <a:prstGeom prst="rect">
              <a:avLst/>
            </a:prstGeom>
            <a:solidFill>
              <a:srgbClr val="51308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600" b="1">
                  <a:solidFill>
                    <a:schemeClr val="bg1"/>
                  </a:solidFill>
                  <a:latin typeface="Arial" panose="020B0604020202020204" pitchFamily="34" charset="0"/>
                  <a:cs typeface="Arial" panose="020B0604020202020204" pitchFamily="34" charset="0"/>
                </a:rPr>
                <a:t>02</a:t>
              </a:r>
              <a:endParaRPr lang="zh-CN" altLang="en-US" sz="3600" b="1">
                <a:solidFill>
                  <a:schemeClr val="bg1"/>
                </a:solidFill>
                <a:latin typeface="Arial" panose="020B0604020202020204" pitchFamily="34" charset="0"/>
                <a:cs typeface="Arial" panose="020B0604020202020204" pitchFamily="34" charset="0"/>
              </a:endParaRPr>
            </a:p>
          </p:txBody>
        </p:sp>
        <p:sp>
          <p:nvSpPr>
            <p:cNvPr id="61" name="文本框 10">
              <a:extLst>
                <a:ext uri="{FF2B5EF4-FFF2-40B4-BE49-F238E27FC236}">
                  <a16:creationId xmlns:a16="http://schemas.microsoft.com/office/drawing/2014/main" id="{A62D5F42-E909-A7A7-AE96-BF0C7E259474}"/>
                </a:ext>
              </a:extLst>
            </p:cNvPr>
            <p:cNvSpPr txBox="1">
              <a:spLocks noChangeArrowheads="1"/>
            </p:cNvSpPr>
            <p:nvPr/>
          </p:nvSpPr>
          <p:spPr bwMode="auto">
            <a:xfrm>
              <a:off x="5408613" y="2706688"/>
              <a:ext cx="26597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TW" altLang="en-US" sz="2400" b="1" dirty="0">
                  <a:solidFill>
                    <a:srgbClr val="513087"/>
                  </a:solidFill>
                  <a:latin typeface="Arial" panose="020B0604020202020204" pitchFamily="34" charset="0"/>
                  <a:cs typeface="Arial" panose="020B0604020202020204" pitchFamily="34" charset="0"/>
                </a:rPr>
                <a:t>機器學習工作流程</a:t>
              </a:r>
            </a:p>
          </p:txBody>
        </p:sp>
        <p:cxnSp>
          <p:nvCxnSpPr>
            <p:cNvPr id="62" name="直接连接符 15">
              <a:extLst>
                <a:ext uri="{FF2B5EF4-FFF2-40B4-BE49-F238E27FC236}">
                  <a16:creationId xmlns:a16="http://schemas.microsoft.com/office/drawing/2014/main" id="{21AFD9E0-2B45-2A70-0E27-D30F54773E03}"/>
                </a:ext>
              </a:extLst>
            </p:cNvPr>
            <p:cNvCxnSpPr>
              <a:cxnSpLocks noChangeShapeType="1"/>
            </p:cNvCxnSpPr>
            <p:nvPr/>
          </p:nvCxnSpPr>
          <p:spPr bwMode="auto">
            <a:xfrm>
              <a:off x="5316538" y="2705100"/>
              <a:ext cx="0" cy="457200"/>
            </a:xfrm>
            <a:prstGeom prst="line">
              <a:avLst/>
            </a:prstGeom>
            <a:noFill/>
            <a:ln w="6350">
              <a:solidFill>
                <a:srgbClr val="513087"/>
              </a:solidFill>
              <a:round/>
              <a:headEnd/>
              <a:tailEnd/>
            </a:ln>
            <a:extLst>
              <a:ext uri="{909E8E84-426E-40DD-AFC4-6F175D3DCCD1}">
                <a14:hiddenFill xmlns:a14="http://schemas.microsoft.com/office/drawing/2010/main">
                  <a:noFill/>
                </a14:hiddenFill>
              </a:ext>
            </a:extLst>
          </p:spPr>
        </p:cxnSp>
        <p:cxnSp>
          <p:nvCxnSpPr>
            <p:cNvPr id="63" name="直接连接符 24">
              <a:extLst>
                <a:ext uri="{FF2B5EF4-FFF2-40B4-BE49-F238E27FC236}">
                  <a16:creationId xmlns:a16="http://schemas.microsoft.com/office/drawing/2014/main" id="{B218AC73-0FA8-1DDB-4D28-0021A435034D}"/>
                </a:ext>
              </a:extLst>
            </p:cNvPr>
            <p:cNvCxnSpPr>
              <a:cxnSpLocks noChangeShapeType="1"/>
            </p:cNvCxnSpPr>
            <p:nvPr/>
          </p:nvCxnSpPr>
          <p:spPr bwMode="auto">
            <a:xfrm>
              <a:off x="5259388" y="2705100"/>
              <a:ext cx="0" cy="457200"/>
            </a:xfrm>
            <a:prstGeom prst="line">
              <a:avLst/>
            </a:prstGeom>
            <a:noFill/>
            <a:ln w="28575">
              <a:solidFill>
                <a:srgbClr val="513087"/>
              </a:solidFill>
              <a:round/>
              <a:headEnd/>
              <a:tailEnd/>
            </a:ln>
            <a:extLst>
              <a:ext uri="{909E8E84-426E-40DD-AFC4-6F175D3DCCD1}">
                <a14:hiddenFill xmlns:a14="http://schemas.microsoft.com/office/drawing/2010/main">
                  <a:noFill/>
                </a14:hiddenFill>
              </a:ext>
            </a:extLst>
          </p:spPr>
        </p:cxnSp>
      </p:grpSp>
      <p:grpSp>
        <p:nvGrpSpPr>
          <p:cNvPr id="64" name="群組 63">
            <a:extLst>
              <a:ext uri="{FF2B5EF4-FFF2-40B4-BE49-F238E27FC236}">
                <a16:creationId xmlns:a16="http://schemas.microsoft.com/office/drawing/2014/main" id="{2607F688-0C98-AF36-B1F2-4A491DEE64A1}"/>
              </a:ext>
            </a:extLst>
          </p:cNvPr>
          <p:cNvGrpSpPr/>
          <p:nvPr/>
        </p:nvGrpSpPr>
        <p:grpSpPr>
          <a:xfrm>
            <a:off x="2286276" y="4773417"/>
            <a:ext cx="3039481" cy="646331"/>
            <a:chOff x="4410075" y="3721100"/>
            <a:chExt cx="3039481" cy="646331"/>
          </a:xfrm>
        </p:grpSpPr>
        <p:sp>
          <p:nvSpPr>
            <p:cNvPr id="65" name="文本框 7">
              <a:extLst>
                <a:ext uri="{FF2B5EF4-FFF2-40B4-BE49-F238E27FC236}">
                  <a16:creationId xmlns:a16="http://schemas.microsoft.com/office/drawing/2014/main" id="{E13362B4-5580-B75F-3BBD-9F5B022984D9}"/>
                </a:ext>
              </a:extLst>
            </p:cNvPr>
            <p:cNvSpPr txBox="1">
              <a:spLocks noChangeArrowheads="1"/>
            </p:cNvSpPr>
            <p:nvPr/>
          </p:nvSpPr>
          <p:spPr bwMode="auto">
            <a:xfrm>
              <a:off x="4410075" y="3721100"/>
              <a:ext cx="697627" cy="646331"/>
            </a:xfrm>
            <a:prstGeom prst="rect">
              <a:avLst/>
            </a:prstGeom>
            <a:solidFill>
              <a:srgbClr val="DE44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600" b="1">
                  <a:solidFill>
                    <a:schemeClr val="bg1"/>
                  </a:solidFill>
                  <a:latin typeface="Arial" panose="020B0604020202020204" pitchFamily="34" charset="0"/>
                  <a:cs typeface="Arial" panose="020B0604020202020204" pitchFamily="34" charset="0"/>
                </a:rPr>
                <a:t>03</a:t>
              </a:r>
              <a:endParaRPr lang="zh-CN" altLang="en-US" sz="3600" b="1">
                <a:solidFill>
                  <a:schemeClr val="bg1"/>
                </a:solidFill>
                <a:latin typeface="Arial" panose="020B0604020202020204" pitchFamily="34" charset="0"/>
                <a:cs typeface="Arial" panose="020B0604020202020204" pitchFamily="34" charset="0"/>
              </a:endParaRPr>
            </a:p>
          </p:txBody>
        </p:sp>
        <p:sp>
          <p:nvSpPr>
            <p:cNvPr id="66" name="文本框 11">
              <a:extLst>
                <a:ext uri="{FF2B5EF4-FFF2-40B4-BE49-F238E27FC236}">
                  <a16:creationId xmlns:a16="http://schemas.microsoft.com/office/drawing/2014/main" id="{C90B95DC-E659-C0DE-7557-F2DEAB7064A6}"/>
                </a:ext>
              </a:extLst>
            </p:cNvPr>
            <p:cNvSpPr txBox="1">
              <a:spLocks noChangeArrowheads="1"/>
            </p:cNvSpPr>
            <p:nvPr/>
          </p:nvSpPr>
          <p:spPr bwMode="auto">
            <a:xfrm>
              <a:off x="5408613" y="3813175"/>
              <a:ext cx="2040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TW" altLang="en-US" sz="2400" b="1" dirty="0">
                  <a:solidFill>
                    <a:srgbClr val="DE4477"/>
                  </a:solidFill>
                  <a:latin typeface="Arial" panose="020B0604020202020204" pitchFamily="34" charset="0"/>
                  <a:cs typeface="Arial" panose="020B0604020202020204" pitchFamily="34" charset="0"/>
                </a:rPr>
                <a:t>實際應用舉例</a:t>
              </a:r>
            </a:p>
          </p:txBody>
        </p:sp>
        <p:cxnSp>
          <p:nvCxnSpPr>
            <p:cNvPr id="67" name="直接连接符 16">
              <a:extLst>
                <a:ext uri="{FF2B5EF4-FFF2-40B4-BE49-F238E27FC236}">
                  <a16:creationId xmlns:a16="http://schemas.microsoft.com/office/drawing/2014/main" id="{3216DD49-EB0E-D0FC-EA1D-294D994EB7CD}"/>
                </a:ext>
              </a:extLst>
            </p:cNvPr>
            <p:cNvCxnSpPr>
              <a:cxnSpLocks noChangeShapeType="1"/>
            </p:cNvCxnSpPr>
            <p:nvPr/>
          </p:nvCxnSpPr>
          <p:spPr bwMode="auto">
            <a:xfrm>
              <a:off x="5316538" y="3817938"/>
              <a:ext cx="0" cy="457200"/>
            </a:xfrm>
            <a:prstGeom prst="line">
              <a:avLst/>
            </a:prstGeom>
            <a:noFill/>
            <a:ln w="6350">
              <a:solidFill>
                <a:srgbClr val="DE4477"/>
              </a:solidFill>
              <a:round/>
              <a:headEnd/>
              <a:tailEnd/>
            </a:ln>
            <a:extLst>
              <a:ext uri="{909E8E84-426E-40DD-AFC4-6F175D3DCCD1}">
                <a14:hiddenFill xmlns:a14="http://schemas.microsoft.com/office/drawing/2010/main">
                  <a:noFill/>
                </a14:hiddenFill>
              </a:ext>
            </a:extLst>
          </p:spPr>
        </p:cxnSp>
        <p:cxnSp>
          <p:nvCxnSpPr>
            <p:cNvPr id="68" name="直接连接符 25">
              <a:extLst>
                <a:ext uri="{FF2B5EF4-FFF2-40B4-BE49-F238E27FC236}">
                  <a16:creationId xmlns:a16="http://schemas.microsoft.com/office/drawing/2014/main" id="{A0A4F7CC-4A9B-07A6-D3BB-C25310DB0C89}"/>
                </a:ext>
              </a:extLst>
            </p:cNvPr>
            <p:cNvCxnSpPr>
              <a:cxnSpLocks noChangeShapeType="1"/>
            </p:cNvCxnSpPr>
            <p:nvPr/>
          </p:nvCxnSpPr>
          <p:spPr bwMode="auto">
            <a:xfrm>
              <a:off x="5259388" y="3817938"/>
              <a:ext cx="0" cy="457200"/>
            </a:xfrm>
            <a:prstGeom prst="line">
              <a:avLst/>
            </a:prstGeom>
            <a:noFill/>
            <a:ln w="28575">
              <a:solidFill>
                <a:srgbClr val="DE4477"/>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713771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77893" y="190222"/>
            <a:ext cx="7736107" cy="6927508"/>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29016">
            <a:off x="521061" y="1548367"/>
            <a:ext cx="3966765" cy="3519317"/>
          </a:xfrm>
          <a:prstGeom prst="rect">
            <a:avLst/>
          </a:prstGeom>
        </p:spPr>
      </p:pic>
      <p:sp>
        <p:nvSpPr>
          <p:cNvPr id="9" name="文本框 8"/>
          <p:cNvSpPr txBox="1"/>
          <p:nvPr/>
        </p:nvSpPr>
        <p:spPr>
          <a:xfrm>
            <a:off x="1385930" y="2377002"/>
            <a:ext cx="4767735" cy="1862048"/>
          </a:xfrm>
          <a:prstGeom prst="rect">
            <a:avLst/>
          </a:prstGeom>
          <a:noFill/>
        </p:spPr>
        <p:txBody>
          <a:bodyPr wrap="square" rtlCol="0">
            <a:spAutoFit/>
          </a:bodyPr>
          <a:lstStyle/>
          <a:p>
            <a:pPr algn="dist"/>
            <a:r>
              <a:rPr lang="en-US" altLang="zh-CN" sz="11500">
                <a:latin typeface="Impact" panose="020B0806030902050204" pitchFamily="34" charset="0"/>
              </a:rPr>
              <a:t>PART0</a:t>
            </a:r>
            <a:r>
              <a:rPr lang="en-US" altLang="zh-TW" sz="11500" dirty="0">
                <a:latin typeface="Impact" panose="020B0806030902050204" pitchFamily="34" charset="0"/>
              </a:rPr>
              <a:t>1</a:t>
            </a:r>
            <a:endParaRPr lang="zh-CN" altLang="en-US" sz="11500" dirty="0">
              <a:latin typeface="Impact" panose="020B0806030902050204" pitchFamily="34" charset="0"/>
            </a:endParaRPr>
          </a:p>
        </p:txBody>
      </p:sp>
      <p:sp>
        <p:nvSpPr>
          <p:cNvPr id="10" name="文本框 9"/>
          <p:cNvSpPr txBox="1"/>
          <p:nvPr/>
        </p:nvSpPr>
        <p:spPr>
          <a:xfrm>
            <a:off x="1118244" y="4029511"/>
            <a:ext cx="5303106" cy="769441"/>
          </a:xfrm>
          <a:prstGeom prst="rect">
            <a:avLst/>
          </a:prstGeom>
          <a:noFill/>
        </p:spPr>
        <p:txBody>
          <a:bodyPr wrap="square" rtlCol="0">
            <a:spAutoFit/>
          </a:bodyPr>
          <a:lstStyle/>
          <a:p>
            <a:pPr algn="ctr"/>
            <a:r>
              <a:rPr lang="zh-TW" altLang="en-US" sz="4400" dirty="0"/>
              <a:t>發展趨勢</a:t>
            </a:r>
            <a:endParaRPr lang="zh-CN" altLang="en-US" sz="3200" dirty="0">
              <a:latin typeface="方正兰亭粗黑简体" panose="02000000000000000000" pitchFamily="2" charset="-122"/>
              <a:ea typeface="方正兰亭粗黑简体" panose="02000000000000000000"/>
            </a:endParaRPr>
          </a:p>
        </p:txBody>
      </p:sp>
      <p:sp>
        <p:nvSpPr>
          <p:cNvPr id="4" name="投影片編號版面配置區 3">
            <a:extLst>
              <a:ext uri="{FF2B5EF4-FFF2-40B4-BE49-F238E27FC236}">
                <a16:creationId xmlns:a16="http://schemas.microsoft.com/office/drawing/2014/main" id="{0B32F65E-2254-2749-121E-FA845EC7759F}"/>
              </a:ext>
            </a:extLst>
          </p:cNvPr>
          <p:cNvSpPr>
            <a:spLocks noGrp="1"/>
          </p:cNvSpPr>
          <p:nvPr>
            <p:ph type="sldNum" sz="quarter" idx="12"/>
          </p:nvPr>
        </p:nvSpPr>
        <p:spPr/>
        <p:txBody>
          <a:bodyPr/>
          <a:lstStyle/>
          <a:p>
            <a:fld id="{726FD8BB-E3C9-46DF-9B94-1AF8F33E9E37}" type="slidenum">
              <a:rPr lang="zh-CN" altLang="en-US" smtClean="0"/>
              <a:pPr/>
              <a:t>2</a:t>
            </a:fld>
            <a:endParaRPr lang="zh-CN" altLang="en-US"/>
          </a:p>
        </p:txBody>
      </p:sp>
    </p:spTree>
    <p:extLst>
      <p:ext uri="{BB962C8B-B14F-4D97-AF65-F5344CB8AC3E}">
        <p14:creationId xmlns:p14="http://schemas.microsoft.com/office/powerpoint/2010/main" val="19002395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a:extLst>
              <a:ext uri="{FF2B5EF4-FFF2-40B4-BE49-F238E27FC236}">
                <a16:creationId xmlns:a16="http://schemas.microsoft.com/office/drawing/2014/main" id="{D59FA61F-70E2-DCDF-C39E-3841E0C94E65}"/>
              </a:ext>
            </a:extLst>
          </p:cNvPr>
          <p:cNvSpPr>
            <a:spLocks noGrp="1"/>
          </p:cNvSpPr>
          <p:nvPr>
            <p:ph idx="1"/>
          </p:nvPr>
        </p:nvSpPr>
        <p:spPr>
          <a:xfrm>
            <a:off x="838200" y="1551963"/>
            <a:ext cx="10515600" cy="4905988"/>
          </a:xfrm>
        </p:spPr>
        <p:txBody>
          <a:bodyPr>
            <a:normAutofit/>
          </a:bodyPr>
          <a:lstStyle/>
          <a:p>
            <a:r>
              <a:rPr lang="zh-TW" altLang="en-US" dirty="0"/>
              <a:t>開創性的應用 </a:t>
            </a:r>
            <a:r>
              <a:rPr lang="en-US" altLang="zh-TW" dirty="0"/>
              <a:t>AI</a:t>
            </a:r>
            <a:r>
              <a:rPr lang="zh-TW" altLang="en-US" dirty="0"/>
              <a:t> 在癲癇診斷和治療方面取得了重要進展，透過基於 </a:t>
            </a:r>
            <a:r>
              <a:rPr lang="en-US" altLang="zh-TW" dirty="0"/>
              <a:t>AI</a:t>
            </a:r>
            <a:r>
              <a:rPr lang="zh-TW" altLang="en-US" dirty="0"/>
              <a:t> 的影像辨識和預測模型，提升診斷的精確度，同時研發了個體化治療方案，為患者帶來了新的希望。</a:t>
            </a:r>
            <a:endParaRPr lang="en-US" altLang="zh-TW" dirty="0"/>
          </a:p>
          <a:p>
            <a:endParaRPr lang="en-US" altLang="zh-TW" dirty="0"/>
          </a:p>
          <a:p>
            <a:r>
              <a:rPr lang="zh-TW" altLang="en-US" dirty="0"/>
              <a:t>人工智慧醫療應用</a:t>
            </a:r>
            <a:endParaRPr lang="en-US" altLang="zh-TW" dirty="0"/>
          </a:p>
          <a:p>
            <a:pPr lvl="1"/>
            <a:r>
              <a:rPr lang="zh-TW" altLang="en-US" dirty="0"/>
              <a:t>運用 </a:t>
            </a:r>
            <a:r>
              <a:rPr lang="en-US" altLang="zh-TW" dirty="0"/>
              <a:t>AI </a:t>
            </a:r>
            <a:r>
              <a:rPr lang="zh-TW" altLang="en-US" dirty="0"/>
              <a:t>技術於臨床診斷與治療。</a:t>
            </a:r>
            <a:endParaRPr lang="en-US" altLang="zh-TW" dirty="0"/>
          </a:p>
          <a:p>
            <a:r>
              <a:rPr lang="zh-TW" altLang="en-US" dirty="0"/>
              <a:t>腦神經影像分析</a:t>
            </a:r>
            <a:endParaRPr lang="en-US" altLang="zh-TW" dirty="0"/>
          </a:p>
          <a:p>
            <a:pPr lvl="1"/>
            <a:r>
              <a:rPr lang="zh-TW" altLang="en-US" dirty="0"/>
              <a:t>結合深度學習技術，準確分析腦部影像，協助早期發現與診斷。</a:t>
            </a:r>
            <a:endParaRPr lang="en-US" altLang="zh-TW" dirty="0"/>
          </a:p>
          <a:p>
            <a:r>
              <a:rPr lang="zh-TW" altLang="en-US" dirty="0"/>
              <a:t>電生理訊號解析</a:t>
            </a:r>
            <a:endParaRPr lang="en-US" altLang="zh-TW" dirty="0"/>
          </a:p>
          <a:p>
            <a:pPr lvl="1"/>
            <a:r>
              <a:rPr lang="zh-TW" altLang="en-US" dirty="0"/>
              <a:t>解析腦電波與生理訊號，協助疾病評估與治療反應監測。</a:t>
            </a:r>
            <a:endParaRPr lang="en-US" altLang="zh-TW" dirty="0"/>
          </a:p>
          <a:p>
            <a:r>
              <a:rPr lang="zh-TW" altLang="en-US" dirty="0"/>
              <a:t>大腦連結體建模</a:t>
            </a:r>
            <a:endParaRPr lang="en-US" altLang="zh-TW" dirty="0"/>
          </a:p>
          <a:p>
            <a:pPr lvl="1"/>
            <a:r>
              <a:rPr lang="zh-TW" altLang="en-US" dirty="0"/>
              <a:t>探索神經網路機制。</a:t>
            </a:r>
            <a:endParaRPr lang="en-US" altLang="zh-TW" dirty="0"/>
          </a:p>
          <a:p>
            <a:endParaRPr lang="en-US" altLang="zh-TW" dirty="0"/>
          </a:p>
          <a:p>
            <a:pPr marL="0" indent="0">
              <a:buNone/>
            </a:pPr>
            <a:endParaRPr lang="en-US" altLang="zh-TW" dirty="0"/>
          </a:p>
          <a:p>
            <a:pPr marL="457200" lvl="1" indent="0">
              <a:buNone/>
            </a:pPr>
            <a:endParaRPr lang="en-US" altLang="zh-TW" dirty="0"/>
          </a:p>
        </p:txBody>
      </p:sp>
      <p:sp>
        <p:nvSpPr>
          <p:cNvPr id="3" name="投影片編號版面配置區 2">
            <a:extLst>
              <a:ext uri="{FF2B5EF4-FFF2-40B4-BE49-F238E27FC236}">
                <a16:creationId xmlns:a16="http://schemas.microsoft.com/office/drawing/2014/main" id="{607199FE-753F-E5FE-05C7-8739BD0EDAF1}"/>
              </a:ext>
            </a:extLst>
          </p:cNvPr>
          <p:cNvSpPr>
            <a:spLocks noGrp="1"/>
          </p:cNvSpPr>
          <p:nvPr>
            <p:ph type="sldNum" sz="quarter" idx="12"/>
          </p:nvPr>
        </p:nvSpPr>
        <p:spPr/>
        <p:txBody>
          <a:bodyPr/>
          <a:lstStyle/>
          <a:p>
            <a:fld id="{A6C4F607-EBAE-4F4B-BF62-778A00D92850}" type="slidenum">
              <a:rPr lang="en-US" altLang="zh-TW" smtClean="0"/>
              <a:pPr/>
              <a:t>3</a:t>
            </a:fld>
            <a:endParaRPr lang="en-US" dirty="0"/>
          </a:p>
        </p:txBody>
      </p:sp>
      <p:sp>
        <p:nvSpPr>
          <p:cNvPr id="4" name="文字版面配置區 3">
            <a:extLst>
              <a:ext uri="{FF2B5EF4-FFF2-40B4-BE49-F238E27FC236}">
                <a16:creationId xmlns:a16="http://schemas.microsoft.com/office/drawing/2014/main" id="{5F6F92D5-81EF-A292-98CA-30F4C0ABBC20}"/>
              </a:ext>
            </a:extLst>
          </p:cNvPr>
          <p:cNvSpPr>
            <a:spLocks noGrp="1"/>
          </p:cNvSpPr>
          <p:nvPr>
            <p:ph type="body" sz="quarter" idx="13"/>
          </p:nvPr>
        </p:nvSpPr>
        <p:spPr/>
        <p:txBody>
          <a:bodyPr/>
          <a:lstStyle/>
          <a:p>
            <a:r>
              <a:rPr lang="en-US" altLang="zh-TW"/>
              <a:t>01</a:t>
            </a:r>
            <a:endParaRPr lang="zh-TW" altLang="en-US"/>
          </a:p>
        </p:txBody>
      </p:sp>
      <p:sp>
        <p:nvSpPr>
          <p:cNvPr id="5" name="內容版面配置區 4">
            <a:extLst>
              <a:ext uri="{FF2B5EF4-FFF2-40B4-BE49-F238E27FC236}">
                <a16:creationId xmlns:a16="http://schemas.microsoft.com/office/drawing/2014/main" id="{80340C1B-5A9C-E14D-1DC3-51EF82D19818}"/>
              </a:ext>
            </a:extLst>
          </p:cNvPr>
          <p:cNvSpPr>
            <a:spLocks noGrp="1"/>
          </p:cNvSpPr>
          <p:nvPr>
            <p:ph sz="quarter" idx="14"/>
          </p:nvPr>
        </p:nvSpPr>
        <p:spPr/>
        <p:txBody>
          <a:bodyPr>
            <a:normAutofit/>
          </a:bodyPr>
          <a:lstStyle/>
          <a:p>
            <a:r>
              <a:rPr lang="zh-TW" altLang="en-US" dirty="0"/>
              <a:t>發展趨勢</a:t>
            </a:r>
          </a:p>
        </p:txBody>
      </p:sp>
    </p:spTree>
    <p:extLst>
      <p:ext uri="{BB962C8B-B14F-4D97-AF65-F5344CB8AC3E}">
        <p14:creationId xmlns:p14="http://schemas.microsoft.com/office/powerpoint/2010/main" val="470388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77893" y="190222"/>
            <a:ext cx="7736107" cy="6927508"/>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29016">
            <a:off x="521061" y="1548367"/>
            <a:ext cx="3966765" cy="3519317"/>
          </a:xfrm>
          <a:prstGeom prst="rect">
            <a:avLst/>
          </a:prstGeom>
        </p:spPr>
      </p:pic>
      <p:sp>
        <p:nvSpPr>
          <p:cNvPr id="9" name="文本框 8"/>
          <p:cNvSpPr txBox="1"/>
          <p:nvPr/>
        </p:nvSpPr>
        <p:spPr>
          <a:xfrm>
            <a:off x="1385930" y="2377002"/>
            <a:ext cx="4767735" cy="1862048"/>
          </a:xfrm>
          <a:prstGeom prst="rect">
            <a:avLst/>
          </a:prstGeom>
          <a:noFill/>
        </p:spPr>
        <p:txBody>
          <a:bodyPr wrap="square" rtlCol="0">
            <a:spAutoFit/>
          </a:bodyPr>
          <a:lstStyle/>
          <a:p>
            <a:pPr algn="dist"/>
            <a:r>
              <a:rPr lang="en-US" altLang="zh-CN" sz="11500" dirty="0">
                <a:latin typeface="Impact" panose="020B0806030902050204" pitchFamily="34" charset="0"/>
              </a:rPr>
              <a:t>PART02</a:t>
            </a:r>
            <a:endParaRPr lang="zh-CN" altLang="en-US" sz="11500" dirty="0">
              <a:latin typeface="Impact" panose="020B0806030902050204" pitchFamily="34" charset="0"/>
            </a:endParaRPr>
          </a:p>
        </p:txBody>
      </p:sp>
      <p:sp>
        <p:nvSpPr>
          <p:cNvPr id="10" name="文本框 9"/>
          <p:cNvSpPr txBox="1"/>
          <p:nvPr/>
        </p:nvSpPr>
        <p:spPr>
          <a:xfrm>
            <a:off x="1118244" y="4029511"/>
            <a:ext cx="5303106" cy="769441"/>
          </a:xfrm>
          <a:prstGeom prst="rect">
            <a:avLst/>
          </a:prstGeom>
          <a:noFill/>
        </p:spPr>
        <p:txBody>
          <a:bodyPr wrap="square" rtlCol="0">
            <a:spAutoFit/>
          </a:bodyPr>
          <a:lstStyle/>
          <a:p>
            <a:pPr algn="ctr"/>
            <a:r>
              <a:rPr lang="zh-TW" altLang="en-US" sz="4400" dirty="0">
                <a:latin typeface="方正兰亭粗黑简体" panose="02000000000000000000" pitchFamily="2" charset="-122"/>
                <a:ea typeface="方正兰亭粗黑简体" panose="02000000000000000000"/>
              </a:rPr>
              <a:t>機器學習工作流程</a:t>
            </a:r>
            <a:endParaRPr lang="zh-CN" altLang="en-US" sz="3200" dirty="0">
              <a:latin typeface="方正兰亭粗黑简体" panose="02000000000000000000" pitchFamily="2" charset="-122"/>
              <a:ea typeface="方正兰亭粗黑简体" panose="02000000000000000000"/>
            </a:endParaRPr>
          </a:p>
        </p:txBody>
      </p:sp>
      <p:sp>
        <p:nvSpPr>
          <p:cNvPr id="4" name="投影片編號版面配置區 3">
            <a:extLst>
              <a:ext uri="{FF2B5EF4-FFF2-40B4-BE49-F238E27FC236}">
                <a16:creationId xmlns:a16="http://schemas.microsoft.com/office/drawing/2014/main" id="{0B32F65E-2254-2749-121E-FA845EC7759F}"/>
              </a:ext>
            </a:extLst>
          </p:cNvPr>
          <p:cNvSpPr>
            <a:spLocks noGrp="1"/>
          </p:cNvSpPr>
          <p:nvPr>
            <p:ph type="sldNum" sz="quarter" idx="12"/>
          </p:nvPr>
        </p:nvSpPr>
        <p:spPr/>
        <p:txBody>
          <a:bodyPr/>
          <a:lstStyle/>
          <a:p>
            <a:fld id="{726FD8BB-E3C9-46DF-9B94-1AF8F33E9E37}" type="slidenum">
              <a:rPr lang="zh-CN" altLang="en-US" smtClean="0"/>
              <a:pPr/>
              <a:t>4</a:t>
            </a:fld>
            <a:endParaRPr lang="zh-CN" altLang="en-US"/>
          </a:p>
        </p:txBody>
      </p:sp>
    </p:spTree>
    <p:extLst>
      <p:ext uri="{BB962C8B-B14F-4D97-AF65-F5344CB8AC3E}">
        <p14:creationId xmlns:p14="http://schemas.microsoft.com/office/powerpoint/2010/main" val="14941797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3767F-D320-F351-D44C-6C4B7A5282CC}"/>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875772BD-1A90-BBFA-0A53-04278BA19D50}"/>
              </a:ext>
            </a:extLst>
          </p:cNvPr>
          <p:cNvSpPr>
            <a:spLocks noGrp="1"/>
          </p:cNvSpPr>
          <p:nvPr>
            <p:ph type="sldNum" sz="quarter" idx="12"/>
          </p:nvPr>
        </p:nvSpPr>
        <p:spPr/>
        <p:txBody>
          <a:bodyPr/>
          <a:lstStyle/>
          <a:p>
            <a:fld id="{A6C4F607-EBAE-4F4B-BF62-778A00D92850}" type="slidenum">
              <a:rPr lang="en-US" altLang="zh-TW" smtClean="0"/>
              <a:pPr/>
              <a:t>5</a:t>
            </a:fld>
            <a:endParaRPr lang="en-US" dirty="0"/>
          </a:p>
        </p:txBody>
      </p:sp>
      <p:sp>
        <p:nvSpPr>
          <p:cNvPr id="4" name="文字版面配置區 3">
            <a:extLst>
              <a:ext uri="{FF2B5EF4-FFF2-40B4-BE49-F238E27FC236}">
                <a16:creationId xmlns:a16="http://schemas.microsoft.com/office/drawing/2014/main" id="{E92E8181-DBBA-FD83-657E-128C6D01290C}"/>
              </a:ext>
            </a:extLst>
          </p:cNvPr>
          <p:cNvSpPr>
            <a:spLocks noGrp="1"/>
          </p:cNvSpPr>
          <p:nvPr>
            <p:ph type="body" sz="quarter" idx="13"/>
          </p:nvPr>
        </p:nvSpPr>
        <p:spPr/>
        <p:txBody>
          <a:bodyPr>
            <a:normAutofit/>
          </a:bodyPr>
          <a:lstStyle/>
          <a:p>
            <a:r>
              <a:rPr lang="en-US" altLang="zh-TW" dirty="0"/>
              <a:t>01</a:t>
            </a:r>
            <a:endParaRPr lang="zh-TW" altLang="en-US" dirty="0"/>
          </a:p>
        </p:txBody>
      </p:sp>
      <p:sp>
        <p:nvSpPr>
          <p:cNvPr id="5" name="內容版面配置區 4">
            <a:extLst>
              <a:ext uri="{FF2B5EF4-FFF2-40B4-BE49-F238E27FC236}">
                <a16:creationId xmlns:a16="http://schemas.microsoft.com/office/drawing/2014/main" id="{89332CEB-CCDA-562D-949B-1888C48B825C}"/>
              </a:ext>
            </a:extLst>
          </p:cNvPr>
          <p:cNvSpPr>
            <a:spLocks noGrp="1"/>
          </p:cNvSpPr>
          <p:nvPr>
            <p:ph sz="quarter" idx="14"/>
          </p:nvPr>
        </p:nvSpPr>
        <p:spPr/>
        <p:txBody>
          <a:bodyPr>
            <a:normAutofit/>
          </a:bodyPr>
          <a:lstStyle/>
          <a:p>
            <a:r>
              <a:rPr lang="zh-TW" altLang="en-US" dirty="0"/>
              <a:t>機器學習工作流程</a:t>
            </a:r>
          </a:p>
        </p:txBody>
      </p:sp>
      <p:sp>
        <p:nvSpPr>
          <p:cNvPr id="11" name="矩形: 圓角 10">
            <a:extLst>
              <a:ext uri="{FF2B5EF4-FFF2-40B4-BE49-F238E27FC236}">
                <a16:creationId xmlns:a16="http://schemas.microsoft.com/office/drawing/2014/main" id="{182052DC-2A64-44C2-2813-358BF48566E0}"/>
              </a:ext>
            </a:extLst>
          </p:cNvPr>
          <p:cNvSpPr/>
          <p:nvPr/>
        </p:nvSpPr>
        <p:spPr>
          <a:xfrm>
            <a:off x="1212571" y="1448771"/>
            <a:ext cx="4104861" cy="1123122"/>
          </a:xfrm>
          <a:prstGeom prst="roundRect">
            <a:avLst/>
          </a:prstGeom>
          <a:noFill/>
          <a:ln w="571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dirty="0">
                <a:solidFill>
                  <a:schemeClr val="tx1"/>
                </a:solidFill>
                <a:latin typeface="Noto Sans TC" panose="020B0200000000000000" pitchFamily="34" charset="-120"/>
                <a:ea typeface="Noto Sans TC" panose="020B0200000000000000" pitchFamily="34" charset="-120"/>
              </a:rPr>
              <a:t>1. </a:t>
            </a:r>
            <a:r>
              <a:rPr lang="zh-TW" altLang="en-US" dirty="0">
                <a:solidFill>
                  <a:schemeClr val="tx1"/>
                </a:solidFill>
                <a:latin typeface="Noto Sans TC" panose="020B0200000000000000" pitchFamily="34" charset="-120"/>
                <a:ea typeface="Noto Sans TC" panose="020B0200000000000000" pitchFamily="34" charset="-120"/>
              </a:rPr>
              <a:t>資料的取得</a:t>
            </a:r>
          </a:p>
        </p:txBody>
      </p:sp>
      <p:sp>
        <p:nvSpPr>
          <p:cNvPr id="22" name="矩形: 圓角 21">
            <a:extLst>
              <a:ext uri="{FF2B5EF4-FFF2-40B4-BE49-F238E27FC236}">
                <a16:creationId xmlns:a16="http://schemas.microsoft.com/office/drawing/2014/main" id="{8943DEE3-4DAA-0007-91EA-AF18B46B73FD}"/>
              </a:ext>
            </a:extLst>
          </p:cNvPr>
          <p:cNvSpPr/>
          <p:nvPr/>
        </p:nvSpPr>
        <p:spPr>
          <a:xfrm>
            <a:off x="1212571" y="3294908"/>
            <a:ext cx="4104861" cy="1123122"/>
          </a:xfrm>
          <a:prstGeom prst="roundRect">
            <a:avLst/>
          </a:prstGeom>
          <a:noFill/>
          <a:ln w="571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dirty="0">
                <a:solidFill>
                  <a:schemeClr val="tx1"/>
                </a:solidFill>
                <a:latin typeface="Noto Sans TC" panose="020B0200000000000000" pitchFamily="34" charset="-120"/>
                <a:ea typeface="Noto Sans TC" panose="020B0200000000000000" pitchFamily="34" charset="-120"/>
              </a:rPr>
              <a:t>2. </a:t>
            </a:r>
            <a:r>
              <a:rPr lang="zh-TW" altLang="en-US" dirty="0">
                <a:solidFill>
                  <a:schemeClr val="tx1"/>
                </a:solidFill>
                <a:latin typeface="Noto Sans TC" panose="020B0200000000000000" pitchFamily="34" charset="-120"/>
                <a:ea typeface="Noto Sans TC" panose="020B0200000000000000" pitchFamily="34" charset="-120"/>
              </a:rPr>
              <a:t>資料前處理</a:t>
            </a:r>
          </a:p>
        </p:txBody>
      </p:sp>
      <p:sp>
        <p:nvSpPr>
          <p:cNvPr id="23" name="矩形: 圓角 22">
            <a:extLst>
              <a:ext uri="{FF2B5EF4-FFF2-40B4-BE49-F238E27FC236}">
                <a16:creationId xmlns:a16="http://schemas.microsoft.com/office/drawing/2014/main" id="{0B745E61-6769-A778-17DD-BC917AEF7029}"/>
              </a:ext>
            </a:extLst>
          </p:cNvPr>
          <p:cNvSpPr/>
          <p:nvPr/>
        </p:nvSpPr>
        <p:spPr>
          <a:xfrm>
            <a:off x="1212570" y="5165892"/>
            <a:ext cx="4104861" cy="1123122"/>
          </a:xfrm>
          <a:prstGeom prst="roundRect">
            <a:avLst/>
          </a:prstGeom>
          <a:noFill/>
          <a:ln w="571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dirty="0">
                <a:solidFill>
                  <a:schemeClr val="tx1"/>
                </a:solidFill>
                <a:latin typeface="Noto Sans TC" panose="020B0200000000000000" pitchFamily="34" charset="-120"/>
                <a:ea typeface="Noto Sans TC" panose="020B0200000000000000" pitchFamily="34" charset="-120"/>
              </a:rPr>
              <a:t>3. </a:t>
            </a:r>
            <a:r>
              <a:rPr lang="zh-TW" altLang="en-US" dirty="0">
                <a:solidFill>
                  <a:schemeClr val="tx1"/>
                </a:solidFill>
                <a:latin typeface="Noto Sans TC" panose="020B0200000000000000" pitchFamily="34" charset="-120"/>
                <a:ea typeface="Noto Sans TC" panose="020B0200000000000000" pitchFamily="34" charset="-120"/>
              </a:rPr>
              <a:t>取特徵</a:t>
            </a:r>
          </a:p>
        </p:txBody>
      </p:sp>
      <p:sp>
        <p:nvSpPr>
          <p:cNvPr id="24" name="矩形: 圓角 23">
            <a:extLst>
              <a:ext uri="{FF2B5EF4-FFF2-40B4-BE49-F238E27FC236}">
                <a16:creationId xmlns:a16="http://schemas.microsoft.com/office/drawing/2014/main" id="{6C0C3BC4-F170-425F-DCBA-401800F7B9BD}"/>
              </a:ext>
            </a:extLst>
          </p:cNvPr>
          <p:cNvSpPr/>
          <p:nvPr/>
        </p:nvSpPr>
        <p:spPr>
          <a:xfrm>
            <a:off x="6558169" y="1448771"/>
            <a:ext cx="4104861" cy="1123122"/>
          </a:xfrm>
          <a:prstGeom prst="roundRect">
            <a:avLst/>
          </a:prstGeom>
          <a:noFill/>
          <a:ln w="571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dirty="0">
                <a:solidFill>
                  <a:schemeClr val="tx1"/>
                </a:solidFill>
                <a:latin typeface="Noto Sans TC" panose="020B0200000000000000" pitchFamily="34" charset="-120"/>
                <a:ea typeface="Noto Sans TC" panose="020B0200000000000000" pitchFamily="34" charset="-120"/>
              </a:rPr>
              <a:t>6. </a:t>
            </a:r>
            <a:r>
              <a:rPr lang="zh-TW" altLang="en-US" dirty="0">
                <a:solidFill>
                  <a:schemeClr val="tx1"/>
                </a:solidFill>
                <a:latin typeface="Noto Sans TC" panose="020B0200000000000000" pitchFamily="34" charset="-120"/>
                <a:ea typeface="Noto Sans TC" panose="020B0200000000000000" pitchFamily="34" charset="-120"/>
              </a:rPr>
              <a:t>對模型做可解釋性</a:t>
            </a:r>
            <a:endParaRPr lang="en-US" altLang="zh-TW" dirty="0">
              <a:solidFill>
                <a:schemeClr val="tx1"/>
              </a:solidFill>
              <a:latin typeface="Noto Sans TC" panose="020B0200000000000000" pitchFamily="34" charset="-120"/>
              <a:ea typeface="Noto Sans TC" panose="020B0200000000000000" pitchFamily="34" charset="-120"/>
            </a:endParaRPr>
          </a:p>
          <a:p>
            <a:endParaRPr lang="en-US" altLang="zh-TW" dirty="0">
              <a:solidFill>
                <a:schemeClr val="tx1"/>
              </a:solidFill>
              <a:latin typeface="Noto Sans TC" panose="020B0200000000000000" pitchFamily="34" charset="-120"/>
              <a:ea typeface="Noto Sans TC" panose="020B0200000000000000" pitchFamily="34" charset="-120"/>
            </a:endParaRPr>
          </a:p>
          <a:p>
            <a:endParaRPr lang="zh-TW" altLang="en-US" dirty="0">
              <a:solidFill>
                <a:schemeClr val="tx1"/>
              </a:solidFill>
              <a:latin typeface="Noto Sans TC" panose="020B0200000000000000" pitchFamily="34" charset="-120"/>
              <a:ea typeface="Noto Sans TC" panose="020B0200000000000000" pitchFamily="34" charset="-120"/>
            </a:endParaRPr>
          </a:p>
        </p:txBody>
      </p:sp>
      <p:sp>
        <p:nvSpPr>
          <p:cNvPr id="26" name="矩形: 圓角 25">
            <a:extLst>
              <a:ext uri="{FF2B5EF4-FFF2-40B4-BE49-F238E27FC236}">
                <a16:creationId xmlns:a16="http://schemas.microsoft.com/office/drawing/2014/main" id="{6626A10E-69C9-ABEC-5E80-6682F05DD982}"/>
              </a:ext>
            </a:extLst>
          </p:cNvPr>
          <p:cNvSpPr/>
          <p:nvPr/>
        </p:nvSpPr>
        <p:spPr>
          <a:xfrm>
            <a:off x="6558168" y="3297507"/>
            <a:ext cx="4104861" cy="1123122"/>
          </a:xfrm>
          <a:prstGeom prst="roundRect">
            <a:avLst/>
          </a:prstGeom>
          <a:noFill/>
          <a:ln w="571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dirty="0">
                <a:solidFill>
                  <a:schemeClr val="tx1"/>
                </a:solidFill>
                <a:latin typeface="Noto Sans TC" panose="020B0200000000000000" pitchFamily="34" charset="-120"/>
                <a:ea typeface="Noto Sans TC" panose="020B0200000000000000" pitchFamily="34" charset="-120"/>
              </a:rPr>
              <a:t>5. </a:t>
            </a:r>
            <a:r>
              <a:rPr lang="zh-TW" altLang="en-US" dirty="0">
                <a:solidFill>
                  <a:schemeClr val="tx1"/>
                </a:solidFill>
                <a:latin typeface="Noto Sans TC" panose="020B0200000000000000" pitchFamily="34" charset="-120"/>
                <a:ea typeface="Noto Sans TC" panose="020B0200000000000000" pitchFamily="34" charset="-120"/>
              </a:rPr>
              <a:t>挑選最好的模型</a:t>
            </a:r>
          </a:p>
        </p:txBody>
      </p:sp>
      <p:sp>
        <p:nvSpPr>
          <p:cNvPr id="27" name="矩形: 圓角 26">
            <a:extLst>
              <a:ext uri="{FF2B5EF4-FFF2-40B4-BE49-F238E27FC236}">
                <a16:creationId xmlns:a16="http://schemas.microsoft.com/office/drawing/2014/main" id="{201AB791-1BA6-6FEF-98DE-B89F3C02D3CA}"/>
              </a:ext>
            </a:extLst>
          </p:cNvPr>
          <p:cNvSpPr/>
          <p:nvPr/>
        </p:nvSpPr>
        <p:spPr>
          <a:xfrm>
            <a:off x="6558168" y="5165892"/>
            <a:ext cx="4104861" cy="1123122"/>
          </a:xfrm>
          <a:prstGeom prst="roundRect">
            <a:avLst/>
          </a:prstGeom>
          <a:noFill/>
          <a:ln w="571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dirty="0">
                <a:solidFill>
                  <a:schemeClr val="tx1"/>
                </a:solidFill>
                <a:latin typeface="Noto Sans TC" panose="020B0200000000000000" pitchFamily="34" charset="-120"/>
                <a:ea typeface="Noto Sans TC" panose="020B0200000000000000" pitchFamily="34" charset="-120"/>
              </a:rPr>
              <a:t>4. </a:t>
            </a:r>
            <a:r>
              <a:rPr lang="zh-TW" altLang="en-US" dirty="0">
                <a:solidFill>
                  <a:schemeClr val="tx1"/>
                </a:solidFill>
                <a:latin typeface="Noto Sans TC" panose="020B0200000000000000" pitchFamily="34" charset="-120"/>
                <a:ea typeface="Noto Sans TC" panose="020B0200000000000000" pitchFamily="34" charset="-120"/>
              </a:rPr>
              <a:t>訓練複數模型</a:t>
            </a:r>
          </a:p>
        </p:txBody>
      </p:sp>
      <p:sp>
        <p:nvSpPr>
          <p:cNvPr id="28" name="矩形 27">
            <a:extLst>
              <a:ext uri="{FF2B5EF4-FFF2-40B4-BE49-F238E27FC236}">
                <a16:creationId xmlns:a16="http://schemas.microsoft.com/office/drawing/2014/main" id="{9B9A7151-EE72-BEB6-F6C3-FD3FFC113209}"/>
              </a:ext>
            </a:extLst>
          </p:cNvPr>
          <p:cNvSpPr/>
          <p:nvPr/>
        </p:nvSpPr>
        <p:spPr>
          <a:xfrm>
            <a:off x="2315812" y="2557027"/>
            <a:ext cx="298179" cy="737881"/>
          </a:xfrm>
          <a:prstGeom prst="rect">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B9E2C9E6-A678-7A8E-9CB0-C256FBC48386}"/>
              </a:ext>
            </a:extLst>
          </p:cNvPr>
          <p:cNvSpPr/>
          <p:nvPr/>
        </p:nvSpPr>
        <p:spPr>
          <a:xfrm>
            <a:off x="2315812" y="4398336"/>
            <a:ext cx="298179" cy="737881"/>
          </a:xfrm>
          <a:prstGeom prst="rect">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15CB7EDA-95FA-E03D-DF59-20168EBF7BCC}"/>
              </a:ext>
            </a:extLst>
          </p:cNvPr>
          <p:cNvSpPr/>
          <p:nvPr/>
        </p:nvSpPr>
        <p:spPr>
          <a:xfrm>
            <a:off x="7676316" y="4398335"/>
            <a:ext cx="298179" cy="737881"/>
          </a:xfrm>
          <a:prstGeom prst="rect">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93832737-5EA6-9162-C39F-AA017012FE1B}"/>
              </a:ext>
            </a:extLst>
          </p:cNvPr>
          <p:cNvSpPr/>
          <p:nvPr/>
        </p:nvSpPr>
        <p:spPr>
          <a:xfrm>
            <a:off x="7676315" y="2560746"/>
            <a:ext cx="298179" cy="737881"/>
          </a:xfrm>
          <a:prstGeom prst="rect">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a:extLst>
              <a:ext uri="{FF2B5EF4-FFF2-40B4-BE49-F238E27FC236}">
                <a16:creationId xmlns:a16="http://schemas.microsoft.com/office/drawing/2014/main" id="{17E4746D-C410-F877-C776-86BF1D69670E}"/>
              </a:ext>
            </a:extLst>
          </p:cNvPr>
          <p:cNvSpPr/>
          <p:nvPr/>
        </p:nvSpPr>
        <p:spPr>
          <a:xfrm rot="16200000">
            <a:off x="5788710" y="4913301"/>
            <a:ext cx="298179" cy="1240737"/>
          </a:xfrm>
          <a:prstGeom prst="rect">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內容版面配置區 1">
            <a:extLst>
              <a:ext uri="{FF2B5EF4-FFF2-40B4-BE49-F238E27FC236}">
                <a16:creationId xmlns:a16="http://schemas.microsoft.com/office/drawing/2014/main" id="{3EC3CD99-5352-264D-E339-8BEDBA31F0C2}"/>
              </a:ext>
            </a:extLst>
          </p:cNvPr>
          <p:cNvSpPr>
            <a:spLocks noGrp="1"/>
          </p:cNvSpPr>
          <p:nvPr>
            <p:ph idx="1"/>
          </p:nvPr>
        </p:nvSpPr>
        <p:spPr>
          <a:xfrm>
            <a:off x="3265000" y="5379695"/>
            <a:ext cx="1694626" cy="909319"/>
          </a:xfrm>
        </p:spPr>
        <p:txBody>
          <a:bodyPr>
            <a:normAutofit/>
          </a:bodyPr>
          <a:lstStyle/>
          <a:p>
            <a:r>
              <a:rPr lang="zh-TW" altLang="en-US" sz="1800" dirty="0">
                <a:latin typeface="Noto Sans TC" panose="020B0200000000000000" pitchFamily="34" charset="-120"/>
                <a:ea typeface="Noto Sans TC" panose="020B0200000000000000" pitchFamily="34" charset="-120"/>
              </a:rPr>
              <a:t>特徵濾波</a:t>
            </a:r>
            <a:endParaRPr lang="en-US" altLang="zh-TW" sz="1800" dirty="0">
              <a:latin typeface="Noto Sans TC" panose="020B0200000000000000" pitchFamily="34" charset="-120"/>
              <a:ea typeface="Noto Sans TC" panose="020B0200000000000000" pitchFamily="34" charset="-120"/>
            </a:endParaRPr>
          </a:p>
          <a:p>
            <a:r>
              <a:rPr lang="zh-TW" altLang="en-US" sz="1800" dirty="0">
                <a:latin typeface="Noto Sans TC" panose="020B0200000000000000" pitchFamily="34" charset="-120"/>
                <a:ea typeface="Noto Sans TC" panose="020B0200000000000000" pitchFamily="34" charset="-120"/>
              </a:rPr>
              <a:t>特徵篩選</a:t>
            </a:r>
            <a:endParaRPr lang="en-US" altLang="zh-TW" sz="1800" dirty="0">
              <a:latin typeface="Noto Sans TC" panose="020B0200000000000000" pitchFamily="34" charset="-120"/>
              <a:ea typeface="Noto Sans TC" panose="020B0200000000000000" pitchFamily="34" charset="-120"/>
            </a:endParaRPr>
          </a:p>
          <a:p>
            <a:pPr marL="457200" lvl="1" indent="0">
              <a:buNone/>
            </a:pPr>
            <a:endParaRPr lang="en-US" altLang="zh-TW" sz="1800" dirty="0">
              <a:latin typeface="Noto Sans TC" panose="020B0200000000000000" pitchFamily="34" charset="-120"/>
              <a:ea typeface="Noto Sans TC" panose="020B0200000000000000" pitchFamily="34" charset="-120"/>
            </a:endParaRPr>
          </a:p>
        </p:txBody>
      </p:sp>
      <p:sp>
        <p:nvSpPr>
          <p:cNvPr id="34" name="內容版面配置區 1">
            <a:extLst>
              <a:ext uri="{FF2B5EF4-FFF2-40B4-BE49-F238E27FC236}">
                <a16:creationId xmlns:a16="http://schemas.microsoft.com/office/drawing/2014/main" id="{1AD400F8-1D15-5C14-4D09-5846F437D032}"/>
              </a:ext>
            </a:extLst>
          </p:cNvPr>
          <p:cNvSpPr txBox="1">
            <a:spLocks/>
          </p:cNvSpPr>
          <p:nvPr/>
        </p:nvSpPr>
        <p:spPr>
          <a:xfrm>
            <a:off x="8610597" y="5379694"/>
            <a:ext cx="1914941" cy="9093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3"/>
              </a:buBlip>
              <a:defRPr lang="zh-TW" altLang="en-US" sz="2400" b="0" kern="1200" baseline="0" dirty="0">
                <a:solidFill>
                  <a:schemeClr val="tx1"/>
                </a:solidFill>
                <a:latin typeface="Noto Sans TC" panose="020B0500000000000000"/>
                <a:ea typeface="標楷體" panose="03000509000000000000" pitchFamily="65" charset="-120"/>
                <a:cs typeface="+mn-cs"/>
              </a:defRPr>
            </a:lvl1pPr>
            <a:lvl2pPr marL="685800" indent="-228600" algn="l" defTabSz="914400" rtl="0" eaLnBrk="1" latinLnBrk="0" hangingPunct="1">
              <a:lnSpc>
                <a:spcPct val="90000"/>
              </a:lnSpc>
              <a:spcBef>
                <a:spcPts val="500"/>
              </a:spcBef>
              <a:buFontTx/>
              <a:buBlip>
                <a:blip r:embed="rId4"/>
              </a:buBlip>
              <a:defRPr lang="zh-TW" altLang="en-US" sz="2000" b="0" kern="1200" baseline="0" dirty="0">
                <a:solidFill>
                  <a:schemeClr val="tx1"/>
                </a:solidFill>
                <a:latin typeface="Noto Sans TC" panose="020B0500000000000000"/>
                <a:ea typeface="標楷體" panose="03000509000000000000" pitchFamily="65" charset="-120"/>
                <a:cs typeface="+mn-cs"/>
              </a:defRPr>
            </a:lvl2pPr>
            <a:lvl3pPr marL="1143000" indent="-228600" algn="l" defTabSz="914400" rtl="0" eaLnBrk="1" latinLnBrk="0" hangingPunct="1">
              <a:lnSpc>
                <a:spcPct val="90000"/>
              </a:lnSpc>
              <a:spcBef>
                <a:spcPts val="500"/>
              </a:spcBef>
              <a:buFontTx/>
              <a:buBlip>
                <a:blip r:embed="rId5"/>
              </a:buBlip>
              <a:defRPr lang="zh-TW" altLang="en-US" sz="1800" b="0" kern="1200" baseline="0" dirty="0">
                <a:solidFill>
                  <a:schemeClr val="tx1"/>
                </a:solidFill>
                <a:latin typeface="Noto Sans TC" panose="020B0500000000000000"/>
                <a:ea typeface="標楷體" panose="03000509000000000000" pitchFamily="65" charset="-120"/>
                <a:cs typeface="+mn-cs"/>
              </a:defRPr>
            </a:lvl3pPr>
            <a:lvl4pPr marL="1600200" indent="-228600" algn="l" defTabSz="914400" rtl="0" eaLnBrk="1" latinLnBrk="0" hangingPunct="1">
              <a:lnSpc>
                <a:spcPct val="90000"/>
              </a:lnSpc>
              <a:spcBef>
                <a:spcPts val="500"/>
              </a:spcBef>
              <a:buFontTx/>
              <a:buBlip>
                <a:blip r:embed="rId6"/>
              </a:buBlip>
              <a:defRPr lang="zh-TW" altLang="en-US" sz="1800" b="0" kern="1200" baseline="0" dirty="0">
                <a:solidFill>
                  <a:schemeClr val="tx1"/>
                </a:solidFill>
                <a:latin typeface="Noto Sans TC" panose="020B0500000000000000"/>
                <a:ea typeface="標楷體" panose="03000509000000000000" pitchFamily="65" charset="-120"/>
                <a:cs typeface="+mn-cs"/>
              </a:defRPr>
            </a:lvl4pPr>
            <a:lvl5pPr marL="2057400" indent="-228600" algn="l" defTabSz="914400" rtl="0" eaLnBrk="1" latinLnBrk="0" hangingPunct="1">
              <a:lnSpc>
                <a:spcPct val="90000"/>
              </a:lnSpc>
              <a:spcBef>
                <a:spcPts val="500"/>
              </a:spcBef>
              <a:buFontTx/>
              <a:buBlip>
                <a:blip r:embed="rId7"/>
              </a:buBlip>
              <a:defRPr lang="zh-TW" altLang="en-US" sz="1800" b="0" kern="1200" baseline="0" dirty="0">
                <a:solidFill>
                  <a:schemeClr val="tx1"/>
                </a:solidFill>
                <a:latin typeface="Noto Sans TC" panose="020B0500000000000000"/>
                <a:ea typeface="標楷體" panose="03000509000000000000" pitchFamily="65"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sz="1800" dirty="0">
                <a:latin typeface="Noto Sans TC" panose="020B0200000000000000" pitchFamily="34" charset="-120"/>
                <a:ea typeface="Noto Sans TC" panose="020B0200000000000000" pitchFamily="34" charset="-120"/>
              </a:rPr>
              <a:t>交叉驗證</a:t>
            </a:r>
            <a:endParaRPr lang="en-US" altLang="zh-TW" sz="1800" dirty="0">
              <a:latin typeface="Noto Sans TC" panose="020B0200000000000000" pitchFamily="34" charset="-120"/>
              <a:ea typeface="Noto Sans TC" panose="020B0200000000000000" pitchFamily="34" charset="-120"/>
            </a:endParaRPr>
          </a:p>
          <a:p>
            <a:r>
              <a:rPr lang="zh-TW" altLang="en-US" sz="1800" dirty="0">
                <a:latin typeface="Noto Sans TC" panose="020B0200000000000000" pitchFamily="34" charset="-120"/>
                <a:ea typeface="Noto Sans TC" panose="020B0200000000000000" pitchFamily="34" charset="-120"/>
              </a:rPr>
              <a:t>注意資料洩漏</a:t>
            </a:r>
          </a:p>
          <a:p>
            <a:pPr marL="457200" lvl="1" indent="0">
              <a:buFontTx/>
              <a:buNone/>
            </a:pPr>
            <a:endParaRPr lang="zh-TW" altLang="en-US" sz="1800" dirty="0">
              <a:latin typeface="Noto Sans TC" panose="020B0200000000000000" pitchFamily="34" charset="-120"/>
              <a:ea typeface="Noto Sans TC" panose="020B0200000000000000" pitchFamily="34" charset="-120"/>
            </a:endParaRPr>
          </a:p>
        </p:txBody>
      </p:sp>
      <p:sp>
        <p:nvSpPr>
          <p:cNvPr id="36" name="星形: 五角 35">
            <a:extLst>
              <a:ext uri="{FF2B5EF4-FFF2-40B4-BE49-F238E27FC236}">
                <a16:creationId xmlns:a16="http://schemas.microsoft.com/office/drawing/2014/main" id="{A4F23132-563D-D148-BB33-17D403448ADA}"/>
              </a:ext>
            </a:extLst>
          </p:cNvPr>
          <p:cNvSpPr/>
          <p:nvPr/>
        </p:nvSpPr>
        <p:spPr>
          <a:xfrm rot="857084">
            <a:off x="10456834" y="1267654"/>
            <a:ext cx="412388" cy="412388"/>
          </a:xfrm>
          <a:prstGeom prst="star5">
            <a:avLst>
              <a:gd name="adj" fmla="val 19321"/>
              <a:gd name="hf" fmla="val 105146"/>
              <a:gd name="vf" fmla="val 110557"/>
            </a:avLst>
          </a:prstGeom>
          <a:solidFill>
            <a:schemeClr val="accent4">
              <a:lumMod val="60000"/>
              <a:lumOff val="4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內容版面配置區 1">
            <a:extLst>
              <a:ext uri="{FF2B5EF4-FFF2-40B4-BE49-F238E27FC236}">
                <a16:creationId xmlns:a16="http://schemas.microsoft.com/office/drawing/2014/main" id="{12A08F03-9498-63C1-57F9-96DA5E928C89}"/>
              </a:ext>
            </a:extLst>
          </p:cNvPr>
          <p:cNvSpPr txBox="1">
            <a:spLocks/>
          </p:cNvSpPr>
          <p:nvPr/>
        </p:nvSpPr>
        <p:spPr>
          <a:xfrm>
            <a:off x="6650930" y="1950163"/>
            <a:ext cx="3874608" cy="8473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3"/>
              </a:buBlip>
              <a:defRPr lang="zh-TW" altLang="en-US" sz="2400" b="0" kern="1200" baseline="0" dirty="0">
                <a:solidFill>
                  <a:schemeClr val="tx1"/>
                </a:solidFill>
                <a:latin typeface="Noto Sans TC" panose="020B0500000000000000"/>
                <a:ea typeface="標楷體" panose="03000509000000000000" pitchFamily="65" charset="-120"/>
                <a:cs typeface="+mn-cs"/>
              </a:defRPr>
            </a:lvl1pPr>
            <a:lvl2pPr marL="685800" indent="-228600" algn="l" defTabSz="914400" rtl="0" eaLnBrk="1" latinLnBrk="0" hangingPunct="1">
              <a:lnSpc>
                <a:spcPct val="90000"/>
              </a:lnSpc>
              <a:spcBef>
                <a:spcPts val="500"/>
              </a:spcBef>
              <a:buFontTx/>
              <a:buBlip>
                <a:blip r:embed="rId4"/>
              </a:buBlip>
              <a:defRPr lang="zh-TW" altLang="en-US" sz="2000" b="0" kern="1200" baseline="0" dirty="0">
                <a:solidFill>
                  <a:schemeClr val="tx1"/>
                </a:solidFill>
                <a:latin typeface="Noto Sans TC" panose="020B0500000000000000"/>
                <a:ea typeface="標楷體" panose="03000509000000000000" pitchFamily="65" charset="-120"/>
                <a:cs typeface="+mn-cs"/>
              </a:defRPr>
            </a:lvl2pPr>
            <a:lvl3pPr marL="1143000" indent="-228600" algn="l" defTabSz="914400" rtl="0" eaLnBrk="1" latinLnBrk="0" hangingPunct="1">
              <a:lnSpc>
                <a:spcPct val="90000"/>
              </a:lnSpc>
              <a:spcBef>
                <a:spcPts val="500"/>
              </a:spcBef>
              <a:buFontTx/>
              <a:buBlip>
                <a:blip r:embed="rId5"/>
              </a:buBlip>
              <a:defRPr lang="zh-TW" altLang="en-US" sz="1800" b="0" kern="1200" baseline="0" dirty="0">
                <a:solidFill>
                  <a:schemeClr val="tx1"/>
                </a:solidFill>
                <a:latin typeface="Noto Sans TC" panose="020B0500000000000000"/>
                <a:ea typeface="標楷體" panose="03000509000000000000" pitchFamily="65" charset="-120"/>
                <a:cs typeface="+mn-cs"/>
              </a:defRPr>
            </a:lvl3pPr>
            <a:lvl4pPr marL="1600200" indent="-228600" algn="l" defTabSz="914400" rtl="0" eaLnBrk="1" latinLnBrk="0" hangingPunct="1">
              <a:lnSpc>
                <a:spcPct val="90000"/>
              </a:lnSpc>
              <a:spcBef>
                <a:spcPts val="500"/>
              </a:spcBef>
              <a:buFontTx/>
              <a:buBlip>
                <a:blip r:embed="rId6"/>
              </a:buBlip>
              <a:defRPr lang="zh-TW" altLang="en-US" sz="1800" b="0" kern="1200" baseline="0" dirty="0">
                <a:solidFill>
                  <a:schemeClr val="tx1"/>
                </a:solidFill>
                <a:latin typeface="Noto Sans TC" panose="020B0500000000000000"/>
                <a:ea typeface="標楷體" panose="03000509000000000000" pitchFamily="65" charset="-120"/>
                <a:cs typeface="+mn-cs"/>
              </a:defRPr>
            </a:lvl4pPr>
            <a:lvl5pPr marL="2057400" indent="-228600" algn="l" defTabSz="914400" rtl="0" eaLnBrk="1" latinLnBrk="0" hangingPunct="1">
              <a:lnSpc>
                <a:spcPct val="90000"/>
              </a:lnSpc>
              <a:spcBef>
                <a:spcPts val="500"/>
              </a:spcBef>
              <a:buFontTx/>
              <a:buBlip>
                <a:blip r:embed="rId7"/>
              </a:buBlip>
              <a:defRPr lang="zh-TW" altLang="en-US" sz="1800" b="0" kern="1200" baseline="0" dirty="0">
                <a:solidFill>
                  <a:schemeClr val="tx1"/>
                </a:solidFill>
                <a:latin typeface="Noto Sans TC" panose="020B0500000000000000"/>
                <a:ea typeface="標楷體" panose="03000509000000000000" pitchFamily="65"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sz="1600" dirty="0">
                <a:latin typeface="Noto Sans TC" panose="020B0200000000000000" pitchFamily="34" charset="-120"/>
                <a:ea typeface="Noto Sans TC" panose="020B0200000000000000" pitchFamily="34" charset="-120"/>
              </a:rPr>
              <a:t>模型具有合理的可解釋性，使用者會比較有信心去使用。</a:t>
            </a:r>
          </a:p>
        </p:txBody>
      </p:sp>
    </p:spTree>
    <p:extLst>
      <p:ext uri="{BB962C8B-B14F-4D97-AF65-F5344CB8AC3E}">
        <p14:creationId xmlns:p14="http://schemas.microsoft.com/office/powerpoint/2010/main" val="3028746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77893" y="190222"/>
            <a:ext cx="7736107" cy="6927508"/>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29016">
            <a:off x="521061" y="1548367"/>
            <a:ext cx="3966765" cy="3519317"/>
          </a:xfrm>
          <a:prstGeom prst="rect">
            <a:avLst/>
          </a:prstGeom>
        </p:spPr>
      </p:pic>
      <p:sp>
        <p:nvSpPr>
          <p:cNvPr id="9" name="文本框 8"/>
          <p:cNvSpPr txBox="1"/>
          <p:nvPr/>
        </p:nvSpPr>
        <p:spPr>
          <a:xfrm>
            <a:off x="1385930" y="2377002"/>
            <a:ext cx="4767735" cy="1862048"/>
          </a:xfrm>
          <a:prstGeom prst="rect">
            <a:avLst/>
          </a:prstGeom>
          <a:noFill/>
        </p:spPr>
        <p:txBody>
          <a:bodyPr wrap="square" rtlCol="0">
            <a:spAutoFit/>
          </a:bodyPr>
          <a:lstStyle/>
          <a:p>
            <a:pPr algn="dist"/>
            <a:r>
              <a:rPr lang="en-US" altLang="zh-CN" sz="11500" dirty="0">
                <a:latin typeface="Impact" panose="020B0806030902050204" pitchFamily="34" charset="0"/>
              </a:rPr>
              <a:t>PART03</a:t>
            </a:r>
            <a:endParaRPr lang="zh-CN" altLang="en-US" sz="11500" dirty="0">
              <a:latin typeface="Impact" panose="020B0806030902050204" pitchFamily="34" charset="0"/>
            </a:endParaRPr>
          </a:p>
        </p:txBody>
      </p:sp>
      <p:sp>
        <p:nvSpPr>
          <p:cNvPr id="10" name="文本框 9"/>
          <p:cNvSpPr txBox="1"/>
          <p:nvPr/>
        </p:nvSpPr>
        <p:spPr>
          <a:xfrm>
            <a:off x="1118244" y="4029511"/>
            <a:ext cx="5303106" cy="769441"/>
          </a:xfrm>
          <a:prstGeom prst="rect">
            <a:avLst/>
          </a:prstGeom>
          <a:noFill/>
        </p:spPr>
        <p:txBody>
          <a:bodyPr wrap="square" rtlCol="0">
            <a:spAutoFit/>
          </a:bodyPr>
          <a:lstStyle/>
          <a:p>
            <a:pPr algn="ctr"/>
            <a:r>
              <a:rPr lang="zh-TW" altLang="en-US" sz="4400" dirty="0">
                <a:latin typeface="方正兰亭粗黑简体" panose="02000000000000000000" pitchFamily="2" charset="-122"/>
                <a:ea typeface="方正兰亭粗黑简体" panose="02000000000000000000"/>
              </a:rPr>
              <a:t>實際應用舉例</a:t>
            </a:r>
            <a:endParaRPr lang="zh-CN" altLang="en-US" sz="3200" dirty="0">
              <a:latin typeface="方正兰亭粗黑简体" panose="02000000000000000000" pitchFamily="2" charset="-122"/>
              <a:ea typeface="方正兰亭粗黑简体" panose="02000000000000000000"/>
            </a:endParaRPr>
          </a:p>
        </p:txBody>
      </p:sp>
      <p:sp>
        <p:nvSpPr>
          <p:cNvPr id="4" name="投影片編號版面配置區 3">
            <a:extLst>
              <a:ext uri="{FF2B5EF4-FFF2-40B4-BE49-F238E27FC236}">
                <a16:creationId xmlns:a16="http://schemas.microsoft.com/office/drawing/2014/main" id="{0B32F65E-2254-2749-121E-FA845EC7759F}"/>
              </a:ext>
            </a:extLst>
          </p:cNvPr>
          <p:cNvSpPr>
            <a:spLocks noGrp="1"/>
          </p:cNvSpPr>
          <p:nvPr>
            <p:ph type="sldNum" sz="quarter" idx="12"/>
          </p:nvPr>
        </p:nvSpPr>
        <p:spPr/>
        <p:txBody>
          <a:bodyPr/>
          <a:lstStyle/>
          <a:p>
            <a:fld id="{726FD8BB-E3C9-46DF-9B94-1AF8F33E9E37}" type="slidenum">
              <a:rPr lang="zh-CN" altLang="en-US" smtClean="0"/>
              <a:pPr/>
              <a:t>6</a:t>
            </a:fld>
            <a:endParaRPr lang="zh-CN" altLang="en-US"/>
          </a:p>
        </p:txBody>
      </p:sp>
    </p:spTree>
    <p:extLst>
      <p:ext uri="{BB962C8B-B14F-4D97-AF65-F5344CB8AC3E}">
        <p14:creationId xmlns:p14="http://schemas.microsoft.com/office/powerpoint/2010/main" val="2076094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5D435-8AC9-3187-4A45-9C7CB85F85B2}"/>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89D8C715-EE65-FCC3-B8CA-C8CE446896B3}"/>
              </a:ext>
            </a:extLst>
          </p:cNvPr>
          <p:cNvSpPr>
            <a:spLocks noGrp="1"/>
          </p:cNvSpPr>
          <p:nvPr>
            <p:ph type="sldNum" sz="quarter" idx="12"/>
          </p:nvPr>
        </p:nvSpPr>
        <p:spPr/>
        <p:txBody>
          <a:bodyPr/>
          <a:lstStyle/>
          <a:p>
            <a:fld id="{A6C4F607-EBAE-4F4B-BF62-778A00D92850}" type="slidenum">
              <a:rPr lang="en-US" altLang="zh-TW" smtClean="0"/>
              <a:pPr/>
              <a:t>7</a:t>
            </a:fld>
            <a:endParaRPr lang="en-US" dirty="0"/>
          </a:p>
        </p:txBody>
      </p:sp>
      <p:sp>
        <p:nvSpPr>
          <p:cNvPr id="4" name="文字版面配置區 3">
            <a:extLst>
              <a:ext uri="{FF2B5EF4-FFF2-40B4-BE49-F238E27FC236}">
                <a16:creationId xmlns:a16="http://schemas.microsoft.com/office/drawing/2014/main" id="{534E02E2-40DD-A974-38D9-D847DB51A28A}"/>
              </a:ext>
            </a:extLst>
          </p:cNvPr>
          <p:cNvSpPr>
            <a:spLocks noGrp="1"/>
          </p:cNvSpPr>
          <p:nvPr>
            <p:ph type="body" sz="quarter" idx="13"/>
          </p:nvPr>
        </p:nvSpPr>
        <p:spPr/>
        <p:txBody>
          <a:bodyPr>
            <a:normAutofit/>
          </a:bodyPr>
          <a:lstStyle/>
          <a:p>
            <a:r>
              <a:rPr lang="en-US" altLang="zh-TW" dirty="0"/>
              <a:t>01</a:t>
            </a:r>
            <a:endParaRPr lang="zh-TW" altLang="en-US" dirty="0"/>
          </a:p>
        </p:txBody>
      </p:sp>
      <p:sp>
        <p:nvSpPr>
          <p:cNvPr id="5" name="內容版面配置區 4">
            <a:extLst>
              <a:ext uri="{FF2B5EF4-FFF2-40B4-BE49-F238E27FC236}">
                <a16:creationId xmlns:a16="http://schemas.microsoft.com/office/drawing/2014/main" id="{5BD2B93D-43B9-9609-4A44-2257884F396D}"/>
              </a:ext>
            </a:extLst>
          </p:cNvPr>
          <p:cNvSpPr>
            <a:spLocks noGrp="1"/>
          </p:cNvSpPr>
          <p:nvPr>
            <p:ph sz="quarter" idx="14"/>
          </p:nvPr>
        </p:nvSpPr>
        <p:spPr/>
        <p:txBody>
          <a:bodyPr>
            <a:normAutofit/>
          </a:bodyPr>
          <a:lstStyle/>
          <a:p>
            <a:r>
              <a:rPr lang="zh-TW" altLang="en-US" dirty="0"/>
              <a:t>使用深度學習模型預測特發性黃斑上膜手術後的視覺預後</a:t>
            </a:r>
          </a:p>
        </p:txBody>
      </p:sp>
      <p:sp>
        <p:nvSpPr>
          <p:cNvPr id="2" name="內容版面配置區 1">
            <a:extLst>
              <a:ext uri="{FF2B5EF4-FFF2-40B4-BE49-F238E27FC236}">
                <a16:creationId xmlns:a16="http://schemas.microsoft.com/office/drawing/2014/main" id="{B2DF648E-7A14-551E-4A9A-7537027394D8}"/>
              </a:ext>
            </a:extLst>
          </p:cNvPr>
          <p:cNvSpPr>
            <a:spLocks noGrp="1"/>
          </p:cNvSpPr>
          <p:nvPr>
            <p:ph idx="1"/>
          </p:nvPr>
        </p:nvSpPr>
        <p:spPr>
          <a:xfrm>
            <a:off x="838200" y="1551963"/>
            <a:ext cx="10515600" cy="4625000"/>
          </a:xfrm>
        </p:spPr>
        <p:txBody>
          <a:bodyPr>
            <a:normAutofit/>
          </a:bodyPr>
          <a:lstStyle/>
          <a:p>
            <a:r>
              <a:rPr lang="zh-TW" altLang="en-US" dirty="0"/>
              <a:t>術後視力回復通常需至少三至六個月以上的時間，待受損的神經纖維和感光細胞逐漸回復。</a:t>
            </a:r>
            <a:endParaRPr lang="en-US" altLang="zh-TW" dirty="0"/>
          </a:p>
          <a:p>
            <a:r>
              <a:rPr lang="zh-TW" altLang="en-US" dirty="0"/>
              <a:t>確切的改善程度則難以預測，即使成功去除黃斑部皺褶，也並非所有患者都會有改善。</a:t>
            </a:r>
            <a:endParaRPr lang="en-US" altLang="zh-TW" dirty="0"/>
          </a:p>
          <a:p>
            <a:endParaRPr lang="en-US" altLang="zh-TW" dirty="0"/>
          </a:p>
          <a:p>
            <a:r>
              <a:rPr lang="zh-TW" altLang="en-US" dirty="0"/>
              <a:t>術後能恢復到多少？</a:t>
            </a:r>
            <a:endParaRPr lang="en-US" altLang="zh-TW" dirty="0"/>
          </a:p>
          <a:p>
            <a:r>
              <a:rPr lang="zh-TW" altLang="en-US" dirty="0"/>
              <a:t>眼科醫師認為手術很順利能恢復至少一半，</a:t>
            </a:r>
            <a:endParaRPr lang="en-US" altLang="zh-TW" dirty="0"/>
          </a:p>
          <a:p>
            <a:pPr marL="0" indent="0">
              <a:buNone/>
            </a:pPr>
            <a:r>
              <a:rPr lang="zh-TW" altLang="en-US" dirty="0"/>
              <a:t>   但實際恢復程度卻不到一半。</a:t>
            </a:r>
            <a:endParaRPr lang="en-US" altLang="zh-TW" dirty="0"/>
          </a:p>
        </p:txBody>
      </p:sp>
      <p:pic>
        <p:nvPicPr>
          <p:cNvPr id="59" name="圖片 58">
            <a:extLst>
              <a:ext uri="{FF2B5EF4-FFF2-40B4-BE49-F238E27FC236}">
                <a16:creationId xmlns:a16="http://schemas.microsoft.com/office/drawing/2014/main" id="{47CFB3A7-87F5-E722-3073-87B1BB6415DA}"/>
              </a:ext>
            </a:extLst>
          </p:cNvPr>
          <p:cNvPicPr>
            <a:picLocks noChangeAspect="1"/>
          </p:cNvPicPr>
          <p:nvPr/>
        </p:nvPicPr>
        <p:blipFill>
          <a:blip r:embed="rId3"/>
          <a:stretch>
            <a:fillRect/>
          </a:stretch>
        </p:blipFill>
        <p:spPr>
          <a:xfrm>
            <a:off x="7143544" y="3282182"/>
            <a:ext cx="4210256" cy="2709656"/>
          </a:xfrm>
          <a:prstGeom prst="rect">
            <a:avLst/>
          </a:prstGeom>
        </p:spPr>
      </p:pic>
    </p:spTree>
    <p:extLst>
      <p:ext uri="{BB962C8B-B14F-4D97-AF65-F5344CB8AC3E}">
        <p14:creationId xmlns:p14="http://schemas.microsoft.com/office/powerpoint/2010/main" val="2376917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5D435-8AC9-3187-4A45-9C7CB85F85B2}"/>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89D8C715-EE65-FCC3-B8CA-C8CE446896B3}"/>
              </a:ext>
            </a:extLst>
          </p:cNvPr>
          <p:cNvSpPr>
            <a:spLocks noGrp="1"/>
          </p:cNvSpPr>
          <p:nvPr>
            <p:ph type="sldNum" sz="quarter" idx="12"/>
          </p:nvPr>
        </p:nvSpPr>
        <p:spPr/>
        <p:txBody>
          <a:bodyPr/>
          <a:lstStyle/>
          <a:p>
            <a:fld id="{A6C4F607-EBAE-4F4B-BF62-778A00D92850}" type="slidenum">
              <a:rPr lang="en-US" altLang="zh-TW" smtClean="0"/>
              <a:pPr/>
              <a:t>8</a:t>
            </a:fld>
            <a:endParaRPr lang="en-US" dirty="0"/>
          </a:p>
        </p:txBody>
      </p:sp>
      <p:sp>
        <p:nvSpPr>
          <p:cNvPr id="4" name="文字版面配置區 3">
            <a:extLst>
              <a:ext uri="{FF2B5EF4-FFF2-40B4-BE49-F238E27FC236}">
                <a16:creationId xmlns:a16="http://schemas.microsoft.com/office/drawing/2014/main" id="{534E02E2-40DD-A974-38D9-D847DB51A28A}"/>
              </a:ext>
            </a:extLst>
          </p:cNvPr>
          <p:cNvSpPr>
            <a:spLocks noGrp="1"/>
          </p:cNvSpPr>
          <p:nvPr>
            <p:ph type="body" sz="quarter" idx="13"/>
          </p:nvPr>
        </p:nvSpPr>
        <p:spPr/>
        <p:txBody>
          <a:bodyPr>
            <a:normAutofit/>
          </a:bodyPr>
          <a:lstStyle/>
          <a:p>
            <a:r>
              <a:rPr lang="en-US" altLang="zh-TW" dirty="0"/>
              <a:t>01</a:t>
            </a:r>
            <a:endParaRPr lang="zh-TW" altLang="en-US" dirty="0"/>
          </a:p>
        </p:txBody>
      </p:sp>
      <p:sp>
        <p:nvSpPr>
          <p:cNvPr id="5" name="內容版面配置區 4">
            <a:extLst>
              <a:ext uri="{FF2B5EF4-FFF2-40B4-BE49-F238E27FC236}">
                <a16:creationId xmlns:a16="http://schemas.microsoft.com/office/drawing/2014/main" id="{5BD2B93D-43B9-9609-4A44-2257884F396D}"/>
              </a:ext>
            </a:extLst>
          </p:cNvPr>
          <p:cNvSpPr>
            <a:spLocks noGrp="1"/>
          </p:cNvSpPr>
          <p:nvPr>
            <p:ph sz="quarter" idx="14"/>
          </p:nvPr>
        </p:nvSpPr>
        <p:spPr/>
        <p:txBody>
          <a:bodyPr>
            <a:normAutofit/>
          </a:bodyPr>
          <a:lstStyle/>
          <a:p>
            <a:r>
              <a:rPr lang="zh-TW" altLang="en-US" dirty="0"/>
              <a:t>使用深度學習模型預測特發性黃斑上膜手術後的視覺預後</a:t>
            </a:r>
          </a:p>
        </p:txBody>
      </p:sp>
      <p:sp>
        <p:nvSpPr>
          <p:cNvPr id="8" name="矩形: 圓角 7">
            <a:extLst>
              <a:ext uri="{FF2B5EF4-FFF2-40B4-BE49-F238E27FC236}">
                <a16:creationId xmlns:a16="http://schemas.microsoft.com/office/drawing/2014/main" id="{9C1C4B0B-1547-D750-5676-658582B91AFC}"/>
              </a:ext>
            </a:extLst>
          </p:cNvPr>
          <p:cNvSpPr/>
          <p:nvPr/>
        </p:nvSpPr>
        <p:spPr>
          <a:xfrm>
            <a:off x="222836" y="3429000"/>
            <a:ext cx="1520687" cy="705678"/>
          </a:xfrm>
          <a:prstGeom prst="roundRect">
            <a:avLst/>
          </a:prstGeom>
          <a:noFill/>
          <a:ln w="38100">
            <a:solidFill>
              <a:srgbClr val="0C0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Noto Sans TC" panose="020B0200000000000000" pitchFamily="34" charset="-120"/>
                <a:ea typeface="Noto Sans TC" panose="020B0200000000000000" pitchFamily="34" charset="-120"/>
              </a:rPr>
              <a:t>OCT</a:t>
            </a:r>
            <a:r>
              <a:rPr lang="zh-TW" altLang="en-US" dirty="0">
                <a:solidFill>
                  <a:schemeClr val="tx1"/>
                </a:solidFill>
                <a:latin typeface="Noto Sans TC" panose="020B0200000000000000" pitchFamily="34" charset="-120"/>
                <a:ea typeface="Noto Sans TC" panose="020B0200000000000000" pitchFamily="34" charset="-120"/>
              </a:rPr>
              <a:t>影像</a:t>
            </a:r>
            <a:endParaRPr lang="en-US" altLang="zh-TW" dirty="0">
              <a:solidFill>
                <a:schemeClr val="tx1"/>
              </a:solidFill>
              <a:latin typeface="Noto Sans TC" panose="020B0200000000000000" pitchFamily="34" charset="-120"/>
              <a:ea typeface="Noto Sans TC" panose="020B0200000000000000" pitchFamily="34" charset="-120"/>
            </a:endParaRPr>
          </a:p>
          <a:p>
            <a:pPr algn="ctr"/>
            <a:r>
              <a:rPr lang="en-US" altLang="zh-TW" dirty="0">
                <a:solidFill>
                  <a:schemeClr val="tx1"/>
                </a:solidFill>
                <a:latin typeface="Noto Sans TC" panose="020B0200000000000000" pitchFamily="34" charset="-120"/>
                <a:ea typeface="Noto Sans TC" panose="020B0200000000000000" pitchFamily="34" charset="-120"/>
              </a:rPr>
              <a:t>644</a:t>
            </a:r>
            <a:r>
              <a:rPr lang="zh-TW" altLang="en-US" dirty="0">
                <a:solidFill>
                  <a:schemeClr val="tx1"/>
                </a:solidFill>
                <a:latin typeface="Noto Sans TC" panose="020B0200000000000000" pitchFamily="34" charset="-120"/>
                <a:ea typeface="Noto Sans TC" panose="020B0200000000000000" pitchFamily="34" charset="-120"/>
              </a:rPr>
              <a:t>張</a:t>
            </a:r>
          </a:p>
        </p:txBody>
      </p:sp>
      <p:sp>
        <p:nvSpPr>
          <p:cNvPr id="10" name="矩形: 圓角 9">
            <a:extLst>
              <a:ext uri="{FF2B5EF4-FFF2-40B4-BE49-F238E27FC236}">
                <a16:creationId xmlns:a16="http://schemas.microsoft.com/office/drawing/2014/main" id="{DE7B2E79-FDCA-05C7-9B49-0D457C7DF0F1}"/>
              </a:ext>
            </a:extLst>
          </p:cNvPr>
          <p:cNvSpPr/>
          <p:nvPr/>
        </p:nvSpPr>
        <p:spPr>
          <a:xfrm>
            <a:off x="1951383" y="3429000"/>
            <a:ext cx="1520687" cy="705678"/>
          </a:xfrm>
          <a:prstGeom prst="roundRect">
            <a:avLst/>
          </a:prstGeom>
          <a:noFill/>
          <a:ln w="38100">
            <a:solidFill>
              <a:srgbClr val="0C0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裁剪視網膜</a:t>
            </a:r>
            <a:endParaRPr lang="en-US" altLang="zh-TW" dirty="0">
              <a:solidFill>
                <a:schemeClr val="tx1"/>
              </a:solidFill>
              <a:latin typeface="Noto Sans TC" panose="020B0200000000000000" pitchFamily="34" charset="-120"/>
              <a:ea typeface="Noto Sans TC" panose="020B0200000000000000" pitchFamily="34" charset="-120"/>
            </a:endParaRPr>
          </a:p>
          <a:p>
            <a:pPr algn="ctr"/>
            <a:r>
              <a:rPr lang="en-US" altLang="zh-TW" dirty="0">
                <a:solidFill>
                  <a:schemeClr val="tx1"/>
                </a:solidFill>
                <a:latin typeface="Noto Sans TC" panose="020B0200000000000000" pitchFamily="34" charset="-120"/>
                <a:ea typeface="Noto Sans TC" panose="020B0200000000000000" pitchFamily="34" charset="-120"/>
              </a:rPr>
              <a:t>644</a:t>
            </a:r>
            <a:r>
              <a:rPr lang="zh-TW" altLang="en-US" dirty="0">
                <a:solidFill>
                  <a:schemeClr val="tx1"/>
                </a:solidFill>
                <a:latin typeface="Noto Sans TC" panose="020B0200000000000000" pitchFamily="34" charset="-120"/>
                <a:ea typeface="Noto Sans TC" panose="020B0200000000000000" pitchFamily="34" charset="-120"/>
              </a:rPr>
              <a:t>張</a:t>
            </a:r>
          </a:p>
        </p:txBody>
      </p:sp>
      <p:sp>
        <p:nvSpPr>
          <p:cNvPr id="11" name="內容版面配置區 1">
            <a:extLst>
              <a:ext uri="{FF2B5EF4-FFF2-40B4-BE49-F238E27FC236}">
                <a16:creationId xmlns:a16="http://schemas.microsoft.com/office/drawing/2014/main" id="{2988054C-4346-649B-AA75-C9CED2E9403C}"/>
              </a:ext>
            </a:extLst>
          </p:cNvPr>
          <p:cNvSpPr>
            <a:spLocks noGrp="1"/>
          </p:cNvSpPr>
          <p:nvPr>
            <p:ph idx="1"/>
          </p:nvPr>
        </p:nvSpPr>
        <p:spPr>
          <a:xfrm>
            <a:off x="838200" y="1551963"/>
            <a:ext cx="10515600" cy="4625000"/>
          </a:xfrm>
        </p:spPr>
        <p:txBody>
          <a:bodyPr>
            <a:normAutofit/>
          </a:bodyPr>
          <a:lstStyle/>
          <a:p>
            <a:r>
              <a:rPr lang="en-US" altLang="zh-TW" dirty="0"/>
              <a:t>OCT</a:t>
            </a:r>
            <a:r>
              <a:rPr lang="zh-TW" altLang="en-US" dirty="0"/>
              <a:t>影像若以回歸問題預測恢復 幾</a:t>
            </a:r>
            <a:r>
              <a:rPr lang="en-US" altLang="zh-TW" dirty="0"/>
              <a:t>%</a:t>
            </a:r>
            <a:r>
              <a:rPr lang="zh-TW" altLang="en-US" dirty="0"/>
              <a:t> 需要大量資料，而使用的眼科資料只有幾百張，所以將問題改成分類問題，一般以恢復程度達 </a:t>
            </a:r>
            <a:r>
              <a:rPr lang="en-US" altLang="zh-TW" dirty="0"/>
              <a:t>2%</a:t>
            </a:r>
            <a:r>
              <a:rPr lang="zh-TW" altLang="en-US" dirty="0"/>
              <a:t> 為界線。</a:t>
            </a:r>
            <a:endParaRPr lang="en-US" altLang="zh-TW" dirty="0"/>
          </a:p>
        </p:txBody>
      </p:sp>
      <p:sp>
        <p:nvSpPr>
          <p:cNvPr id="12" name="矩形: 圓角 11">
            <a:extLst>
              <a:ext uri="{FF2B5EF4-FFF2-40B4-BE49-F238E27FC236}">
                <a16:creationId xmlns:a16="http://schemas.microsoft.com/office/drawing/2014/main" id="{3DE8CC3D-0344-9567-30ED-94A77F2D28E4}"/>
              </a:ext>
            </a:extLst>
          </p:cNvPr>
          <p:cNvSpPr/>
          <p:nvPr/>
        </p:nvSpPr>
        <p:spPr>
          <a:xfrm>
            <a:off x="4145845" y="3429000"/>
            <a:ext cx="1613451" cy="705678"/>
          </a:xfrm>
          <a:prstGeom prst="roundRect">
            <a:avLst/>
          </a:prstGeom>
          <a:noFill/>
          <a:ln w="38100">
            <a:solidFill>
              <a:srgbClr val="0C0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Noto Sans TC" panose="020B0200000000000000" pitchFamily="34" charset="-120"/>
                <a:ea typeface="Noto Sans TC" panose="020B0200000000000000" pitchFamily="34" charset="-120"/>
              </a:rPr>
              <a:t>P-IM</a:t>
            </a:r>
            <a:r>
              <a:rPr lang="zh-TW" altLang="en-US" dirty="0">
                <a:solidFill>
                  <a:schemeClr val="tx1"/>
                </a:solidFill>
                <a:latin typeface="Noto Sans TC" panose="020B0200000000000000" pitchFamily="34" charset="-120"/>
                <a:ea typeface="Noto Sans TC" panose="020B0200000000000000" pitchFamily="34" charset="-120"/>
              </a:rPr>
              <a:t>：</a:t>
            </a:r>
            <a:r>
              <a:rPr lang="en-US" altLang="zh-TW" dirty="0">
                <a:solidFill>
                  <a:schemeClr val="tx1"/>
                </a:solidFill>
                <a:latin typeface="Noto Sans TC" panose="020B0200000000000000" pitchFamily="34" charset="-120"/>
                <a:ea typeface="Noto Sans TC" panose="020B0200000000000000" pitchFamily="34" charset="-120"/>
              </a:rPr>
              <a:t>333</a:t>
            </a:r>
            <a:r>
              <a:rPr lang="zh-TW" altLang="en-US" dirty="0">
                <a:solidFill>
                  <a:schemeClr val="tx1"/>
                </a:solidFill>
                <a:latin typeface="Noto Sans TC" panose="020B0200000000000000" pitchFamily="34" charset="-120"/>
                <a:ea typeface="Noto Sans TC" panose="020B0200000000000000" pitchFamily="34" charset="-120"/>
              </a:rPr>
              <a:t>張</a:t>
            </a:r>
            <a:endParaRPr lang="en-US" altLang="zh-TW" dirty="0">
              <a:solidFill>
                <a:schemeClr val="tx1"/>
              </a:solidFill>
              <a:latin typeface="Noto Sans TC" panose="020B0200000000000000" pitchFamily="34" charset="-120"/>
              <a:ea typeface="Noto Sans TC" panose="020B0200000000000000" pitchFamily="34" charset="-120"/>
            </a:endParaRPr>
          </a:p>
          <a:p>
            <a:pPr algn="ctr"/>
            <a:r>
              <a:rPr lang="en-US" altLang="zh-TW" dirty="0">
                <a:solidFill>
                  <a:schemeClr val="tx1"/>
                </a:solidFill>
                <a:latin typeface="Noto Sans TC" panose="020B0200000000000000" pitchFamily="34" charset="-120"/>
                <a:ea typeface="Noto Sans TC" panose="020B0200000000000000" pitchFamily="34" charset="-120"/>
              </a:rPr>
              <a:t>L-IM</a:t>
            </a:r>
            <a:r>
              <a:rPr lang="zh-TW" altLang="en-US" dirty="0">
                <a:solidFill>
                  <a:schemeClr val="tx1"/>
                </a:solidFill>
                <a:latin typeface="Noto Sans TC" panose="020B0200000000000000" pitchFamily="34" charset="-120"/>
                <a:ea typeface="Noto Sans TC" panose="020B0200000000000000" pitchFamily="34" charset="-120"/>
              </a:rPr>
              <a:t>：</a:t>
            </a:r>
            <a:r>
              <a:rPr lang="en-US" altLang="zh-TW" dirty="0">
                <a:solidFill>
                  <a:schemeClr val="tx1"/>
                </a:solidFill>
                <a:latin typeface="Noto Sans TC" panose="020B0200000000000000" pitchFamily="34" charset="-120"/>
                <a:ea typeface="Noto Sans TC" panose="020B0200000000000000" pitchFamily="34" charset="-120"/>
              </a:rPr>
              <a:t>182</a:t>
            </a:r>
            <a:r>
              <a:rPr lang="zh-TW" altLang="en-US" dirty="0">
                <a:solidFill>
                  <a:schemeClr val="tx1"/>
                </a:solidFill>
                <a:latin typeface="Noto Sans TC" panose="020B0200000000000000" pitchFamily="34" charset="-120"/>
                <a:ea typeface="Noto Sans TC" panose="020B0200000000000000" pitchFamily="34" charset="-120"/>
              </a:rPr>
              <a:t>張</a:t>
            </a:r>
            <a:endParaRPr lang="en-US" altLang="zh-TW" dirty="0">
              <a:solidFill>
                <a:schemeClr val="tx1"/>
              </a:solidFill>
              <a:latin typeface="Noto Sans TC" panose="020B0200000000000000" pitchFamily="34" charset="-120"/>
              <a:ea typeface="Noto Sans TC" panose="020B0200000000000000" pitchFamily="34" charset="-120"/>
            </a:endParaRPr>
          </a:p>
        </p:txBody>
      </p:sp>
      <p:sp>
        <p:nvSpPr>
          <p:cNvPr id="13" name="矩形: 圓角 12">
            <a:extLst>
              <a:ext uri="{FF2B5EF4-FFF2-40B4-BE49-F238E27FC236}">
                <a16:creationId xmlns:a16="http://schemas.microsoft.com/office/drawing/2014/main" id="{4DB2527B-05F4-CF36-38A1-BFFB4BB3FF90}"/>
              </a:ext>
            </a:extLst>
          </p:cNvPr>
          <p:cNvSpPr/>
          <p:nvPr/>
        </p:nvSpPr>
        <p:spPr>
          <a:xfrm>
            <a:off x="4145844" y="4953198"/>
            <a:ext cx="1613451" cy="705678"/>
          </a:xfrm>
          <a:prstGeom prst="roundRect">
            <a:avLst/>
          </a:prstGeom>
          <a:noFill/>
          <a:ln w="38100">
            <a:solidFill>
              <a:srgbClr val="0C0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Noto Sans TC" panose="020B0200000000000000" pitchFamily="34" charset="-120"/>
                <a:ea typeface="Noto Sans TC" panose="020B0200000000000000" pitchFamily="34" charset="-120"/>
              </a:rPr>
              <a:t>P-IM</a:t>
            </a:r>
            <a:r>
              <a:rPr lang="zh-TW" altLang="en-US" dirty="0">
                <a:solidFill>
                  <a:schemeClr val="tx1"/>
                </a:solidFill>
                <a:latin typeface="Noto Sans TC" panose="020B0200000000000000" pitchFamily="34" charset="-120"/>
                <a:ea typeface="Noto Sans TC" panose="020B0200000000000000" pitchFamily="34" charset="-120"/>
              </a:rPr>
              <a:t>：</a:t>
            </a:r>
            <a:r>
              <a:rPr lang="en-US" altLang="zh-TW" dirty="0">
                <a:solidFill>
                  <a:schemeClr val="tx1"/>
                </a:solidFill>
                <a:latin typeface="Noto Sans TC" panose="020B0200000000000000" pitchFamily="34" charset="-120"/>
                <a:ea typeface="Noto Sans TC" panose="020B0200000000000000" pitchFamily="34" charset="-120"/>
              </a:rPr>
              <a:t>83</a:t>
            </a:r>
            <a:r>
              <a:rPr lang="zh-TW" altLang="en-US" dirty="0">
                <a:solidFill>
                  <a:schemeClr val="tx1"/>
                </a:solidFill>
                <a:latin typeface="Noto Sans TC" panose="020B0200000000000000" pitchFamily="34" charset="-120"/>
                <a:ea typeface="Noto Sans TC" panose="020B0200000000000000" pitchFamily="34" charset="-120"/>
              </a:rPr>
              <a:t>張</a:t>
            </a:r>
            <a:endParaRPr lang="en-US" altLang="zh-TW" dirty="0">
              <a:solidFill>
                <a:schemeClr val="tx1"/>
              </a:solidFill>
              <a:latin typeface="Noto Sans TC" panose="020B0200000000000000" pitchFamily="34" charset="-120"/>
              <a:ea typeface="Noto Sans TC" panose="020B0200000000000000" pitchFamily="34" charset="-120"/>
            </a:endParaRPr>
          </a:p>
          <a:p>
            <a:pPr algn="ctr"/>
            <a:r>
              <a:rPr lang="en-US" altLang="zh-TW" dirty="0">
                <a:solidFill>
                  <a:schemeClr val="tx1"/>
                </a:solidFill>
                <a:latin typeface="Noto Sans TC" panose="020B0200000000000000" pitchFamily="34" charset="-120"/>
                <a:ea typeface="Noto Sans TC" panose="020B0200000000000000" pitchFamily="34" charset="-120"/>
              </a:rPr>
              <a:t>L-IM</a:t>
            </a:r>
            <a:r>
              <a:rPr lang="zh-TW" altLang="en-US" dirty="0">
                <a:solidFill>
                  <a:schemeClr val="tx1"/>
                </a:solidFill>
                <a:latin typeface="Noto Sans TC" panose="020B0200000000000000" pitchFamily="34" charset="-120"/>
                <a:ea typeface="Noto Sans TC" panose="020B0200000000000000" pitchFamily="34" charset="-120"/>
              </a:rPr>
              <a:t>：</a:t>
            </a:r>
            <a:r>
              <a:rPr lang="en-US" altLang="zh-TW" dirty="0">
                <a:solidFill>
                  <a:schemeClr val="tx1"/>
                </a:solidFill>
                <a:latin typeface="Noto Sans TC" panose="020B0200000000000000" pitchFamily="34" charset="-120"/>
                <a:ea typeface="Noto Sans TC" panose="020B0200000000000000" pitchFamily="34" charset="-120"/>
              </a:rPr>
              <a:t>46</a:t>
            </a:r>
            <a:r>
              <a:rPr lang="zh-TW" altLang="en-US" dirty="0">
                <a:solidFill>
                  <a:schemeClr val="tx1"/>
                </a:solidFill>
                <a:latin typeface="Noto Sans TC" panose="020B0200000000000000" pitchFamily="34" charset="-120"/>
                <a:ea typeface="Noto Sans TC" panose="020B0200000000000000" pitchFamily="34" charset="-120"/>
              </a:rPr>
              <a:t>張</a:t>
            </a:r>
            <a:endParaRPr lang="en-US" altLang="zh-TW" dirty="0">
              <a:solidFill>
                <a:schemeClr val="tx1"/>
              </a:solidFill>
              <a:latin typeface="Noto Sans TC" panose="020B0200000000000000" pitchFamily="34" charset="-120"/>
              <a:ea typeface="Noto Sans TC" panose="020B0200000000000000" pitchFamily="34" charset="-120"/>
            </a:endParaRPr>
          </a:p>
        </p:txBody>
      </p:sp>
      <p:sp>
        <p:nvSpPr>
          <p:cNvPr id="14" name="矩形: 圓角 13">
            <a:extLst>
              <a:ext uri="{FF2B5EF4-FFF2-40B4-BE49-F238E27FC236}">
                <a16:creationId xmlns:a16="http://schemas.microsoft.com/office/drawing/2014/main" id="{F7CEBC04-8D9F-B278-DEBD-20C6D68B4716}"/>
              </a:ext>
            </a:extLst>
          </p:cNvPr>
          <p:cNvSpPr/>
          <p:nvPr/>
        </p:nvSpPr>
        <p:spPr>
          <a:xfrm>
            <a:off x="5974645" y="3429000"/>
            <a:ext cx="2007703" cy="705678"/>
          </a:xfrm>
          <a:prstGeom prst="roundRect">
            <a:avLst/>
          </a:prstGeom>
          <a:noFill/>
          <a:ln w="38100">
            <a:solidFill>
              <a:srgbClr val="0C0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Noto Sans TC" panose="020B0200000000000000" pitchFamily="34" charset="-120"/>
                <a:ea typeface="Noto Sans TC" panose="020B0200000000000000" pitchFamily="34" charset="-120"/>
              </a:rPr>
              <a:t>P-IM</a:t>
            </a:r>
            <a:r>
              <a:rPr lang="zh-TW" altLang="en-US" dirty="0">
                <a:solidFill>
                  <a:schemeClr val="tx1"/>
                </a:solidFill>
                <a:latin typeface="Noto Sans TC" panose="020B0200000000000000" pitchFamily="34" charset="-120"/>
                <a:ea typeface="Noto Sans TC" panose="020B0200000000000000" pitchFamily="34" charset="-120"/>
              </a:rPr>
              <a:t>：</a:t>
            </a:r>
            <a:r>
              <a:rPr lang="en-US" altLang="zh-TW" dirty="0">
                <a:solidFill>
                  <a:schemeClr val="tx1"/>
                </a:solidFill>
                <a:latin typeface="Noto Sans TC" panose="020B0200000000000000" pitchFamily="34" charset="-120"/>
                <a:ea typeface="Noto Sans TC" panose="020B0200000000000000" pitchFamily="34" charset="-120"/>
              </a:rPr>
              <a:t>666</a:t>
            </a:r>
            <a:r>
              <a:rPr lang="zh-TW" altLang="en-US" dirty="0">
                <a:solidFill>
                  <a:schemeClr val="tx1"/>
                </a:solidFill>
                <a:latin typeface="Noto Sans TC" panose="020B0200000000000000" pitchFamily="34" charset="-120"/>
                <a:ea typeface="Noto Sans TC" panose="020B0200000000000000" pitchFamily="34" charset="-120"/>
              </a:rPr>
              <a:t>張</a:t>
            </a:r>
            <a:r>
              <a:rPr lang="en-US" altLang="zh-TW" dirty="0">
                <a:solidFill>
                  <a:schemeClr val="tx1"/>
                </a:solidFill>
                <a:latin typeface="Noto Sans TC" panose="020B0200000000000000" pitchFamily="34" charset="-120"/>
                <a:ea typeface="Noto Sans TC" panose="020B0200000000000000" pitchFamily="34" charset="-120"/>
              </a:rPr>
              <a:t>(2x)</a:t>
            </a:r>
          </a:p>
          <a:p>
            <a:pPr algn="ctr"/>
            <a:r>
              <a:rPr lang="en-US" altLang="zh-TW" dirty="0">
                <a:solidFill>
                  <a:schemeClr val="tx1"/>
                </a:solidFill>
                <a:latin typeface="Noto Sans TC" panose="020B0200000000000000" pitchFamily="34" charset="-120"/>
                <a:ea typeface="Noto Sans TC" panose="020B0200000000000000" pitchFamily="34" charset="-120"/>
              </a:rPr>
              <a:t>L-IM</a:t>
            </a:r>
            <a:r>
              <a:rPr lang="zh-TW" altLang="en-US" dirty="0">
                <a:solidFill>
                  <a:schemeClr val="tx1"/>
                </a:solidFill>
                <a:latin typeface="Noto Sans TC" panose="020B0200000000000000" pitchFamily="34" charset="-120"/>
                <a:ea typeface="Noto Sans TC" panose="020B0200000000000000" pitchFamily="34" charset="-120"/>
              </a:rPr>
              <a:t>：</a:t>
            </a:r>
            <a:r>
              <a:rPr lang="en-US" altLang="zh-TW" dirty="0">
                <a:solidFill>
                  <a:schemeClr val="tx1"/>
                </a:solidFill>
                <a:latin typeface="Noto Sans TC" panose="020B0200000000000000" pitchFamily="34" charset="-120"/>
                <a:ea typeface="Noto Sans TC" panose="020B0200000000000000" pitchFamily="34" charset="-120"/>
              </a:rPr>
              <a:t>728</a:t>
            </a:r>
            <a:r>
              <a:rPr lang="zh-TW" altLang="en-US" dirty="0">
                <a:solidFill>
                  <a:schemeClr val="tx1"/>
                </a:solidFill>
                <a:latin typeface="Noto Sans TC" panose="020B0200000000000000" pitchFamily="34" charset="-120"/>
                <a:ea typeface="Noto Sans TC" panose="020B0200000000000000" pitchFamily="34" charset="-120"/>
              </a:rPr>
              <a:t>張</a:t>
            </a:r>
            <a:r>
              <a:rPr lang="en-US" altLang="zh-TW" dirty="0">
                <a:solidFill>
                  <a:schemeClr val="tx1"/>
                </a:solidFill>
                <a:latin typeface="Noto Sans TC" panose="020B0200000000000000" pitchFamily="34" charset="-120"/>
                <a:ea typeface="Noto Sans TC" panose="020B0200000000000000" pitchFamily="34" charset="-120"/>
              </a:rPr>
              <a:t>(4x)</a:t>
            </a:r>
          </a:p>
        </p:txBody>
      </p:sp>
      <p:sp>
        <p:nvSpPr>
          <p:cNvPr id="15" name="矩形: 圓角 14">
            <a:extLst>
              <a:ext uri="{FF2B5EF4-FFF2-40B4-BE49-F238E27FC236}">
                <a16:creationId xmlns:a16="http://schemas.microsoft.com/office/drawing/2014/main" id="{5B950A25-5FDD-5CA3-26E0-FF48C7B4070E}"/>
              </a:ext>
            </a:extLst>
          </p:cNvPr>
          <p:cNvSpPr/>
          <p:nvPr/>
        </p:nvSpPr>
        <p:spPr>
          <a:xfrm>
            <a:off x="8197697" y="3334578"/>
            <a:ext cx="1692966" cy="894521"/>
          </a:xfrm>
          <a:prstGeom prst="roundRect">
            <a:avLst/>
          </a:prstGeom>
          <a:noFill/>
          <a:ln w="38100">
            <a:solidFill>
              <a:srgbClr val="0C0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Noto Sans TC" panose="020B0200000000000000" pitchFamily="34" charset="-120"/>
                <a:ea typeface="Noto Sans TC" panose="020B0200000000000000" pitchFamily="34" charset="-120"/>
              </a:rPr>
              <a:t>Inception-V3</a:t>
            </a:r>
          </a:p>
          <a:p>
            <a:pPr algn="ctr"/>
            <a:r>
              <a:rPr lang="en-US" altLang="zh-TW" dirty="0">
                <a:solidFill>
                  <a:schemeClr val="tx1"/>
                </a:solidFill>
                <a:latin typeface="Noto Sans TC" panose="020B0200000000000000" pitchFamily="34" charset="-120"/>
                <a:ea typeface="Noto Sans TC" panose="020B0200000000000000" pitchFamily="34" charset="-120"/>
              </a:rPr>
              <a:t>ResNet-101</a:t>
            </a:r>
          </a:p>
          <a:p>
            <a:pPr algn="ctr"/>
            <a:r>
              <a:rPr lang="en-US" altLang="zh-TW" dirty="0">
                <a:solidFill>
                  <a:schemeClr val="tx1"/>
                </a:solidFill>
                <a:latin typeface="Noto Sans TC" panose="020B0200000000000000" pitchFamily="34" charset="-120"/>
                <a:ea typeface="Noto Sans TC" panose="020B0200000000000000" pitchFamily="34" charset="-120"/>
              </a:rPr>
              <a:t>VGG-19</a:t>
            </a:r>
          </a:p>
        </p:txBody>
      </p:sp>
      <p:sp>
        <p:nvSpPr>
          <p:cNvPr id="16" name="矩形: 圓角 15">
            <a:extLst>
              <a:ext uri="{FF2B5EF4-FFF2-40B4-BE49-F238E27FC236}">
                <a16:creationId xmlns:a16="http://schemas.microsoft.com/office/drawing/2014/main" id="{1A3639ED-A210-F23C-27CC-82195CB9574F}"/>
              </a:ext>
            </a:extLst>
          </p:cNvPr>
          <p:cNvSpPr/>
          <p:nvPr/>
        </p:nvSpPr>
        <p:spPr>
          <a:xfrm>
            <a:off x="10564437" y="3429000"/>
            <a:ext cx="1404727" cy="705678"/>
          </a:xfrm>
          <a:prstGeom prst="roundRect">
            <a:avLst/>
          </a:prstGeom>
          <a:noFill/>
          <a:ln w="38100">
            <a:solidFill>
              <a:srgbClr val="0C0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分類準確率</a:t>
            </a:r>
            <a:endParaRPr lang="en-US" altLang="zh-TW" dirty="0">
              <a:solidFill>
                <a:schemeClr val="tx1"/>
              </a:solidFill>
              <a:latin typeface="Noto Sans TC" panose="020B0200000000000000" pitchFamily="34" charset="-120"/>
              <a:ea typeface="Noto Sans TC" panose="020B0200000000000000" pitchFamily="34" charset="-120"/>
            </a:endParaRPr>
          </a:p>
        </p:txBody>
      </p:sp>
      <p:cxnSp>
        <p:nvCxnSpPr>
          <p:cNvPr id="18" name="直線單箭頭接點 17">
            <a:extLst>
              <a:ext uri="{FF2B5EF4-FFF2-40B4-BE49-F238E27FC236}">
                <a16:creationId xmlns:a16="http://schemas.microsoft.com/office/drawing/2014/main" id="{DF8900E2-0791-8607-B41C-329B438EAB9A}"/>
              </a:ext>
            </a:extLst>
          </p:cNvPr>
          <p:cNvCxnSpPr>
            <a:cxnSpLocks/>
            <a:stCxn id="8" idx="3"/>
            <a:endCxn id="10" idx="1"/>
          </p:cNvCxnSpPr>
          <p:nvPr/>
        </p:nvCxnSpPr>
        <p:spPr>
          <a:xfrm>
            <a:off x="1743523" y="3781839"/>
            <a:ext cx="207860" cy="0"/>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4EF303BD-B570-2B3E-91B6-E9513EFF00ED}"/>
              </a:ext>
            </a:extLst>
          </p:cNvPr>
          <p:cNvCxnSpPr>
            <a:cxnSpLocks/>
            <a:stCxn id="10" idx="3"/>
            <a:endCxn id="12" idx="1"/>
          </p:cNvCxnSpPr>
          <p:nvPr/>
        </p:nvCxnSpPr>
        <p:spPr>
          <a:xfrm>
            <a:off x="3472070" y="3781839"/>
            <a:ext cx="673775" cy="0"/>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a:extLst>
              <a:ext uri="{FF2B5EF4-FFF2-40B4-BE49-F238E27FC236}">
                <a16:creationId xmlns:a16="http://schemas.microsoft.com/office/drawing/2014/main" id="{AD8308C8-B31C-AA6F-2F43-746976CF3122}"/>
              </a:ext>
            </a:extLst>
          </p:cNvPr>
          <p:cNvCxnSpPr>
            <a:cxnSpLocks/>
            <a:stCxn id="12" idx="3"/>
            <a:endCxn id="14" idx="1"/>
          </p:cNvCxnSpPr>
          <p:nvPr/>
        </p:nvCxnSpPr>
        <p:spPr>
          <a:xfrm>
            <a:off x="5759296" y="3781839"/>
            <a:ext cx="215349" cy="0"/>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9860D68B-2ED9-25B2-4C8D-830669B139DA}"/>
              </a:ext>
            </a:extLst>
          </p:cNvPr>
          <p:cNvCxnSpPr>
            <a:cxnSpLocks/>
            <a:stCxn id="14" idx="3"/>
            <a:endCxn id="15" idx="1"/>
          </p:cNvCxnSpPr>
          <p:nvPr/>
        </p:nvCxnSpPr>
        <p:spPr>
          <a:xfrm>
            <a:off x="7982348" y="3781839"/>
            <a:ext cx="215349" cy="0"/>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AC3EBED0-161D-39B5-287E-7B0FC90EB13A}"/>
              </a:ext>
            </a:extLst>
          </p:cNvPr>
          <p:cNvCxnSpPr>
            <a:cxnSpLocks/>
            <a:stCxn id="15" idx="3"/>
            <a:endCxn id="16" idx="1"/>
          </p:cNvCxnSpPr>
          <p:nvPr/>
        </p:nvCxnSpPr>
        <p:spPr>
          <a:xfrm>
            <a:off x="9890663" y="3781839"/>
            <a:ext cx="673774" cy="0"/>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34" name="接點: 肘形 33">
            <a:extLst>
              <a:ext uri="{FF2B5EF4-FFF2-40B4-BE49-F238E27FC236}">
                <a16:creationId xmlns:a16="http://schemas.microsoft.com/office/drawing/2014/main" id="{2C1B24E0-5BB4-CC13-2B8F-92FAB88D26A9}"/>
              </a:ext>
            </a:extLst>
          </p:cNvPr>
          <p:cNvCxnSpPr>
            <a:cxnSpLocks/>
            <a:endCxn id="13" idx="1"/>
          </p:cNvCxnSpPr>
          <p:nvPr/>
        </p:nvCxnSpPr>
        <p:spPr>
          <a:xfrm rot="16200000" flipH="1">
            <a:off x="3199256" y="4359449"/>
            <a:ext cx="1524200" cy="368976"/>
          </a:xfrm>
          <a:prstGeom prst="bentConnector2">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42" name="接點: 肘形 41">
            <a:extLst>
              <a:ext uri="{FF2B5EF4-FFF2-40B4-BE49-F238E27FC236}">
                <a16:creationId xmlns:a16="http://schemas.microsoft.com/office/drawing/2014/main" id="{2956BED4-5BE2-E5C8-727B-E8B4DAD13B36}"/>
              </a:ext>
            </a:extLst>
          </p:cNvPr>
          <p:cNvCxnSpPr>
            <a:cxnSpLocks/>
            <a:stCxn id="13" idx="3"/>
            <a:endCxn id="15" idx="3"/>
          </p:cNvCxnSpPr>
          <p:nvPr/>
        </p:nvCxnSpPr>
        <p:spPr>
          <a:xfrm flipV="1">
            <a:off x="5759295" y="3781839"/>
            <a:ext cx="4131368" cy="1524198"/>
          </a:xfrm>
          <a:prstGeom prst="bentConnector3">
            <a:avLst>
              <a:gd name="adj1" fmla="val 105533"/>
            </a:avLst>
          </a:prstGeom>
          <a:ln w="38100">
            <a:solidFill>
              <a:srgbClr val="0C0C0C"/>
            </a:solidFill>
          </a:ln>
        </p:spPr>
        <p:style>
          <a:lnRef idx="1">
            <a:schemeClr val="accent1"/>
          </a:lnRef>
          <a:fillRef idx="0">
            <a:schemeClr val="accent1"/>
          </a:fillRef>
          <a:effectRef idx="0">
            <a:schemeClr val="accent1"/>
          </a:effectRef>
          <a:fontRef idx="minor">
            <a:schemeClr val="tx1"/>
          </a:fontRef>
        </p:style>
      </p:cxnSp>
      <p:sp>
        <p:nvSpPr>
          <p:cNvPr id="45" name="文字方塊 44">
            <a:extLst>
              <a:ext uri="{FF2B5EF4-FFF2-40B4-BE49-F238E27FC236}">
                <a16:creationId xmlns:a16="http://schemas.microsoft.com/office/drawing/2014/main" id="{7A572E10-2A7F-90E1-B3AA-81BFA766DFEC}"/>
              </a:ext>
            </a:extLst>
          </p:cNvPr>
          <p:cNvSpPr txBox="1"/>
          <p:nvPr/>
        </p:nvSpPr>
        <p:spPr>
          <a:xfrm>
            <a:off x="8259350" y="2958827"/>
            <a:ext cx="1569660" cy="369332"/>
          </a:xfrm>
          <a:prstGeom prst="rect">
            <a:avLst/>
          </a:prstGeom>
          <a:noFill/>
        </p:spPr>
        <p:txBody>
          <a:bodyPr wrap="none" rtlCol="0">
            <a:spAutoFit/>
          </a:bodyPr>
          <a:lstStyle/>
          <a:p>
            <a:r>
              <a:rPr lang="zh-TW" altLang="en-US" dirty="0">
                <a:latin typeface="Noto Sans TC" panose="020B0200000000000000" pitchFamily="34" charset="-120"/>
                <a:ea typeface="Noto Sans TC" panose="020B0200000000000000" pitchFamily="34" charset="-120"/>
              </a:rPr>
              <a:t>深度學習模型</a:t>
            </a:r>
          </a:p>
        </p:txBody>
      </p:sp>
      <p:sp>
        <p:nvSpPr>
          <p:cNvPr id="46" name="文字方塊 45">
            <a:extLst>
              <a:ext uri="{FF2B5EF4-FFF2-40B4-BE49-F238E27FC236}">
                <a16:creationId xmlns:a16="http://schemas.microsoft.com/office/drawing/2014/main" id="{3B6C80EC-E16F-5019-3C2C-003BAB857F52}"/>
              </a:ext>
            </a:extLst>
          </p:cNvPr>
          <p:cNvSpPr txBox="1"/>
          <p:nvPr/>
        </p:nvSpPr>
        <p:spPr>
          <a:xfrm>
            <a:off x="6432706" y="3048937"/>
            <a:ext cx="1107996" cy="369332"/>
          </a:xfrm>
          <a:prstGeom prst="rect">
            <a:avLst/>
          </a:prstGeom>
          <a:noFill/>
        </p:spPr>
        <p:txBody>
          <a:bodyPr wrap="none" rtlCol="0">
            <a:spAutoFit/>
          </a:bodyPr>
          <a:lstStyle/>
          <a:p>
            <a:r>
              <a:rPr lang="zh-TW" altLang="en-US" dirty="0">
                <a:latin typeface="Noto Sans TC" panose="020B0200000000000000" pitchFamily="34" charset="-120"/>
                <a:ea typeface="Noto Sans TC" panose="020B0200000000000000" pitchFamily="34" charset="-120"/>
              </a:rPr>
              <a:t>資料擴增</a:t>
            </a:r>
          </a:p>
        </p:txBody>
      </p:sp>
      <p:sp>
        <p:nvSpPr>
          <p:cNvPr id="47" name="文字方塊 46">
            <a:extLst>
              <a:ext uri="{FF2B5EF4-FFF2-40B4-BE49-F238E27FC236}">
                <a16:creationId xmlns:a16="http://schemas.microsoft.com/office/drawing/2014/main" id="{EE3C414F-E4ED-0574-3B10-8AB4C977980B}"/>
              </a:ext>
            </a:extLst>
          </p:cNvPr>
          <p:cNvSpPr txBox="1"/>
          <p:nvPr/>
        </p:nvSpPr>
        <p:spPr>
          <a:xfrm>
            <a:off x="4253499" y="3012700"/>
            <a:ext cx="1398140" cy="369332"/>
          </a:xfrm>
          <a:prstGeom prst="rect">
            <a:avLst/>
          </a:prstGeom>
          <a:noFill/>
        </p:spPr>
        <p:txBody>
          <a:bodyPr wrap="none" rtlCol="0">
            <a:spAutoFit/>
          </a:bodyPr>
          <a:lstStyle/>
          <a:p>
            <a:r>
              <a:rPr lang="en-US" altLang="zh-TW" dirty="0">
                <a:latin typeface="Noto Sans TC" panose="020B0200000000000000" pitchFamily="34" charset="-120"/>
                <a:ea typeface="Noto Sans TC" panose="020B0200000000000000" pitchFamily="34" charset="-120"/>
              </a:rPr>
              <a:t>80% </a:t>
            </a:r>
            <a:r>
              <a:rPr lang="zh-TW" altLang="en-US" dirty="0">
                <a:latin typeface="Noto Sans TC" panose="020B0200000000000000" pitchFamily="34" charset="-120"/>
                <a:ea typeface="Noto Sans TC" panose="020B0200000000000000" pitchFamily="34" charset="-120"/>
              </a:rPr>
              <a:t>訓練集</a:t>
            </a:r>
          </a:p>
        </p:txBody>
      </p:sp>
      <p:sp>
        <p:nvSpPr>
          <p:cNvPr id="48" name="文字方塊 47">
            <a:extLst>
              <a:ext uri="{FF2B5EF4-FFF2-40B4-BE49-F238E27FC236}">
                <a16:creationId xmlns:a16="http://schemas.microsoft.com/office/drawing/2014/main" id="{72208622-701C-2A61-65D3-EEAC49EA2CAF}"/>
              </a:ext>
            </a:extLst>
          </p:cNvPr>
          <p:cNvSpPr txBox="1"/>
          <p:nvPr/>
        </p:nvSpPr>
        <p:spPr>
          <a:xfrm>
            <a:off x="4252688" y="4553390"/>
            <a:ext cx="1398140" cy="369332"/>
          </a:xfrm>
          <a:prstGeom prst="rect">
            <a:avLst/>
          </a:prstGeom>
          <a:noFill/>
        </p:spPr>
        <p:txBody>
          <a:bodyPr wrap="none" rtlCol="0">
            <a:spAutoFit/>
          </a:bodyPr>
          <a:lstStyle/>
          <a:p>
            <a:r>
              <a:rPr lang="en-US" altLang="zh-TW" dirty="0">
                <a:latin typeface="Noto Sans TC" panose="020B0200000000000000" pitchFamily="34" charset="-120"/>
                <a:ea typeface="Noto Sans TC" panose="020B0200000000000000" pitchFamily="34" charset="-120"/>
              </a:rPr>
              <a:t>20% </a:t>
            </a:r>
            <a:r>
              <a:rPr lang="zh-TW" altLang="en-US" dirty="0">
                <a:latin typeface="Noto Sans TC" panose="020B0200000000000000" pitchFamily="34" charset="-120"/>
                <a:ea typeface="Noto Sans TC" panose="020B0200000000000000" pitchFamily="34" charset="-120"/>
              </a:rPr>
              <a:t>驗證集</a:t>
            </a:r>
          </a:p>
        </p:txBody>
      </p:sp>
      <p:sp>
        <p:nvSpPr>
          <p:cNvPr id="49" name="文字方塊 48">
            <a:extLst>
              <a:ext uri="{FF2B5EF4-FFF2-40B4-BE49-F238E27FC236}">
                <a16:creationId xmlns:a16="http://schemas.microsoft.com/office/drawing/2014/main" id="{EAF041BA-0E13-8F19-F84F-ADBBBCC186F2}"/>
              </a:ext>
            </a:extLst>
          </p:cNvPr>
          <p:cNvSpPr txBox="1"/>
          <p:nvPr/>
        </p:nvSpPr>
        <p:spPr>
          <a:xfrm>
            <a:off x="1926896" y="2752995"/>
            <a:ext cx="1569660" cy="646331"/>
          </a:xfrm>
          <a:prstGeom prst="rect">
            <a:avLst/>
          </a:prstGeom>
          <a:noFill/>
        </p:spPr>
        <p:txBody>
          <a:bodyPr wrap="none" rtlCol="0">
            <a:spAutoFit/>
          </a:bodyPr>
          <a:lstStyle/>
          <a:p>
            <a:pPr algn="ctr"/>
            <a:r>
              <a:rPr lang="zh-TW" altLang="en-US" dirty="0">
                <a:latin typeface="Noto Sans TC" panose="020B0200000000000000" pitchFamily="34" charset="-120"/>
                <a:ea typeface="Noto Sans TC" panose="020B0200000000000000" pitchFamily="34" charset="-120"/>
              </a:rPr>
              <a:t>手動裁剪</a:t>
            </a:r>
            <a:endParaRPr lang="en-US" altLang="zh-TW" dirty="0">
              <a:latin typeface="Noto Sans TC" panose="020B0200000000000000" pitchFamily="34" charset="-120"/>
              <a:ea typeface="Noto Sans TC" panose="020B0200000000000000" pitchFamily="34" charset="-120"/>
            </a:endParaRPr>
          </a:p>
          <a:p>
            <a:pPr algn="ctr"/>
            <a:r>
              <a:rPr lang="zh-TW" altLang="en-US" dirty="0">
                <a:latin typeface="Noto Sans TC" panose="020B0200000000000000" pitchFamily="34" charset="-120"/>
                <a:ea typeface="Noto Sans TC" panose="020B0200000000000000" pitchFamily="34" charset="-120"/>
              </a:rPr>
              <a:t>感興趣的部分</a:t>
            </a:r>
          </a:p>
        </p:txBody>
      </p:sp>
    </p:spTree>
    <p:extLst>
      <p:ext uri="{BB962C8B-B14F-4D97-AF65-F5344CB8AC3E}">
        <p14:creationId xmlns:p14="http://schemas.microsoft.com/office/powerpoint/2010/main" val="2322061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5D435-8AC9-3187-4A45-9C7CB85F85B2}"/>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89D8C715-EE65-FCC3-B8CA-C8CE446896B3}"/>
              </a:ext>
            </a:extLst>
          </p:cNvPr>
          <p:cNvSpPr>
            <a:spLocks noGrp="1"/>
          </p:cNvSpPr>
          <p:nvPr>
            <p:ph type="sldNum" sz="quarter" idx="12"/>
          </p:nvPr>
        </p:nvSpPr>
        <p:spPr/>
        <p:txBody>
          <a:bodyPr/>
          <a:lstStyle/>
          <a:p>
            <a:fld id="{A6C4F607-EBAE-4F4B-BF62-778A00D92850}" type="slidenum">
              <a:rPr lang="en-US" altLang="zh-TW" smtClean="0"/>
              <a:pPr/>
              <a:t>9</a:t>
            </a:fld>
            <a:endParaRPr lang="en-US" dirty="0"/>
          </a:p>
        </p:txBody>
      </p:sp>
      <p:sp>
        <p:nvSpPr>
          <p:cNvPr id="4" name="文字版面配置區 3">
            <a:extLst>
              <a:ext uri="{FF2B5EF4-FFF2-40B4-BE49-F238E27FC236}">
                <a16:creationId xmlns:a16="http://schemas.microsoft.com/office/drawing/2014/main" id="{534E02E2-40DD-A974-38D9-D847DB51A28A}"/>
              </a:ext>
            </a:extLst>
          </p:cNvPr>
          <p:cNvSpPr>
            <a:spLocks noGrp="1"/>
          </p:cNvSpPr>
          <p:nvPr>
            <p:ph type="body" sz="quarter" idx="13"/>
          </p:nvPr>
        </p:nvSpPr>
        <p:spPr/>
        <p:txBody>
          <a:bodyPr>
            <a:normAutofit/>
          </a:bodyPr>
          <a:lstStyle/>
          <a:p>
            <a:r>
              <a:rPr lang="en-US" altLang="zh-TW" dirty="0"/>
              <a:t>01</a:t>
            </a:r>
            <a:endParaRPr lang="zh-TW" altLang="en-US" dirty="0"/>
          </a:p>
        </p:txBody>
      </p:sp>
      <p:sp>
        <p:nvSpPr>
          <p:cNvPr id="5" name="內容版面配置區 4">
            <a:extLst>
              <a:ext uri="{FF2B5EF4-FFF2-40B4-BE49-F238E27FC236}">
                <a16:creationId xmlns:a16="http://schemas.microsoft.com/office/drawing/2014/main" id="{5BD2B93D-43B9-9609-4A44-2257884F396D}"/>
              </a:ext>
            </a:extLst>
          </p:cNvPr>
          <p:cNvSpPr>
            <a:spLocks noGrp="1"/>
          </p:cNvSpPr>
          <p:nvPr>
            <p:ph sz="quarter" idx="14"/>
          </p:nvPr>
        </p:nvSpPr>
        <p:spPr/>
        <p:txBody>
          <a:bodyPr>
            <a:normAutofit/>
          </a:bodyPr>
          <a:lstStyle/>
          <a:p>
            <a:r>
              <a:rPr lang="zh-TW" altLang="en-US" dirty="0"/>
              <a:t>使用深度學習模型預測特發性黃斑上膜手術後的視覺預後</a:t>
            </a:r>
          </a:p>
        </p:txBody>
      </p:sp>
      <p:sp>
        <p:nvSpPr>
          <p:cNvPr id="2" name="內容版面配置區 1">
            <a:extLst>
              <a:ext uri="{FF2B5EF4-FFF2-40B4-BE49-F238E27FC236}">
                <a16:creationId xmlns:a16="http://schemas.microsoft.com/office/drawing/2014/main" id="{B2DF648E-7A14-551E-4A9A-7537027394D8}"/>
              </a:ext>
            </a:extLst>
          </p:cNvPr>
          <p:cNvSpPr>
            <a:spLocks noGrp="1"/>
          </p:cNvSpPr>
          <p:nvPr>
            <p:ph idx="1"/>
          </p:nvPr>
        </p:nvSpPr>
        <p:spPr>
          <a:xfrm>
            <a:off x="838200" y="1551963"/>
            <a:ext cx="10515600" cy="4625000"/>
          </a:xfrm>
        </p:spPr>
        <p:txBody>
          <a:bodyPr>
            <a:normAutofit/>
          </a:bodyPr>
          <a:lstStyle/>
          <a:p>
            <a:r>
              <a:rPr lang="zh-TW" altLang="en-US" dirty="0"/>
              <a:t>協助一般眼科醫師</a:t>
            </a:r>
            <a:endParaRPr lang="en-US" altLang="zh-TW" dirty="0"/>
          </a:p>
          <a:p>
            <a:pPr lvl="1"/>
            <a:r>
              <a:rPr lang="zh-TW" altLang="en-US" dirty="0"/>
              <a:t>判斷黃斑上膜個案是否需要轉診，並提供是否需進一步檢查或治療的建議。</a:t>
            </a:r>
            <a:endParaRPr lang="en-US" altLang="zh-TW" dirty="0"/>
          </a:p>
          <a:p>
            <a:endParaRPr lang="en-US" altLang="zh-TW" dirty="0"/>
          </a:p>
          <a:p>
            <a:r>
              <a:rPr lang="zh-TW" altLang="en-US" dirty="0"/>
              <a:t>協助視網膜專科醫師</a:t>
            </a:r>
            <a:endParaRPr lang="en-US" altLang="zh-TW" dirty="0"/>
          </a:p>
          <a:p>
            <a:pPr lvl="1"/>
            <a:r>
              <a:rPr lang="zh-TW" altLang="en-US" dirty="0"/>
              <a:t>若患者健康狀況不佳、年齡較高或配合度低，其術後預後不佳，建議持續觀察即可。</a:t>
            </a:r>
            <a:endParaRPr lang="en-US" altLang="zh-TW" dirty="0"/>
          </a:p>
          <a:p>
            <a:pPr lvl="1"/>
            <a:r>
              <a:rPr lang="zh-TW" altLang="en-US" dirty="0"/>
              <a:t>若同時存在黃斑上膜與顯著白內障，則依模型評估建議手術方案。</a:t>
            </a:r>
            <a:endParaRPr lang="en-US" altLang="zh-TW" dirty="0"/>
          </a:p>
        </p:txBody>
      </p:sp>
    </p:spTree>
    <p:extLst>
      <p:ext uri="{BB962C8B-B14F-4D97-AF65-F5344CB8AC3E}">
        <p14:creationId xmlns:p14="http://schemas.microsoft.com/office/powerpoint/2010/main" val="3290078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5D435-8AC9-3187-4A45-9C7CB85F85B2}"/>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89D8C715-EE65-FCC3-B8CA-C8CE446896B3}"/>
              </a:ext>
            </a:extLst>
          </p:cNvPr>
          <p:cNvSpPr>
            <a:spLocks noGrp="1"/>
          </p:cNvSpPr>
          <p:nvPr>
            <p:ph type="sldNum" sz="quarter" idx="12"/>
          </p:nvPr>
        </p:nvSpPr>
        <p:spPr/>
        <p:txBody>
          <a:bodyPr/>
          <a:lstStyle/>
          <a:p>
            <a:fld id="{A6C4F607-EBAE-4F4B-BF62-778A00D92850}" type="slidenum">
              <a:rPr lang="en-US" altLang="zh-TW" smtClean="0"/>
              <a:pPr/>
              <a:t>10</a:t>
            </a:fld>
            <a:endParaRPr lang="en-US" dirty="0"/>
          </a:p>
        </p:txBody>
      </p:sp>
      <p:sp>
        <p:nvSpPr>
          <p:cNvPr id="4" name="文字版面配置區 3">
            <a:extLst>
              <a:ext uri="{FF2B5EF4-FFF2-40B4-BE49-F238E27FC236}">
                <a16:creationId xmlns:a16="http://schemas.microsoft.com/office/drawing/2014/main" id="{534E02E2-40DD-A974-38D9-D847DB51A28A}"/>
              </a:ext>
            </a:extLst>
          </p:cNvPr>
          <p:cNvSpPr>
            <a:spLocks noGrp="1"/>
          </p:cNvSpPr>
          <p:nvPr>
            <p:ph type="body" sz="quarter" idx="13"/>
          </p:nvPr>
        </p:nvSpPr>
        <p:spPr/>
        <p:txBody>
          <a:bodyPr>
            <a:normAutofit/>
          </a:bodyPr>
          <a:lstStyle/>
          <a:p>
            <a:r>
              <a:rPr lang="en-US" altLang="zh-TW" dirty="0"/>
              <a:t>02</a:t>
            </a:r>
            <a:endParaRPr lang="zh-TW" altLang="en-US" dirty="0"/>
          </a:p>
        </p:txBody>
      </p:sp>
      <p:sp>
        <p:nvSpPr>
          <p:cNvPr id="5" name="內容版面配置區 4">
            <a:extLst>
              <a:ext uri="{FF2B5EF4-FFF2-40B4-BE49-F238E27FC236}">
                <a16:creationId xmlns:a16="http://schemas.microsoft.com/office/drawing/2014/main" id="{5BD2B93D-43B9-9609-4A44-2257884F396D}"/>
              </a:ext>
            </a:extLst>
          </p:cNvPr>
          <p:cNvSpPr>
            <a:spLocks noGrp="1"/>
          </p:cNvSpPr>
          <p:nvPr>
            <p:ph sz="quarter" idx="14"/>
          </p:nvPr>
        </p:nvSpPr>
        <p:spPr>
          <a:xfrm>
            <a:off x="1443358" y="460690"/>
            <a:ext cx="10324572" cy="553245"/>
          </a:xfrm>
        </p:spPr>
        <p:txBody>
          <a:bodyPr>
            <a:normAutofit/>
          </a:bodyPr>
          <a:lstStyle/>
          <a:p>
            <a:r>
              <a:rPr lang="zh-TW" altLang="en-US" dirty="0"/>
              <a:t>以型態定量與放射組學分析預測兒童幕上低級別膠質瘤相關癲癇</a:t>
            </a:r>
          </a:p>
        </p:txBody>
      </p:sp>
      <p:sp>
        <p:nvSpPr>
          <p:cNvPr id="2" name="內容版面配置區 1">
            <a:extLst>
              <a:ext uri="{FF2B5EF4-FFF2-40B4-BE49-F238E27FC236}">
                <a16:creationId xmlns:a16="http://schemas.microsoft.com/office/drawing/2014/main" id="{B2DF648E-7A14-551E-4A9A-7537027394D8}"/>
              </a:ext>
            </a:extLst>
          </p:cNvPr>
          <p:cNvSpPr>
            <a:spLocks noGrp="1"/>
          </p:cNvSpPr>
          <p:nvPr>
            <p:ph idx="1"/>
          </p:nvPr>
        </p:nvSpPr>
        <p:spPr>
          <a:xfrm>
            <a:off x="5052760" y="3646046"/>
            <a:ext cx="2421835" cy="2227980"/>
          </a:xfrm>
        </p:spPr>
        <p:txBody>
          <a:bodyPr>
            <a:normAutofit/>
          </a:bodyPr>
          <a:lstStyle/>
          <a:p>
            <a:r>
              <a:rPr lang="zh-TW" altLang="en-US" sz="1800" dirty="0">
                <a:latin typeface="Noto Sans TC" panose="020B0200000000000000" pitchFamily="34" charset="-120"/>
                <a:ea typeface="Noto Sans TC" panose="020B0200000000000000" pitchFamily="34" charset="-120"/>
              </a:rPr>
              <a:t>重採樣</a:t>
            </a:r>
            <a:endParaRPr lang="en-US" altLang="zh-TW" sz="1800" dirty="0">
              <a:latin typeface="Noto Sans TC" panose="020B0200000000000000" pitchFamily="34" charset="-120"/>
              <a:ea typeface="Noto Sans TC" panose="020B0200000000000000" pitchFamily="34" charset="-120"/>
            </a:endParaRPr>
          </a:p>
          <a:p>
            <a:r>
              <a:rPr lang="zh-TW" altLang="en-US" sz="1800" dirty="0">
                <a:latin typeface="Noto Sans TC" panose="020B0200000000000000" pitchFamily="34" charset="-120"/>
                <a:ea typeface="Noto Sans TC" panose="020B0200000000000000" pitchFamily="34" charset="-120"/>
              </a:rPr>
              <a:t>重分割</a:t>
            </a:r>
            <a:endParaRPr lang="en-US" altLang="zh-TW" sz="1800" dirty="0">
              <a:latin typeface="Noto Sans TC" panose="020B0200000000000000" pitchFamily="34" charset="-120"/>
              <a:ea typeface="Noto Sans TC" panose="020B0200000000000000" pitchFamily="34" charset="-120"/>
            </a:endParaRPr>
          </a:p>
          <a:p>
            <a:r>
              <a:rPr lang="zh-TW" altLang="en-US" sz="1800" dirty="0">
                <a:latin typeface="Noto Sans TC" panose="020B0200000000000000" pitchFamily="34" charset="-120"/>
                <a:ea typeface="Noto Sans TC" panose="020B0200000000000000" pitchFamily="34" charset="-120"/>
              </a:rPr>
              <a:t>離散化</a:t>
            </a:r>
            <a:endParaRPr lang="en-US" altLang="zh-TW" sz="1800" dirty="0">
              <a:latin typeface="Noto Sans TC" panose="020B0200000000000000" pitchFamily="34" charset="-120"/>
              <a:ea typeface="Noto Sans TC" panose="020B0200000000000000" pitchFamily="34" charset="-120"/>
            </a:endParaRPr>
          </a:p>
          <a:p>
            <a:r>
              <a:rPr lang="zh-TW" altLang="en-US" sz="1800" dirty="0">
                <a:latin typeface="Noto Sans TC" panose="020B0200000000000000" pitchFamily="34" charset="-120"/>
                <a:ea typeface="Noto Sans TC" panose="020B0200000000000000" pitchFamily="34" charset="-120"/>
              </a:rPr>
              <a:t>強度歸一化</a:t>
            </a:r>
            <a:endParaRPr lang="en-US" altLang="zh-TW" sz="1800" dirty="0">
              <a:latin typeface="Noto Sans TC" panose="020B0200000000000000" pitchFamily="34" charset="-120"/>
              <a:ea typeface="Noto Sans TC" panose="020B0200000000000000" pitchFamily="34" charset="-120"/>
            </a:endParaRPr>
          </a:p>
          <a:p>
            <a:endParaRPr lang="en-US" altLang="zh-TW" sz="1800" dirty="0">
              <a:latin typeface="Noto Sans TC" panose="020B0200000000000000" pitchFamily="34" charset="-120"/>
              <a:ea typeface="Noto Sans TC" panose="020B0200000000000000" pitchFamily="34" charset="-120"/>
            </a:endParaRPr>
          </a:p>
        </p:txBody>
      </p:sp>
      <p:sp>
        <p:nvSpPr>
          <p:cNvPr id="6" name="矩形: 圓角 5">
            <a:extLst>
              <a:ext uri="{FF2B5EF4-FFF2-40B4-BE49-F238E27FC236}">
                <a16:creationId xmlns:a16="http://schemas.microsoft.com/office/drawing/2014/main" id="{1B5DF54D-AA47-2713-30F4-04173D81BB01}"/>
              </a:ext>
            </a:extLst>
          </p:cNvPr>
          <p:cNvSpPr/>
          <p:nvPr/>
        </p:nvSpPr>
        <p:spPr>
          <a:xfrm>
            <a:off x="285228" y="2795668"/>
            <a:ext cx="1520687" cy="705678"/>
          </a:xfrm>
          <a:prstGeom prst="roundRect">
            <a:avLst/>
          </a:prstGeom>
          <a:noFill/>
          <a:ln w="38100">
            <a:solidFill>
              <a:srgbClr val="0C0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預處理</a:t>
            </a:r>
            <a:endParaRPr lang="en-US" altLang="zh-TW" dirty="0">
              <a:solidFill>
                <a:schemeClr val="tx1"/>
              </a:solidFill>
              <a:latin typeface="Noto Sans TC" panose="020B0200000000000000" pitchFamily="34" charset="-120"/>
              <a:ea typeface="Noto Sans TC" panose="020B0200000000000000" pitchFamily="34" charset="-120"/>
            </a:endParaRPr>
          </a:p>
          <a:p>
            <a:pPr algn="ctr"/>
            <a:r>
              <a:rPr lang="en-US" altLang="zh-TW" dirty="0">
                <a:solidFill>
                  <a:schemeClr val="tx1"/>
                </a:solidFill>
                <a:latin typeface="Noto Sans TC" panose="020B0200000000000000" pitchFamily="34" charset="-120"/>
                <a:ea typeface="Noto Sans TC" panose="020B0200000000000000" pitchFamily="34" charset="-120"/>
              </a:rPr>
              <a:t>T2-FLAIR</a:t>
            </a:r>
            <a:endParaRPr lang="zh-TW" altLang="en-US" dirty="0">
              <a:solidFill>
                <a:schemeClr val="tx1"/>
              </a:solidFill>
              <a:latin typeface="Noto Sans TC" panose="020B0200000000000000" pitchFamily="34" charset="-120"/>
              <a:ea typeface="Noto Sans TC" panose="020B0200000000000000" pitchFamily="34" charset="-120"/>
            </a:endParaRPr>
          </a:p>
        </p:txBody>
      </p:sp>
      <p:cxnSp>
        <p:nvCxnSpPr>
          <p:cNvPr id="7" name="直線單箭頭接點 6">
            <a:extLst>
              <a:ext uri="{FF2B5EF4-FFF2-40B4-BE49-F238E27FC236}">
                <a16:creationId xmlns:a16="http://schemas.microsoft.com/office/drawing/2014/main" id="{574C349E-AE3F-44EB-CD20-54F46DF74EF2}"/>
              </a:ext>
            </a:extLst>
          </p:cNvPr>
          <p:cNvCxnSpPr>
            <a:cxnSpLocks/>
            <a:stCxn id="6" idx="3"/>
            <a:endCxn id="8" idx="1"/>
          </p:cNvCxnSpPr>
          <p:nvPr/>
        </p:nvCxnSpPr>
        <p:spPr>
          <a:xfrm>
            <a:off x="1805915" y="3148507"/>
            <a:ext cx="871392" cy="0"/>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sp>
        <p:nvSpPr>
          <p:cNvPr id="8" name="矩形: 圓角 7">
            <a:extLst>
              <a:ext uri="{FF2B5EF4-FFF2-40B4-BE49-F238E27FC236}">
                <a16:creationId xmlns:a16="http://schemas.microsoft.com/office/drawing/2014/main" id="{A33BDFCA-368F-1EF1-74A0-64517F644217}"/>
              </a:ext>
            </a:extLst>
          </p:cNvPr>
          <p:cNvSpPr/>
          <p:nvPr/>
        </p:nvSpPr>
        <p:spPr>
          <a:xfrm>
            <a:off x="2677307" y="2795668"/>
            <a:ext cx="1520687" cy="705678"/>
          </a:xfrm>
          <a:prstGeom prst="roundRect">
            <a:avLst/>
          </a:prstGeom>
          <a:noFill/>
          <a:ln w="38100">
            <a:solidFill>
              <a:srgbClr val="0C0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確認</a:t>
            </a:r>
            <a:endParaRPr lang="en-US" altLang="zh-TW" dirty="0">
              <a:solidFill>
                <a:schemeClr val="tx1"/>
              </a:solidFill>
              <a:latin typeface="Noto Sans TC" panose="020B0200000000000000" pitchFamily="34" charset="-120"/>
              <a:ea typeface="Noto Sans TC" panose="020B0200000000000000" pitchFamily="34" charset="-120"/>
            </a:endParaRPr>
          </a:p>
          <a:p>
            <a:pPr algn="ctr"/>
            <a:r>
              <a:rPr lang="zh-TW" altLang="en-US" dirty="0">
                <a:solidFill>
                  <a:schemeClr val="tx1"/>
                </a:solidFill>
                <a:latin typeface="Noto Sans TC" panose="020B0200000000000000" pitchFamily="34" charset="-120"/>
                <a:ea typeface="Noto Sans TC" panose="020B0200000000000000" pitchFamily="34" charset="-120"/>
              </a:rPr>
              <a:t>感興趣部分</a:t>
            </a:r>
          </a:p>
        </p:txBody>
      </p:sp>
      <p:sp>
        <p:nvSpPr>
          <p:cNvPr id="9" name="矩形: 圓角 8">
            <a:extLst>
              <a:ext uri="{FF2B5EF4-FFF2-40B4-BE49-F238E27FC236}">
                <a16:creationId xmlns:a16="http://schemas.microsoft.com/office/drawing/2014/main" id="{7F2080E3-0739-84AC-8FDA-6A2ADF48A9F9}"/>
              </a:ext>
            </a:extLst>
          </p:cNvPr>
          <p:cNvSpPr/>
          <p:nvPr/>
        </p:nvSpPr>
        <p:spPr>
          <a:xfrm>
            <a:off x="5069387" y="2795668"/>
            <a:ext cx="2053225" cy="705678"/>
          </a:xfrm>
          <a:prstGeom prst="roundRect">
            <a:avLst/>
          </a:prstGeom>
          <a:noFill/>
          <a:ln w="38100">
            <a:solidFill>
              <a:srgbClr val="0C0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用於放射組學的</a:t>
            </a:r>
            <a:endParaRPr lang="en-US" altLang="zh-TW" dirty="0">
              <a:solidFill>
                <a:schemeClr val="tx1"/>
              </a:solidFill>
              <a:latin typeface="Noto Sans TC" panose="020B0200000000000000" pitchFamily="34" charset="-120"/>
              <a:ea typeface="Noto Sans TC" panose="020B0200000000000000" pitchFamily="34" charset="-120"/>
            </a:endParaRPr>
          </a:p>
          <a:p>
            <a:pPr algn="ctr"/>
            <a:r>
              <a:rPr lang="zh-TW" altLang="en-US" dirty="0">
                <a:solidFill>
                  <a:schemeClr val="tx1"/>
                </a:solidFill>
                <a:latin typeface="Noto Sans TC" panose="020B0200000000000000" pitchFamily="34" charset="-120"/>
                <a:ea typeface="Noto Sans TC" panose="020B0200000000000000" pitchFamily="34" charset="-120"/>
              </a:rPr>
              <a:t>醫學影像預處理</a:t>
            </a:r>
          </a:p>
        </p:txBody>
      </p:sp>
      <p:sp>
        <p:nvSpPr>
          <p:cNvPr id="10" name="矩形: 圓角 9">
            <a:extLst>
              <a:ext uri="{FF2B5EF4-FFF2-40B4-BE49-F238E27FC236}">
                <a16:creationId xmlns:a16="http://schemas.microsoft.com/office/drawing/2014/main" id="{6CF86CFC-2770-9115-55E2-52D0F7568114}"/>
              </a:ext>
            </a:extLst>
          </p:cNvPr>
          <p:cNvSpPr/>
          <p:nvPr/>
        </p:nvSpPr>
        <p:spPr>
          <a:xfrm>
            <a:off x="7948418" y="2791274"/>
            <a:ext cx="1566275" cy="705678"/>
          </a:xfrm>
          <a:prstGeom prst="roundRect">
            <a:avLst/>
          </a:prstGeom>
          <a:noFill/>
          <a:ln w="38100">
            <a:solidFill>
              <a:srgbClr val="0C0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放射組學</a:t>
            </a:r>
            <a:endParaRPr lang="en-US" altLang="zh-TW" dirty="0">
              <a:solidFill>
                <a:schemeClr val="tx1"/>
              </a:solidFill>
              <a:latin typeface="Noto Sans TC" panose="020B0200000000000000" pitchFamily="34" charset="-120"/>
              <a:ea typeface="Noto Sans TC" panose="020B0200000000000000" pitchFamily="34" charset="-120"/>
            </a:endParaRPr>
          </a:p>
          <a:p>
            <a:pPr algn="ctr"/>
            <a:r>
              <a:rPr lang="zh-TW" altLang="en-US" dirty="0">
                <a:solidFill>
                  <a:schemeClr val="tx1"/>
                </a:solidFill>
                <a:latin typeface="Noto Sans TC" panose="020B0200000000000000" pitchFamily="34" charset="-120"/>
                <a:ea typeface="Noto Sans TC" panose="020B0200000000000000" pitchFamily="34" charset="-120"/>
              </a:rPr>
              <a:t>特徵計算</a:t>
            </a:r>
          </a:p>
        </p:txBody>
      </p:sp>
      <p:sp>
        <p:nvSpPr>
          <p:cNvPr id="11" name="矩形: 圓角 10">
            <a:extLst>
              <a:ext uri="{FF2B5EF4-FFF2-40B4-BE49-F238E27FC236}">
                <a16:creationId xmlns:a16="http://schemas.microsoft.com/office/drawing/2014/main" id="{BA100C1F-1612-0558-3AF8-7DC7A3D07C42}"/>
              </a:ext>
            </a:extLst>
          </p:cNvPr>
          <p:cNvSpPr/>
          <p:nvPr/>
        </p:nvSpPr>
        <p:spPr>
          <a:xfrm>
            <a:off x="10340497" y="2795668"/>
            <a:ext cx="1566275" cy="705678"/>
          </a:xfrm>
          <a:prstGeom prst="roundRect">
            <a:avLst/>
          </a:prstGeom>
          <a:noFill/>
          <a:ln w="38100">
            <a:solidFill>
              <a:srgbClr val="0C0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後處理</a:t>
            </a:r>
          </a:p>
        </p:txBody>
      </p:sp>
      <p:cxnSp>
        <p:nvCxnSpPr>
          <p:cNvPr id="13" name="直線單箭頭接點 12">
            <a:extLst>
              <a:ext uri="{FF2B5EF4-FFF2-40B4-BE49-F238E27FC236}">
                <a16:creationId xmlns:a16="http://schemas.microsoft.com/office/drawing/2014/main" id="{14219E62-F12E-B63F-575B-907EEF904B7C}"/>
              </a:ext>
            </a:extLst>
          </p:cNvPr>
          <p:cNvCxnSpPr>
            <a:cxnSpLocks/>
            <a:stCxn id="8" idx="3"/>
            <a:endCxn id="9" idx="1"/>
          </p:cNvCxnSpPr>
          <p:nvPr/>
        </p:nvCxnSpPr>
        <p:spPr>
          <a:xfrm>
            <a:off x="4197994" y="3148507"/>
            <a:ext cx="871393" cy="0"/>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E88E71C6-5FFB-2D70-78EB-CF8DB90E03A1}"/>
              </a:ext>
            </a:extLst>
          </p:cNvPr>
          <p:cNvCxnSpPr>
            <a:cxnSpLocks/>
            <a:stCxn id="9" idx="3"/>
            <a:endCxn id="10" idx="1"/>
          </p:cNvCxnSpPr>
          <p:nvPr/>
        </p:nvCxnSpPr>
        <p:spPr>
          <a:xfrm flipV="1">
            <a:off x="7122612" y="3144113"/>
            <a:ext cx="825806" cy="4394"/>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8DFCCF3B-1534-C214-2985-6A64F5F6CCE2}"/>
              </a:ext>
            </a:extLst>
          </p:cNvPr>
          <p:cNvCxnSpPr>
            <a:cxnSpLocks/>
            <a:stCxn id="10" idx="3"/>
            <a:endCxn id="11" idx="1"/>
          </p:cNvCxnSpPr>
          <p:nvPr/>
        </p:nvCxnSpPr>
        <p:spPr>
          <a:xfrm>
            <a:off x="9514693" y="3144113"/>
            <a:ext cx="825804" cy="4394"/>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sp>
        <p:nvSpPr>
          <p:cNvPr id="49" name="內容版面配置區 1">
            <a:extLst>
              <a:ext uri="{FF2B5EF4-FFF2-40B4-BE49-F238E27FC236}">
                <a16:creationId xmlns:a16="http://schemas.microsoft.com/office/drawing/2014/main" id="{0929AF70-CBE4-F3AE-A9C5-E9A57CBA2C4B}"/>
              </a:ext>
            </a:extLst>
          </p:cNvPr>
          <p:cNvSpPr txBox="1">
            <a:spLocks/>
          </p:cNvSpPr>
          <p:nvPr/>
        </p:nvSpPr>
        <p:spPr>
          <a:xfrm>
            <a:off x="7948418" y="3646046"/>
            <a:ext cx="2421835" cy="22279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3"/>
              </a:buBlip>
              <a:defRPr lang="zh-TW" altLang="en-US" sz="2400" b="0" kern="1200" baseline="0" dirty="0">
                <a:solidFill>
                  <a:schemeClr val="tx1"/>
                </a:solidFill>
                <a:latin typeface="Noto Sans TC" panose="020B0500000000000000"/>
                <a:ea typeface="標楷體" panose="03000509000000000000" pitchFamily="65" charset="-120"/>
                <a:cs typeface="+mn-cs"/>
              </a:defRPr>
            </a:lvl1pPr>
            <a:lvl2pPr marL="685800" indent="-228600" algn="l" defTabSz="914400" rtl="0" eaLnBrk="1" latinLnBrk="0" hangingPunct="1">
              <a:lnSpc>
                <a:spcPct val="90000"/>
              </a:lnSpc>
              <a:spcBef>
                <a:spcPts val="500"/>
              </a:spcBef>
              <a:buFontTx/>
              <a:buBlip>
                <a:blip r:embed="rId4"/>
              </a:buBlip>
              <a:defRPr lang="zh-TW" altLang="en-US" sz="2000" b="0" kern="1200" baseline="0" dirty="0">
                <a:solidFill>
                  <a:schemeClr val="tx1"/>
                </a:solidFill>
                <a:latin typeface="Noto Sans TC" panose="020B0500000000000000"/>
                <a:ea typeface="標楷體" panose="03000509000000000000" pitchFamily="65" charset="-120"/>
                <a:cs typeface="+mn-cs"/>
              </a:defRPr>
            </a:lvl2pPr>
            <a:lvl3pPr marL="1143000" indent="-228600" algn="l" defTabSz="914400" rtl="0" eaLnBrk="1" latinLnBrk="0" hangingPunct="1">
              <a:lnSpc>
                <a:spcPct val="90000"/>
              </a:lnSpc>
              <a:spcBef>
                <a:spcPts val="500"/>
              </a:spcBef>
              <a:buFontTx/>
              <a:buBlip>
                <a:blip r:embed="rId5"/>
              </a:buBlip>
              <a:defRPr lang="zh-TW" altLang="en-US" sz="1800" b="0" kern="1200" baseline="0" dirty="0">
                <a:solidFill>
                  <a:schemeClr val="tx1"/>
                </a:solidFill>
                <a:latin typeface="Noto Sans TC" panose="020B0500000000000000"/>
                <a:ea typeface="標楷體" panose="03000509000000000000" pitchFamily="65" charset="-120"/>
                <a:cs typeface="+mn-cs"/>
              </a:defRPr>
            </a:lvl3pPr>
            <a:lvl4pPr marL="1600200" indent="-228600" algn="l" defTabSz="914400" rtl="0" eaLnBrk="1" latinLnBrk="0" hangingPunct="1">
              <a:lnSpc>
                <a:spcPct val="90000"/>
              </a:lnSpc>
              <a:spcBef>
                <a:spcPts val="500"/>
              </a:spcBef>
              <a:buFontTx/>
              <a:buBlip>
                <a:blip r:embed="rId6"/>
              </a:buBlip>
              <a:defRPr lang="zh-TW" altLang="en-US" sz="1800" b="0" kern="1200" baseline="0" dirty="0">
                <a:solidFill>
                  <a:schemeClr val="tx1"/>
                </a:solidFill>
                <a:latin typeface="Noto Sans TC" panose="020B0500000000000000"/>
                <a:ea typeface="標楷體" panose="03000509000000000000" pitchFamily="65" charset="-120"/>
                <a:cs typeface="+mn-cs"/>
              </a:defRPr>
            </a:lvl4pPr>
            <a:lvl5pPr marL="2057400" indent="-228600" algn="l" defTabSz="914400" rtl="0" eaLnBrk="1" latinLnBrk="0" hangingPunct="1">
              <a:lnSpc>
                <a:spcPct val="90000"/>
              </a:lnSpc>
              <a:spcBef>
                <a:spcPts val="500"/>
              </a:spcBef>
              <a:buFontTx/>
              <a:buBlip>
                <a:blip r:embed="rId7"/>
              </a:buBlip>
              <a:defRPr lang="zh-TW" altLang="en-US" sz="1800" b="0" kern="1200" baseline="0" dirty="0">
                <a:solidFill>
                  <a:schemeClr val="tx1"/>
                </a:solidFill>
                <a:latin typeface="Noto Sans TC" panose="020B0500000000000000"/>
                <a:ea typeface="標楷體" panose="03000509000000000000" pitchFamily="65"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sz="1800" dirty="0">
                <a:latin typeface="Noto Sans TC" panose="020B0200000000000000" pitchFamily="34" charset="-120"/>
                <a:ea typeface="Noto Sans TC" panose="020B0200000000000000" pitchFamily="34" charset="-120"/>
              </a:rPr>
              <a:t>形狀特徵</a:t>
            </a:r>
            <a:endParaRPr lang="en-US" altLang="zh-TW" sz="1800" dirty="0">
              <a:latin typeface="Noto Sans TC" panose="020B0200000000000000" pitchFamily="34" charset="-120"/>
              <a:ea typeface="Noto Sans TC" panose="020B0200000000000000" pitchFamily="34" charset="-120"/>
            </a:endParaRPr>
          </a:p>
          <a:p>
            <a:r>
              <a:rPr lang="zh-TW" altLang="en-US" sz="1800" dirty="0">
                <a:latin typeface="Noto Sans TC" panose="020B0200000000000000" pitchFamily="34" charset="-120"/>
                <a:ea typeface="Noto Sans TC" panose="020B0200000000000000" pitchFamily="34" charset="-120"/>
              </a:rPr>
              <a:t>強度特徵</a:t>
            </a:r>
            <a:endParaRPr lang="en-US" altLang="zh-TW" sz="1800" dirty="0">
              <a:latin typeface="Noto Sans TC" panose="020B0200000000000000" pitchFamily="34" charset="-120"/>
              <a:ea typeface="Noto Sans TC" panose="020B0200000000000000" pitchFamily="34" charset="-120"/>
            </a:endParaRPr>
          </a:p>
          <a:p>
            <a:r>
              <a:rPr lang="zh-TW" altLang="en-US" sz="1800" dirty="0">
                <a:latin typeface="Noto Sans TC" panose="020B0200000000000000" pitchFamily="34" charset="-120"/>
                <a:ea typeface="Noto Sans TC" panose="020B0200000000000000" pitchFamily="34" charset="-120"/>
              </a:rPr>
              <a:t>紋理特徵</a:t>
            </a:r>
            <a:endParaRPr lang="en-US" altLang="zh-TW" sz="1800" dirty="0">
              <a:latin typeface="Noto Sans TC" panose="020B0200000000000000" pitchFamily="34" charset="-120"/>
              <a:ea typeface="Noto Sans TC" panose="020B0200000000000000" pitchFamily="34" charset="-120"/>
            </a:endParaRPr>
          </a:p>
          <a:p>
            <a:r>
              <a:rPr lang="zh-TW" altLang="en-US" sz="1800" dirty="0">
                <a:latin typeface="Noto Sans TC" panose="020B0200000000000000" pitchFamily="34" charset="-120"/>
                <a:ea typeface="Noto Sans TC" panose="020B0200000000000000" pitchFamily="34" charset="-120"/>
              </a:rPr>
              <a:t>區域特徵</a:t>
            </a:r>
          </a:p>
        </p:txBody>
      </p:sp>
      <p:sp>
        <p:nvSpPr>
          <p:cNvPr id="50" name="內容版面配置區 1">
            <a:extLst>
              <a:ext uri="{FF2B5EF4-FFF2-40B4-BE49-F238E27FC236}">
                <a16:creationId xmlns:a16="http://schemas.microsoft.com/office/drawing/2014/main" id="{2F99499B-47E4-9FAD-13F9-03DDEE80618D}"/>
              </a:ext>
            </a:extLst>
          </p:cNvPr>
          <p:cNvSpPr txBox="1">
            <a:spLocks/>
          </p:cNvSpPr>
          <p:nvPr/>
        </p:nvSpPr>
        <p:spPr>
          <a:xfrm>
            <a:off x="10340497" y="3646046"/>
            <a:ext cx="2421835" cy="22279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3"/>
              </a:buBlip>
              <a:defRPr lang="zh-TW" altLang="en-US" sz="2400" b="0" kern="1200" baseline="0" dirty="0">
                <a:solidFill>
                  <a:schemeClr val="tx1"/>
                </a:solidFill>
                <a:latin typeface="Noto Sans TC" panose="020B0500000000000000"/>
                <a:ea typeface="標楷體" panose="03000509000000000000" pitchFamily="65" charset="-120"/>
                <a:cs typeface="+mn-cs"/>
              </a:defRPr>
            </a:lvl1pPr>
            <a:lvl2pPr marL="685800" indent="-228600" algn="l" defTabSz="914400" rtl="0" eaLnBrk="1" latinLnBrk="0" hangingPunct="1">
              <a:lnSpc>
                <a:spcPct val="90000"/>
              </a:lnSpc>
              <a:spcBef>
                <a:spcPts val="500"/>
              </a:spcBef>
              <a:buFontTx/>
              <a:buBlip>
                <a:blip r:embed="rId4"/>
              </a:buBlip>
              <a:defRPr lang="zh-TW" altLang="en-US" sz="2000" b="0" kern="1200" baseline="0" dirty="0">
                <a:solidFill>
                  <a:schemeClr val="tx1"/>
                </a:solidFill>
                <a:latin typeface="Noto Sans TC" panose="020B0500000000000000"/>
                <a:ea typeface="標楷體" panose="03000509000000000000" pitchFamily="65" charset="-120"/>
                <a:cs typeface="+mn-cs"/>
              </a:defRPr>
            </a:lvl2pPr>
            <a:lvl3pPr marL="1143000" indent="-228600" algn="l" defTabSz="914400" rtl="0" eaLnBrk="1" latinLnBrk="0" hangingPunct="1">
              <a:lnSpc>
                <a:spcPct val="90000"/>
              </a:lnSpc>
              <a:spcBef>
                <a:spcPts val="500"/>
              </a:spcBef>
              <a:buFontTx/>
              <a:buBlip>
                <a:blip r:embed="rId5"/>
              </a:buBlip>
              <a:defRPr lang="zh-TW" altLang="en-US" sz="1800" b="0" kern="1200" baseline="0" dirty="0">
                <a:solidFill>
                  <a:schemeClr val="tx1"/>
                </a:solidFill>
                <a:latin typeface="Noto Sans TC" panose="020B0500000000000000"/>
                <a:ea typeface="標楷體" panose="03000509000000000000" pitchFamily="65" charset="-120"/>
                <a:cs typeface="+mn-cs"/>
              </a:defRPr>
            </a:lvl3pPr>
            <a:lvl4pPr marL="1600200" indent="-228600" algn="l" defTabSz="914400" rtl="0" eaLnBrk="1" latinLnBrk="0" hangingPunct="1">
              <a:lnSpc>
                <a:spcPct val="90000"/>
              </a:lnSpc>
              <a:spcBef>
                <a:spcPts val="500"/>
              </a:spcBef>
              <a:buFontTx/>
              <a:buBlip>
                <a:blip r:embed="rId6"/>
              </a:buBlip>
              <a:defRPr lang="zh-TW" altLang="en-US" sz="1800" b="0" kern="1200" baseline="0" dirty="0">
                <a:solidFill>
                  <a:schemeClr val="tx1"/>
                </a:solidFill>
                <a:latin typeface="Noto Sans TC" panose="020B0500000000000000"/>
                <a:ea typeface="標楷體" panose="03000509000000000000" pitchFamily="65" charset="-120"/>
                <a:cs typeface="+mn-cs"/>
              </a:defRPr>
            </a:lvl4pPr>
            <a:lvl5pPr marL="2057400" indent="-228600" algn="l" defTabSz="914400" rtl="0" eaLnBrk="1" latinLnBrk="0" hangingPunct="1">
              <a:lnSpc>
                <a:spcPct val="90000"/>
              </a:lnSpc>
              <a:spcBef>
                <a:spcPts val="500"/>
              </a:spcBef>
              <a:buFontTx/>
              <a:buBlip>
                <a:blip r:embed="rId7"/>
              </a:buBlip>
              <a:defRPr lang="zh-TW" altLang="en-US" sz="1800" b="0" kern="1200" baseline="0" dirty="0">
                <a:solidFill>
                  <a:schemeClr val="tx1"/>
                </a:solidFill>
                <a:latin typeface="Noto Sans TC" panose="020B0500000000000000"/>
                <a:ea typeface="標楷體" panose="03000509000000000000" pitchFamily="65"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sz="1800" dirty="0">
                <a:latin typeface="Noto Sans TC" panose="020B0200000000000000" pitchFamily="34" charset="-120"/>
                <a:ea typeface="Noto Sans TC" panose="020B0200000000000000" pitchFamily="34" charset="-120"/>
              </a:rPr>
              <a:t>特徵選擇</a:t>
            </a:r>
            <a:endParaRPr lang="en-US" altLang="zh-TW" sz="1800" dirty="0">
              <a:latin typeface="Noto Sans TC" panose="020B0200000000000000" pitchFamily="34" charset="-120"/>
              <a:ea typeface="Noto Sans TC" panose="020B0200000000000000" pitchFamily="34" charset="-120"/>
            </a:endParaRPr>
          </a:p>
          <a:p>
            <a:endParaRPr lang="en-US" altLang="zh-TW" sz="1800" dirty="0">
              <a:latin typeface="Noto Sans TC" panose="020B0200000000000000" pitchFamily="34" charset="-120"/>
              <a:ea typeface="Noto Sans TC" panose="020B0200000000000000" pitchFamily="34" charset="-120"/>
            </a:endParaRPr>
          </a:p>
          <a:p>
            <a:r>
              <a:rPr lang="zh-TW" altLang="en-US" sz="1800" dirty="0">
                <a:latin typeface="Noto Sans TC" panose="020B0200000000000000" pitchFamily="34" charset="-120"/>
                <a:ea typeface="Noto Sans TC" panose="020B0200000000000000" pitchFamily="34" charset="-120"/>
              </a:rPr>
              <a:t>機器學習</a:t>
            </a:r>
            <a:endParaRPr lang="en-US" altLang="zh-TW" sz="1800" dirty="0">
              <a:latin typeface="Noto Sans TC" panose="020B0200000000000000" pitchFamily="34" charset="-120"/>
              <a:ea typeface="Noto Sans TC" panose="020B0200000000000000" pitchFamily="34" charset="-120"/>
            </a:endParaRPr>
          </a:p>
          <a:p>
            <a:endParaRPr lang="en-US" altLang="zh-TW" sz="1800" dirty="0">
              <a:latin typeface="Noto Sans TC" panose="020B0200000000000000" pitchFamily="34" charset="-120"/>
              <a:ea typeface="Noto Sans TC" panose="020B0200000000000000" pitchFamily="34" charset="-120"/>
            </a:endParaRPr>
          </a:p>
          <a:p>
            <a:r>
              <a:rPr lang="zh-TW" altLang="en-US" sz="1800" dirty="0">
                <a:latin typeface="Noto Sans TC" panose="020B0200000000000000" pitchFamily="34" charset="-120"/>
                <a:ea typeface="Noto Sans TC" panose="020B0200000000000000" pitchFamily="34" charset="-120"/>
              </a:rPr>
              <a:t>預測癲癇發作</a:t>
            </a:r>
          </a:p>
        </p:txBody>
      </p:sp>
      <p:cxnSp>
        <p:nvCxnSpPr>
          <p:cNvPr id="51" name="直線單箭頭接點 50">
            <a:extLst>
              <a:ext uri="{FF2B5EF4-FFF2-40B4-BE49-F238E27FC236}">
                <a16:creationId xmlns:a16="http://schemas.microsoft.com/office/drawing/2014/main" id="{554A11C4-E38C-28C2-9DAC-C6E58C686FA7}"/>
              </a:ext>
            </a:extLst>
          </p:cNvPr>
          <p:cNvCxnSpPr>
            <a:cxnSpLocks/>
          </p:cNvCxnSpPr>
          <p:nvPr/>
        </p:nvCxnSpPr>
        <p:spPr>
          <a:xfrm>
            <a:off x="11147314" y="4025347"/>
            <a:ext cx="0" cy="263088"/>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8A5C4FC5-C214-4314-6B06-60924259EB9E}"/>
              </a:ext>
            </a:extLst>
          </p:cNvPr>
          <p:cNvCxnSpPr>
            <a:cxnSpLocks/>
          </p:cNvCxnSpPr>
          <p:nvPr/>
        </p:nvCxnSpPr>
        <p:spPr>
          <a:xfrm>
            <a:off x="11162313" y="4760036"/>
            <a:ext cx="0" cy="263088"/>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sp>
        <p:nvSpPr>
          <p:cNvPr id="57" name="內容版面配置區 1">
            <a:extLst>
              <a:ext uri="{FF2B5EF4-FFF2-40B4-BE49-F238E27FC236}">
                <a16:creationId xmlns:a16="http://schemas.microsoft.com/office/drawing/2014/main" id="{6AA2F17D-FD75-FE24-1BAE-9E9CFC46C83A}"/>
              </a:ext>
            </a:extLst>
          </p:cNvPr>
          <p:cNvSpPr txBox="1">
            <a:spLocks/>
          </p:cNvSpPr>
          <p:nvPr/>
        </p:nvSpPr>
        <p:spPr>
          <a:xfrm>
            <a:off x="2630925" y="3646046"/>
            <a:ext cx="2421835" cy="22279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3"/>
              </a:buBlip>
              <a:defRPr lang="zh-TW" altLang="en-US" sz="2400" b="0" kern="1200" baseline="0" dirty="0">
                <a:solidFill>
                  <a:schemeClr val="tx1"/>
                </a:solidFill>
                <a:latin typeface="Noto Sans TC" panose="020B0500000000000000"/>
                <a:ea typeface="標楷體" panose="03000509000000000000" pitchFamily="65" charset="-120"/>
                <a:cs typeface="+mn-cs"/>
              </a:defRPr>
            </a:lvl1pPr>
            <a:lvl2pPr marL="685800" indent="-228600" algn="l" defTabSz="914400" rtl="0" eaLnBrk="1" latinLnBrk="0" hangingPunct="1">
              <a:lnSpc>
                <a:spcPct val="90000"/>
              </a:lnSpc>
              <a:spcBef>
                <a:spcPts val="500"/>
              </a:spcBef>
              <a:buFontTx/>
              <a:buBlip>
                <a:blip r:embed="rId4"/>
              </a:buBlip>
              <a:defRPr lang="zh-TW" altLang="en-US" sz="2000" b="0" kern="1200" baseline="0" dirty="0">
                <a:solidFill>
                  <a:schemeClr val="tx1"/>
                </a:solidFill>
                <a:latin typeface="Noto Sans TC" panose="020B0500000000000000"/>
                <a:ea typeface="標楷體" panose="03000509000000000000" pitchFamily="65" charset="-120"/>
                <a:cs typeface="+mn-cs"/>
              </a:defRPr>
            </a:lvl2pPr>
            <a:lvl3pPr marL="1143000" indent="-228600" algn="l" defTabSz="914400" rtl="0" eaLnBrk="1" latinLnBrk="0" hangingPunct="1">
              <a:lnSpc>
                <a:spcPct val="90000"/>
              </a:lnSpc>
              <a:spcBef>
                <a:spcPts val="500"/>
              </a:spcBef>
              <a:buFontTx/>
              <a:buBlip>
                <a:blip r:embed="rId5"/>
              </a:buBlip>
              <a:defRPr lang="zh-TW" altLang="en-US" sz="1800" b="0" kern="1200" baseline="0" dirty="0">
                <a:solidFill>
                  <a:schemeClr val="tx1"/>
                </a:solidFill>
                <a:latin typeface="Noto Sans TC" panose="020B0500000000000000"/>
                <a:ea typeface="標楷體" panose="03000509000000000000" pitchFamily="65" charset="-120"/>
                <a:cs typeface="+mn-cs"/>
              </a:defRPr>
            </a:lvl3pPr>
            <a:lvl4pPr marL="1600200" indent="-228600" algn="l" defTabSz="914400" rtl="0" eaLnBrk="1" latinLnBrk="0" hangingPunct="1">
              <a:lnSpc>
                <a:spcPct val="90000"/>
              </a:lnSpc>
              <a:spcBef>
                <a:spcPts val="500"/>
              </a:spcBef>
              <a:buFontTx/>
              <a:buBlip>
                <a:blip r:embed="rId6"/>
              </a:buBlip>
              <a:defRPr lang="zh-TW" altLang="en-US" sz="1800" b="0" kern="1200" baseline="0" dirty="0">
                <a:solidFill>
                  <a:schemeClr val="tx1"/>
                </a:solidFill>
                <a:latin typeface="Noto Sans TC" panose="020B0500000000000000"/>
                <a:ea typeface="標楷體" panose="03000509000000000000" pitchFamily="65" charset="-120"/>
                <a:cs typeface="+mn-cs"/>
              </a:defRPr>
            </a:lvl4pPr>
            <a:lvl5pPr marL="2057400" indent="-228600" algn="l" defTabSz="914400" rtl="0" eaLnBrk="1" latinLnBrk="0" hangingPunct="1">
              <a:lnSpc>
                <a:spcPct val="90000"/>
              </a:lnSpc>
              <a:spcBef>
                <a:spcPts val="500"/>
              </a:spcBef>
              <a:buFontTx/>
              <a:buBlip>
                <a:blip r:embed="rId7"/>
              </a:buBlip>
              <a:defRPr lang="zh-TW" altLang="en-US" sz="1800" b="0" kern="1200" baseline="0" dirty="0">
                <a:solidFill>
                  <a:schemeClr val="tx1"/>
                </a:solidFill>
                <a:latin typeface="Noto Sans TC" panose="020B0500000000000000"/>
                <a:ea typeface="標楷體" panose="03000509000000000000" pitchFamily="65"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sz="1800" dirty="0">
                <a:latin typeface="Noto Sans TC" panose="020B0200000000000000" pitchFamily="34" charset="-120"/>
                <a:ea typeface="Noto Sans TC" panose="020B0200000000000000" pitchFamily="34" charset="-120"/>
              </a:rPr>
              <a:t>由專家辨識</a:t>
            </a:r>
            <a:br>
              <a:rPr lang="en-US" altLang="zh-TW" sz="1800" dirty="0">
                <a:latin typeface="Noto Sans TC" panose="020B0200000000000000" pitchFamily="34" charset="-120"/>
                <a:ea typeface="Noto Sans TC" panose="020B0200000000000000" pitchFamily="34" charset="-120"/>
              </a:rPr>
            </a:br>
            <a:r>
              <a:rPr lang="zh-TW" altLang="en-US" sz="1800" dirty="0">
                <a:latin typeface="Noto Sans TC" panose="020B0200000000000000" pitchFamily="34" charset="-120"/>
                <a:ea typeface="Noto Sans TC" panose="020B0200000000000000" pitchFamily="34" charset="-120"/>
              </a:rPr>
              <a:t>神經膠質瘤影像</a:t>
            </a:r>
          </a:p>
        </p:txBody>
      </p:sp>
      <p:sp>
        <p:nvSpPr>
          <p:cNvPr id="58" name="內容版面配置區 1">
            <a:extLst>
              <a:ext uri="{FF2B5EF4-FFF2-40B4-BE49-F238E27FC236}">
                <a16:creationId xmlns:a16="http://schemas.microsoft.com/office/drawing/2014/main" id="{DC6B201A-26E3-902B-AFAD-CE26E70E8A34}"/>
              </a:ext>
            </a:extLst>
          </p:cNvPr>
          <p:cNvSpPr txBox="1">
            <a:spLocks/>
          </p:cNvSpPr>
          <p:nvPr/>
        </p:nvSpPr>
        <p:spPr>
          <a:xfrm>
            <a:off x="134341" y="3646046"/>
            <a:ext cx="2421835" cy="22279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3"/>
              </a:buBlip>
              <a:defRPr lang="zh-TW" altLang="en-US" sz="2400" b="0" kern="1200" baseline="0" dirty="0">
                <a:solidFill>
                  <a:schemeClr val="tx1"/>
                </a:solidFill>
                <a:latin typeface="Noto Sans TC" panose="020B0500000000000000"/>
                <a:ea typeface="標楷體" panose="03000509000000000000" pitchFamily="65" charset="-120"/>
                <a:cs typeface="+mn-cs"/>
              </a:defRPr>
            </a:lvl1pPr>
            <a:lvl2pPr marL="685800" indent="-228600" algn="l" defTabSz="914400" rtl="0" eaLnBrk="1" latinLnBrk="0" hangingPunct="1">
              <a:lnSpc>
                <a:spcPct val="90000"/>
              </a:lnSpc>
              <a:spcBef>
                <a:spcPts val="500"/>
              </a:spcBef>
              <a:buFontTx/>
              <a:buBlip>
                <a:blip r:embed="rId4"/>
              </a:buBlip>
              <a:defRPr lang="zh-TW" altLang="en-US" sz="2000" b="0" kern="1200" baseline="0" dirty="0">
                <a:solidFill>
                  <a:schemeClr val="tx1"/>
                </a:solidFill>
                <a:latin typeface="Noto Sans TC" panose="020B0500000000000000"/>
                <a:ea typeface="標楷體" panose="03000509000000000000" pitchFamily="65" charset="-120"/>
                <a:cs typeface="+mn-cs"/>
              </a:defRPr>
            </a:lvl2pPr>
            <a:lvl3pPr marL="1143000" indent="-228600" algn="l" defTabSz="914400" rtl="0" eaLnBrk="1" latinLnBrk="0" hangingPunct="1">
              <a:lnSpc>
                <a:spcPct val="90000"/>
              </a:lnSpc>
              <a:spcBef>
                <a:spcPts val="500"/>
              </a:spcBef>
              <a:buFontTx/>
              <a:buBlip>
                <a:blip r:embed="rId5"/>
              </a:buBlip>
              <a:defRPr lang="zh-TW" altLang="en-US" sz="1800" b="0" kern="1200" baseline="0" dirty="0">
                <a:solidFill>
                  <a:schemeClr val="tx1"/>
                </a:solidFill>
                <a:latin typeface="Noto Sans TC" panose="020B0500000000000000"/>
                <a:ea typeface="標楷體" panose="03000509000000000000" pitchFamily="65" charset="-120"/>
                <a:cs typeface="+mn-cs"/>
              </a:defRPr>
            </a:lvl3pPr>
            <a:lvl4pPr marL="1600200" indent="-228600" algn="l" defTabSz="914400" rtl="0" eaLnBrk="1" latinLnBrk="0" hangingPunct="1">
              <a:lnSpc>
                <a:spcPct val="90000"/>
              </a:lnSpc>
              <a:spcBef>
                <a:spcPts val="500"/>
              </a:spcBef>
              <a:buFontTx/>
              <a:buBlip>
                <a:blip r:embed="rId6"/>
              </a:buBlip>
              <a:defRPr lang="zh-TW" altLang="en-US" sz="1800" b="0" kern="1200" baseline="0" dirty="0">
                <a:solidFill>
                  <a:schemeClr val="tx1"/>
                </a:solidFill>
                <a:latin typeface="Noto Sans TC" panose="020B0500000000000000"/>
                <a:ea typeface="標楷體" panose="03000509000000000000" pitchFamily="65" charset="-120"/>
                <a:cs typeface="+mn-cs"/>
              </a:defRPr>
            </a:lvl4pPr>
            <a:lvl5pPr marL="2057400" indent="-228600" algn="l" defTabSz="914400" rtl="0" eaLnBrk="1" latinLnBrk="0" hangingPunct="1">
              <a:lnSpc>
                <a:spcPct val="90000"/>
              </a:lnSpc>
              <a:spcBef>
                <a:spcPts val="500"/>
              </a:spcBef>
              <a:buFontTx/>
              <a:buBlip>
                <a:blip r:embed="rId7"/>
              </a:buBlip>
              <a:defRPr lang="zh-TW" altLang="en-US" sz="1800" b="0" kern="1200" baseline="0" dirty="0">
                <a:solidFill>
                  <a:schemeClr val="tx1"/>
                </a:solidFill>
                <a:latin typeface="Noto Sans TC" panose="020B0500000000000000"/>
                <a:ea typeface="標楷體" panose="03000509000000000000" pitchFamily="65"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sz="1800" dirty="0">
                <a:latin typeface="Noto Sans TC" panose="020B0200000000000000" pitchFamily="34" charset="-120"/>
                <a:ea typeface="Noto Sans TC" panose="020B0200000000000000" pitchFamily="34" charset="-120"/>
              </a:rPr>
              <a:t>醫學影像中的</a:t>
            </a:r>
            <a:br>
              <a:rPr lang="en-US" altLang="zh-TW" sz="1800" dirty="0">
                <a:latin typeface="Noto Sans TC" panose="020B0200000000000000" pitchFamily="34" charset="-120"/>
                <a:ea typeface="Noto Sans TC" panose="020B0200000000000000" pitchFamily="34" charset="-120"/>
              </a:rPr>
            </a:br>
            <a:r>
              <a:rPr lang="zh-TW" altLang="en-US" sz="1800" dirty="0">
                <a:latin typeface="Noto Sans TC" panose="020B0200000000000000" pitchFamily="34" charset="-120"/>
                <a:ea typeface="Noto Sans TC" panose="020B0200000000000000" pitchFamily="34" charset="-120"/>
              </a:rPr>
              <a:t>空間歸一化</a:t>
            </a:r>
            <a:endParaRPr lang="en-US" altLang="zh-TW" sz="1800" dirty="0">
              <a:latin typeface="Noto Sans TC" panose="020B0200000000000000" pitchFamily="34" charset="-120"/>
              <a:ea typeface="Noto Sans TC" panose="020B0200000000000000" pitchFamily="34" charset="-120"/>
            </a:endParaRPr>
          </a:p>
        </p:txBody>
      </p:sp>
    </p:spTree>
    <p:extLst>
      <p:ext uri="{BB962C8B-B14F-4D97-AF65-F5344CB8AC3E}">
        <p14:creationId xmlns:p14="http://schemas.microsoft.com/office/powerpoint/2010/main" val="2541467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5D435-8AC9-3187-4A45-9C7CB85F85B2}"/>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89D8C715-EE65-FCC3-B8CA-C8CE446896B3}"/>
              </a:ext>
            </a:extLst>
          </p:cNvPr>
          <p:cNvSpPr>
            <a:spLocks noGrp="1"/>
          </p:cNvSpPr>
          <p:nvPr>
            <p:ph type="sldNum" sz="quarter" idx="12"/>
          </p:nvPr>
        </p:nvSpPr>
        <p:spPr/>
        <p:txBody>
          <a:bodyPr/>
          <a:lstStyle/>
          <a:p>
            <a:fld id="{A6C4F607-EBAE-4F4B-BF62-778A00D92850}" type="slidenum">
              <a:rPr lang="en-US" altLang="zh-TW" smtClean="0"/>
              <a:pPr/>
              <a:t>11</a:t>
            </a:fld>
            <a:endParaRPr lang="en-US" dirty="0"/>
          </a:p>
        </p:txBody>
      </p:sp>
      <p:sp>
        <p:nvSpPr>
          <p:cNvPr id="4" name="文字版面配置區 3">
            <a:extLst>
              <a:ext uri="{FF2B5EF4-FFF2-40B4-BE49-F238E27FC236}">
                <a16:creationId xmlns:a16="http://schemas.microsoft.com/office/drawing/2014/main" id="{534E02E2-40DD-A974-38D9-D847DB51A28A}"/>
              </a:ext>
            </a:extLst>
          </p:cNvPr>
          <p:cNvSpPr>
            <a:spLocks noGrp="1"/>
          </p:cNvSpPr>
          <p:nvPr>
            <p:ph type="body" sz="quarter" idx="13"/>
          </p:nvPr>
        </p:nvSpPr>
        <p:spPr/>
        <p:txBody>
          <a:bodyPr>
            <a:normAutofit/>
          </a:bodyPr>
          <a:lstStyle/>
          <a:p>
            <a:r>
              <a:rPr lang="en-US" altLang="zh-TW" dirty="0"/>
              <a:t>02</a:t>
            </a:r>
            <a:endParaRPr lang="zh-TW" altLang="en-US" dirty="0"/>
          </a:p>
        </p:txBody>
      </p:sp>
      <p:sp>
        <p:nvSpPr>
          <p:cNvPr id="5" name="內容版面配置區 4">
            <a:extLst>
              <a:ext uri="{FF2B5EF4-FFF2-40B4-BE49-F238E27FC236}">
                <a16:creationId xmlns:a16="http://schemas.microsoft.com/office/drawing/2014/main" id="{5BD2B93D-43B9-9609-4A44-2257884F396D}"/>
              </a:ext>
            </a:extLst>
          </p:cNvPr>
          <p:cNvSpPr>
            <a:spLocks noGrp="1"/>
          </p:cNvSpPr>
          <p:nvPr>
            <p:ph sz="quarter" idx="14"/>
          </p:nvPr>
        </p:nvSpPr>
        <p:spPr>
          <a:xfrm>
            <a:off x="1443358" y="460690"/>
            <a:ext cx="10324572" cy="553245"/>
          </a:xfrm>
        </p:spPr>
        <p:txBody>
          <a:bodyPr>
            <a:normAutofit/>
          </a:bodyPr>
          <a:lstStyle/>
          <a:p>
            <a:r>
              <a:rPr lang="zh-TW" altLang="en-US" dirty="0"/>
              <a:t>以型態定量與放射組學分析預測兒童幕上低級別膠質瘤相關癲癇</a:t>
            </a:r>
          </a:p>
        </p:txBody>
      </p:sp>
      <p:sp>
        <p:nvSpPr>
          <p:cNvPr id="18" name="內容版面配置區 1">
            <a:extLst>
              <a:ext uri="{FF2B5EF4-FFF2-40B4-BE49-F238E27FC236}">
                <a16:creationId xmlns:a16="http://schemas.microsoft.com/office/drawing/2014/main" id="{E6014C2D-BEEE-72E8-7B98-8E61A413796A}"/>
              </a:ext>
            </a:extLst>
          </p:cNvPr>
          <p:cNvSpPr txBox="1">
            <a:spLocks/>
          </p:cNvSpPr>
          <p:nvPr/>
        </p:nvSpPr>
        <p:spPr>
          <a:xfrm>
            <a:off x="838200" y="1551963"/>
            <a:ext cx="10515600" cy="462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3"/>
              </a:buBlip>
              <a:defRPr lang="zh-TW" altLang="en-US" sz="2400" b="0" kern="1200" baseline="0" dirty="0">
                <a:solidFill>
                  <a:schemeClr val="tx1"/>
                </a:solidFill>
                <a:latin typeface="Noto Sans TC" panose="020B0500000000000000"/>
                <a:ea typeface="標楷體" panose="03000509000000000000" pitchFamily="65" charset="-120"/>
                <a:cs typeface="+mn-cs"/>
              </a:defRPr>
            </a:lvl1pPr>
            <a:lvl2pPr marL="685800" indent="-228600" algn="l" defTabSz="914400" rtl="0" eaLnBrk="1" latinLnBrk="0" hangingPunct="1">
              <a:lnSpc>
                <a:spcPct val="90000"/>
              </a:lnSpc>
              <a:spcBef>
                <a:spcPts val="500"/>
              </a:spcBef>
              <a:buFontTx/>
              <a:buBlip>
                <a:blip r:embed="rId4"/>
              </a:buBlip>
              <a:defRPr lang="zh-TW" altLang="en-US" sz="2000" b="0" kern="1200" baseline="0" dirty="0">
                <a:solidFill>
                  <a:schemeClr val="tx1"/>
                </a:solidFill>
                <a:latin typeface="Noto Sans TC" panose="020B0500000000000000"/>
                <a:ea typeface="標楷體" panose="03000509000000000000" pitchFamily="65" charset="-120"/>
                <a:cs typeface="+mn-cs"/>
              </a:defRPr>
            </a:lvl2pPr>
            <a:lvl3pPr marL="1143000" indent="-228600" algn="l" defTabSz="914400" rtl="0" eaLnBrk="1" latinLnBrk="0" hangingPunct="1">
              <a:lnSpc>
                <a:spcPct val="90000"/>
              </a:lnSpc>
              <a:spcBef>
                <a:spcPts val="500"/>
              </a:spcBef>
              <a:buFontTx/>
              <a:buBlip>
                <a:blip r:embed="rId5"/>
              </a:buBlip>
              <a:defRPr lang="zh-TW" altLang="en-US" sz="1800" b="0" kern="1200" baseline="0" dirty="0">
                <a:solidFill>
                  <a:schemeClr val="tx1"/>
                </a:solidFill>
                <a:latin typeface="Noto Sans TC" panose="020B0500000000000000"/>
                <a:ea typeface="標楷體" panose="03000509000000000000" pitchFamily="65" charset="-120"/>
                <a:cs typeface="+mn-cs"/>
              </a:defRPr>
            </a:lvl3pPr>
            <a:lvl4pPr marL="1600200" indent="-228600" algn="l" defTabSz="914400" rtl="0" eaLnBrk="1" latinLnBrk="0" hangingPunct="1">
              <a:lnSpc>
                <a:spcPct val="90000"/>
              </a:lnSpc>
              <a:spcBef>
                <a:spcPts val="500"/>
              </a:spcBef>
              <a:buFontTx/>
              <a:buBlip>
                <a:blip r:embed="rId6"/>
              </a:buBlip>
              <a:defRPr lang="zh-TW" altLang="en-US" sz="1800" b="0" kern="1200" baseline="0" dirty="0">
                <a:solidFill>
                  <a:schemeClr val="tx1"/>
                </a:solidFill>
                <a:latin typeface="Noto Sans TC" panose="020B0500000000000000"/>
                <a:ea typeface="標楷體" panose="03000509000000000000" pitchFamily="65" charset="-120"/>
                <a:cs typeface="+mn-cs"/>
              </a:defRPr>
            </a:lvl4pPr>
            <a:lvl5pPr marL="2057400" indent="-228600" algn="l" defTabSz="914400" rtl="0" eaLnBrk="1" latinLnBrk="0" hangingPunct="1">
              <a:lnSpc>
                <a:spcPct val="90000"/>
              </a:lnSpc>
              <a:spcBef>
                <a:spcPts val="500"/>
              </a:spcBef>
              <a:buFontTx/>
              <a:buBlip>
                <a:blip r:embed="rId7"/>
              </a:buBlip>
              <a:defRPr lang="zh-TW" altLang="en-US" sz="1800" b="0" kern="1200" baseline="0" dirty="0">
                <a:solidFill>
                  <a:schemeClr val="tx1"/>
                </a:solidFill>
                <a:latin typeface="Noto Sans TC" panose="020B0500000000000000"/>
                <a:ea typeface="標楷體" panose="03000509000000000000" pitchFamily="65"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研究結果表明，</a:t>
            </a:r>
            <a:r>
              <a:rPr lang="en-US" altLang="zh-TW" dirty="0"/>
              <a:t>8</a:t>
            </a:r>
            <a:r>
              <a:rPr lang="zh-TW" altLang="en-US" dirty="0"/>
              <a:t>個放射組學特徵在癲癇發作組和非癲癇發作組之間存在顯著差異。</a:t>
            </a:r>
            <a:endParaRPr lang="en-US" altLang="zh-TW" dirty="0"/>
          </a:p>
          <a:p>
            <a:endParaRPr lang="en-US" altLang="zh-TW" dirty="0"/>
          </a:p>
          <a:p>
            <a:r>
              <a:rPr lang="zh-TW" altLang="en-US" dirty="0"/>
              <a:t>結合顯著的腫瘤定位資訊，預測模型能夠更精確地區分幕上低級別膠質瘤是否伴隨癲癇發作。</a:t>
            </a:r>
          </a:p>
        </p:txBody>
      </p:sp>
    </p:spTree>
    <p:extLst>
      <p:ext uri="{BB962C8B-B14F-4D97-AF65-F5344CB8AC3E}">
        <p14:creationId xmlns:p14="http://schemas.microsoft.com/office/powerpoint/2010/main" val="1974457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5D435-8AC9-3187-4A45-9C7CB85F85B2}"/>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89D8C715-EE65-FCC3-B8CA-C8CE446896B3}"/>
              </a:ext>
            </a:extLst>
          </p:cNvPr>
          <p:cNvSpPr>
            <a:spLocks noGrp="1"/>
          </p:cNvSpPr>
          <p:nvPr>
            <p:ph type="sldNum" sz="quarter" idx="12"/>
          </p:nvPr>
        </p:nvSpPr>
        <p:spPr/>
        <p:txBody>
          <a:bodyPr/>
          <a:lstStyle/>
          <a:p>
            <a:fld id="{A6C4F607-EBAE-4F4B-BF62-778A00D92850}" type="slidenum">
              <a:rPr lang="en-US" altLang="zh-TW" smtClean="0"/>
              <a:pPr/>
              <a:t>12</a:t>
            </a:fld>
            <a:endParaRPr lang="en-US" dirty="0"/>
          </a:p>
        </p:txBody>
      </p:sp>
      <p:sp>
        <p:nvSpPr>
          <p:cNvPr id="4" name="文字版面配置區 3">
            <a:extLst>
              <a:ext uri="{FF2B5EF4-FFF2-40B4-BE49-F238E27FC236}">
                <a16:creationId xmlns:a16="http://schemas.microsoft.com/office/drawing/2014/main" id="{534E02E2-40DD-A974-38D9-D847DB51A28A}"/>
              </a:ext>
            </a:extLst>
          </p:cNvPr>
          <p:cNvSpPr>
            <a:spLocks noGrp="1"/>
          </p:cNvSpPr>
          <p:nvPr>
            <p:ph type="body" sz="quarter" idx="13"/>
          </p:nvPr>
        </p:nvSpPr>
        <p:spPr/>
        <p:txBody>
          <a:bodyPr>
            <a:normAutofit/>
          </a:bodyPr>
          <a:lstStyle/>
          <a:p>
            <a:r>
              <a:rPr lang="en-US" altLang="zh-TW" dirty="0"/>
              <a:t>03</a:t>
            </a:r>
            <a:endParaRPr lang="zh-TW" altLang="en-US" dirty="0"/>
          </a:p>
        </p:txBody>
      </p:sp>
      <p:sp>
        <p:nvSpPr>
          <p:cNvPr id="5" name="內容版面配置區 4">
            <a:extLst>
              <a:ext uri="{FF2B5EF4-FFF2-40B4-BE49-F238E27FC236}">
                <a16:creationId xmlns:a16="http://schemas.microsoft.com/office/drawing/2014/main" id="{5BD2B93D-43B9-9609-4A44-2257884F396D}"/>
              </a:ext>
            </a:extLst>
          </p:cNvPr>
          <p:cNvSpPr>
            <a:spLocks noGrp="1"/>
          </p:cNvSpPr>
          <p:nvPr>
            <p:ph sz="quarter" idx="14"/>
          </p:nvPr>
        </p:nvSpPr>
        <p:spPr/>
        <p:txBody>
          <a:bodyPr>
            <a:normAutofit/>
          </a:bodyPr>
          <a:lstStyle/>
          <a:p>
            <a:r>
              <a:rPr lang="zh-TW" altLang="en-US" dirty="0"/>
              <a:t>使用腦電圖與機器學習預測憂鬱症藥物的長期療效</a:t>
            </a:r>
          </a:p>
        </p:txBody>
      </p:sp>
      <p:sp>
        <p:nvSpPr>
          <p:cNvPr id="2" name="內容版面配置區 1">
            <a:extLst>
              <a:ext uri="{FF2B5EF4-FFF2-40B4-BE49-F238E27FC236}">
                <a16:creationId xmlns:a16="http://schemas.microsoft.com/office/drawing/2014/main" id="{B2DF648E-7A14-551E-4A9A-7537027394D8}"/>
              </a:ext>
            </a:extLst>
          </p:cNvPr>
          <p:cNvSpPr>
            <a:spLocks noGrp="1"/>
          </p:cNvSpPr>
          <p:nvPr>
            <p:ph idx="1"/>
          </p:nvPr>
        </p:nvSpPr>
        <p:spPr>
          <a:xfrm>
            <a:off x="838200" y="1551963"/>
            <a:ext cx="10515600" cy="4625000"/>
          </a:xfrm>
        </p:spPr>
        <p:txBody>
          <a:bodyPr>
            <a:normAutofit/>
          </a:bodyPr>
          <a:lstStyle/>
          <a:p>
            <a:r>
              <a:rPr lang="zh-TW" altLang="en-US" dirty="0"/>
              <a:t>治療憂鬱症的身心科醫師，在診療中的臨床變數都是主觀的，是否可信？</a:t>
            </a:r>
            <a:endParaRPr lang="en-US" altLang="zh-TW" dirty="0"/>
          </a:p>
          <a:p>
            <a:endParaRPr lang="en-US" altLang="zh-TW" dirty="0"/>
          </a:p>
          <a:p>
            <a:r>
              <a:rPr lang="zh-TW" altLang="en-US" dirty="0"/>
              <a:t>有</a:t>
            </a:r>
            <a:r>
              <a:rPr lang="en-US" altLang="zh-TW" dirty="0"/>
              <a:t>10</a:t>
            </a:r>
            <a:r>
              <a:rPr lang="zh-TW" altLang="en-US" dirty="0"/>
              <a:t>年治療經驗的身心科醫師也表明，對於患者每次回診是否有所改善都是用觀察猜測的。</a:t>
            </a:r>
            <a:endParaRPr lang="en-US" altLang="zh-TW" dirty="0"/>
          </a:p>
          <a:p>
            <a:pPr marL="0" indent="0">
              <a:buNone/>
            </a:pPr>
            <a:endParaRPr lang="en-US" altLang="zh-TW" dirty="0"/>
          </a:p>
          <a:p>
            <a:r>
              <a:rPr lang="zh-TW" altLang="en-US" dirty="0"/>
              <a:t>使用 </a:t>
            </a:r>
            <a:r>
              <a:rPr lang="en-US" altLang="zh-TW" dirty="0"/>
              <a:t>1~2</a:t>
            </a:r>
            <a:r>
              <a:rPr lang="zh-TW" altLang="en-US" dirty="0"/>
              <a:t> 分鐘的腦波當作特徵來進行機器學習的預測，結果凸顯了利用非侵入性腦電圖紀錄和數據驅動方法來優化臨床決策的潛力。</a:t>
            </a:r>
            <a:endParaRPr lang="en-US" altLang="zh-TW" dirty="0"/>
          </a:p>
          <a:p>
            <a:endParaRPr lang="en-US" altLang="zh-TW" dirty="0"/>
          </a:p>
          <a:p>
            <a:r>
              <a:rPr lang="zh-TW" altLang="en-US" dirty="0"/>
              <a:t>臨床醫師可以利用功能連結指標在治療早期識別有效患者，從而減輕冗長的誤試法所帶來的負擔。</a:t>
            </a:r>
            <a:endParaRPr lang="en-US" altLang="zh-TW" dirty="0"/>
          </a:p>
        </p:txBody>
      </p:sp>
    </p:spTree>
    <p:extLst>
      <p:ext uri="{BB962C8B-B14F-4D97-AF65-F5344CB8AC3E}">
        <p14:creationId xmlns:p14="http://schemas.microsoft.com/office/powerpoint/2010/main" val="1116145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5D435-8AC9-3187-4A45-9C7CB85F85B2}"/>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89D8C715-EE65-FCC3-B8CA-C8CE446896B3}"/>
              </a:ext>
            </a:extLst>
          </p:cNvPr>
          <p:cNvSpPr>
            <a:spLocks noGrp="1"/>
          </p:cNvSpPr>
          <p:nvPr>
            <p:ph type="sldNum" sz="quarter" idx="12"/>
          </p:nvPr>
        </p:nvSpPr>
        <p:spPr/>
        <p:txBody>
          <a:bodyPr/>
          <a:lstStyle/>
          <a:p>
            <a:fld id="{A6C4F607-EBAE-4F4B-BF62-778A00D92850}" type="slidenum">
              <a:rPr lang="en-US" altLang="zh-TW" smtClean="0"/>
              <a:pPr/>
              <a:t>13</a:t>
            </a:fld>
            <a:endParaRPr lang="en-US" dirty="0"/>
          </a:p>
        </p:txBody>
      </p:sp>
      <p:sp>
        <p:nvSpPr>
          <p:cNvPr id="4" name="文字版面配置區 3">
            <a:extLst>
              <a:ext uri="{FF2B5EF4-FFF2-40B4-BE49-F238E27FC236}">
                <a16:creationId xmlns:a16="http://schemas.microsoft.com/office/drawing/2014/main" id="{534E02E2-40DD-A974-38D9-D847DB51A28A}"/>
              </a:ext>
            </a:extLst>
          </p:cNvPr>
          <p:cNvSpPr>
            <a:spLocks noGrp="1"/>
          </p:cNvSpPr>
          <p:nvPr>
            <p:ph type="body" sz="quarter" idx="13"/>
          </p:nvPr>
        </p:nvSpPr>
        <p:spPr/>
        <p:txBody>
          <a:bodyPr>
            <a:normAutofit/>
          </a:bodyPr>
          <a:lstStyle/>
          <a:p>
            <a:r>
              <a:rPr lang="en-US" altLang="zh-TW" dirty="0"/>
              <a:t>04</a:t>
            </a:r>
            <a:endParaRPr lang="zh-TW" altLang="en-US" dirty="0"/>
          </a:p>
        </p:txBody>
      </p:sp>
      <p:sp>
        <p:nvSpPr>
          <p:cNvPr id="5" name="內容版面配置區 4">
            <a:extLst>
              <a:ext uri="{FF2B5EF4-FFF2-40B4-BE49-F238E27FC236}">
                <a16:creationId xmlns:a16="http://schemas.microsoft.com/office/drawing/2014/main" id="{5BD2B93D-43B9-9609-4A44-2257884F396D}"/>
              </a:ext>
            </a:extLst>
          </p:cNvPr>
          <p:cNvSpPr>
            <a:spLocks noGrp="1"/>
          </p:cNvSpPr>
          <p:nvPr>
            <p:ph sz="quarter" idx="14"/>
          </p:nvPr>
        </p:nvSpPr>
        <p:spPr>
          <a:xfrm>
            <a:off x="1443358" y="460690"/>
            <a:ext cx="9910442" cy="911886"/>
          </a:xfrm>
        </p:spPr>
        <p:txBody>
          <a:bodyPr>
            <a:normAutofit fontScale="92500" lnSpcReduction="10000"/>
          </a:bodyPr>
          <a:lstStyle/>
          <a:p>
            <a:r>
              <a:rPr lang="zh-TW" altLang="en-US" dirty="0"/>
              <a:t>基於 </a:t>
            </a:r>
            <a:r>
              <a:rPr lang="en-US" altLang="zh-TW" dirty="0" err="1"/>
              <a:t>nnU</a:t>
            </a:r>
            <a:r>
              <a:rPr lang="en-US" altLang="zh-TW" dirty="0"/>
              <a:t>-Net </a:t>
            </a:r>
            <a:r>
              <a:rPr lang="zh-TW" altLang="en-US" dirty="0"/>
              <a:t>與 </a:t>
            </a:r>
            <a:r>
              <a:rPr lang="en-US" altLang="zh-TW" dirty="0"/>
              <a:t>MRI</a:t>
            </a:r>
            <a:r>
              <a:rPr lang="zh-TW" altLang="en-US" dirty="0"/>
              <a:t> 放射組學之聽神經瘤立體定位放射手術後</a:t>
            </a:r>
            <a:endParaRPr lang="en-US" altLang="zh-TW" dirty="0"/>
          </a:p>
          <a:p>
            <a:r>
              <a:rPr lang="zh-TW" altLang="en-US" dirty="0"/>
              <a:t>長期治療反應預測</a:t>
            </a:r>
          </a:p>
        </p:txBody>
      </p:sp>
      <p:sp>
        <p:nvSpPr>
          <p:cNvPr id="6" name="矩形: 圓角 5">
            <a:extLst>
              <a:ext uri="{FF2B5EF4-FFF2-40B4-BE49-F238E27FC236}">
                <a16:creationId xmlns:a16="http://schemas.microsoft.com/office/drawing/2014/main" id="{BC60D2E5-CE45-7E39-0C4B-57557550E77E}"/>
              </a:ext>
            </a:extLst>
          </p:cNvPr>
          <p:cNvSpPr/>
          <p:nvPr/>
        </p:nvSpPr>
        <p:spPr>
          <a:xfrm>
            <a:off x="336224" y="2447679"/>
            <a:ext cx="1520687" cy="705678"/>
          </a:xfrm>
          <a:prstGeom prst="roundRect">
            <a:avLst/>
          </a:prstGeom>
          <a:noFill/>
          <a:ln w="38100">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原始數據</a:t>
            </a:r>
            <a:endParaRPr lang="en-US" altLang="zh-TW" dirty="0">
              <a:solidFill>
                <a:schemeClr val="tx1"/>
              </a:solidFill>
              <a:latin typeface="Noto Sans TC" panose="020B0200000000000000" pitchFamily="34" charset="-120"/>
              <a:ea typeface="Noto Sans TC" panose="020B0200000000000000" pitchFamily="34" charset="-120"/>
            </a:endParaRPr>
          </a:p>
          <a:p>
            <a:pPr algn="ctr"/>
            <a:r>
              <a:rPr lang="en-US" altLang="zh-TW" dirty="0">
                <a:solidFill>
                  <a:schemeClr val="tx1"/>
                </a:solidFill>
                <a:latin typeface="Noto Sans TC" panose="020B0200000000000000" pitchFamily="34" charset="-120"/>
                <a:ea typeface="Noto Sans TC" panose="020B0200000000000000" pitchFamily="34" charset="-120"/>
              </a:rPr>
              <a:t>ceT1WI</a:t>
            </a:r>
            <a:endParaRPr lang="zh-TW" altLang="en-US" dirty="0">
              <a:solidFill>
                <a:schemeClr val="tx1"/>
              </a:solidFill>
              <a:latin typeface="Noto Sans TC" panose="020B0200000000000000" pitchFamily="34" charset="-120"/>
              <a:ea typeface="Noto Sans TC" panose="020B0200000000000000" pitchFamily="34" charset="-120"/>
            </a:endParaRPr>
          </a:p>
        </p:txBody>
      </p:sp>
      <p:cxnSp>
        <p:nvCxnSpPr>
          <p:cNvPr id="7" name="直線單箭頭接點 6">
            <a:extLst>
              <a:ext uri="{FF2B5EF4-FFF2-40B4-BE49-F238E27FC236}">
                <a16:creationId xmlns:a16="http://schemas.microsoft.com/office/drawing/2014/main" id="{493ECD95-7137-38FA-E63F-07D2064F2787}"/>
              </a:ext>
            </a:extLst>
          </p:cNvPr>
          <p:cNvCxnSpPr>
            <a:cxnSpLocks/>
            <a:stCxn id="6" idx="3"/>
            <a:endCxn id="11" idx="1"/>
          </p:cNvCxnSpPr>
          <p:nvPr/>
        </p:nvCxnSpPr>
        <p:spPr>
          <a:xfrm flipV="1">
            <a:off x="1856911" y="2795668"/>
            <a:ext cx="599011" cy="4850"/>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圓角 10">
            <a:extLst>
              <a:ext uri="{FF2B5EF4-FFF2-40B4-BE49-F238E27FC236}">
                <a16:creationId xmlns:a16="http://schemas.microsoft.com/office/drawing/2014/main" id="{32F6AE36-D554-EE76-1D13-81D1DEAD56B9}"/>
              </a:ext>
            </a:extLst>
          </p:cNvPr>
          <p:cNvSpPr/>
          <p:nvPr/>
        </p:nvSpPr>
        <p:spPr>
          <a:xfrm>
            <a:off x="2455922" y="1592729"/>
            <a:ext cx="1749593" cy="2405877"/>
          </a:xfrm>
          <a:prstGeom prst="roundRect">
            <a:avLst/>
          </a:prstGeom>
          <a:noFill/>
          <a:ln w="38100">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預處理</a:t>
            </a: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zh-TW" altLang="en-US" dirty="0">
              <a:solidFill>
                <a:schemeClr val="tx1"/>
              </a:solidFill>
              <a:latin typeface="Noto Sans TC" panose="020B0200000000000000" pitchFamily="34" charset="-120"/>
              <a:ea typeface="Noto Sans TC" panose="020B0200000000000000" pitchFamily="34" charset="-120"/>
            </a:endParaRPr>
          </a:p>
        </p:txBody>
      </p:sp>
      <p:sp>
        <p:nvSpPr>
          <p:cNvPr id="12" name="矩形: 圓角 11">
            <a:extLst>
              <a:ext uri="{FF2B5EF4-FFF2-40B4-BE49-F238E27FC236}">
                <a16:creationId xmlns:a16="http://schemas.microsoft.com/office/drawing/2014/main" id="{3C053A19-E4AE-A955-2C08-E5DCEFA3F801}"/>
              </a:ext>
            </a:extLst>
          </p:cNvPr>
          <p:cNvSpPr/>
          <p:nvPr/>
        </p:nvSpPr>
        <p:spPr>
          <a:xfrm>
            <a:off x="2888275" y="2196276"/>
            <a:ext cx="884889" cy="411358"/>
          </a:xfrm>
          <a:prstGeom prst="roundRect">
            <a:avLst/>
          </a:prstGeom>
          <a:solidFill>
            <a:schemeClr val="bg1">
              <a:lumMod val="85000"/>
            </a:schemeClr>
          </a:solidFill>
          <a:ln w="381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裁切</a:t>
            </a:r>
          </a:p>
        </p:txBody>
      </p:sp>
      <p:sp>
        <p:nvSpPr>
          <p:cNvPr id="13" name="矩形: 圓角 12">
            <a:extLst>
              <a:ext uri="{FF2B5EF4-FFF2-40B4-BE49-F238E27FC236}">
                <a16:creationId xmlns:a16="http://schemas.microsoft.com/office/drawing/2014/main" id="{0E9CFC52-3E57-6B88-C07B-5FD742142A55}"/>
              </a:ext>
            </a:extLst>
          </p:cNvPr>
          <p:cNvSpPr/>
          <p:nvPr/>
        </p:nvSpPr>
        <p:spPr>
          <a:xfrm>
            <a:off x="2570376" y="2795668"/>
            <a:ext cx="1520687" cy="411358"/>
          </a:xfrm>
          <a:prstGeom prst="roundRect">
            <a:avLst/>
          </a:prstGeom>
          <a:solidFill>
            <a:schemeClr val="bg1">
              <a:lumMod val="85000"/>
            </a:schemeClr>
          </a:solidFill>
          <a:ln w="381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強度歸一化</a:t>
            </a:r>
          </a:p>
        </p:txBody>
      </p:sp>
      <p:sp>
        <p:nvSpPr>
          <p:cNvPr id="14" name="矩形: 圓角 13">
            <a:extLst>
              <a:ext uri="{FF2B5EF4-FFF2-40B4-BE49-F238E27FC236}">
                <a16:creationId xmlns:a16="http://schemas.microsoft.com/office/drawing/2014/main" id="{E8D08B26-0033-2B5F-7BFB-ABF06CC1CA43}"/>
              </a:ext>
            </a:extLst>
          </p:cNvPr>
          <p:cNvSpPr/>
          <p:nvPr/>
        </p:nvSpPr>
        <p:spPr>
          <a:xfrm>
            <a:off x="2570376" y="3394251"/>
            <a:ext cx="1520687" cy="411358"/>
          </a:xfrm>
          <a:prstGeom prst="roundRect">
            <a:avLst/>
          </a:prstGeom>
          <a:solidFill>
            <a:schemeClr val="bg1">
              <a:lumMod val="85000"/>
            </a:schemeClr>
          </a:solidFill>
          <a:ln w="381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重採樣</a:t>
            </a:r>
          </a:p>
        </p:txBody>
      </p:sp>
      <p:cxnSp>
        <p:nvCxnSpPr>
          <p:cNvPr id="15" name="直線單箭頭接點 14">
            <a:extLst>
              <a:ext uri="{FF2B5EF4-FFF2-40B4-BE49-F238E27FC236}">
                <a16:creationId xmlns:a16="http://schemas.microsoft.com/office/drawing/2014/main" id="{EC92DB14-AA7F-56F7-CD75-9AD1DC87CCC4}"/>
              </a:ext>
            </a:extLst>
          </p:cNvPr>
          <p:cNvCxnSpPr>
            <a:cxnSpLocks/>
            <a:stCxn id="12" idx="2"/>
            <a:endCxn id="13" idx="0"/>
          </p:cNvCxnSpPr>
          <p:nvPr/>
        </p:nvCxnSpPr>
        <p:spPr>
          <a:xfrm>
            <a:off x="3330720" y="2607634"/>
            <a:ext cx="0" cy="188034"/>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a:extLst>
              <a:ext uri="{FF2B5EF4-FFF2-40B4-BE49-F238E27FC236}">
                <a16:creationId xmlns:a16="http://schemas.microsoft.com/office/drawing/2014/main" id="{744F34B0-605E-646B-3EFA-07A8C6264D4D}"/>
              </a:ext>
            </a:extLst>
          </p:cNvPr>
          <p:cNvCxnSpPr>
            <a:cxnSpLocks/>
            <a:stCxn id="13" idx="2"/>
            <a:endCxn id="14" idx="0"/>
          </p:cNvCxnSpPr>
          <p:nvPr/>
        </p:nvCxnSpPr>
        <p:spPr>
          <a:xfrm>
            <a:off x="3330720" y="3207026"/>
            <a:ext cx="0" cy="187225"/>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sp>
        <p:nvSpPr>
          <p:cNvPr id="49" name="矩形: 圓角 48">
            <a:extLst>
              <a:ext uri="{FF2B5EF4-FFF2-40B4-BE49-F238E27FC236}">
                <a16:creationId xmlns:a16="http://schemas.microsoft.com/office/drawing/2014/main" id="{8C007668-2EE4-C4A6-CDAF-1E7684209BE4}"/>
              </a:ext>
            </a:extLst>
          </p:cNvPr>
          <p:cNvSpPr/>
          <p:nvPr/>
        </p:nvSpPr>
        <p:spPr>
          <a:xfrm>
            <a:off x="9912914" y="2447679"/>
            <a:ext cx="1520687" cy="705678"/>
          </a:xfrm>
          <a:prstGeom prst="roundRect">
            <a:avLst/>
          </a:prstGeom>
          <a:noFill/>
          <a:ln w="38100">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影像</a:t>
            </a:r>
            <a:endParaRPr lang="en-US" altLang="zh-TW" dirty="0">
              <a:solidFill>
                <a:schemeClr val="tx1"/>
              </a:solidFill>
              <a:latin typeface="Noto Sans TC" panose="020B0200000000000000" pitchFamily="34" charset="-120"/>
              <a:ea typeface="Noto Sans TC" panose="020B0200000000000000" pitchFamily="34" charset="-120"/>
            </a:endParaRPr>
          </a:p>
          <a:p>
            <a:pPr algn="ctr"/>
            <a:r>
              <a:rPr lang="zh-TW" altLang="en-US" dirty="0">
                <a:solidFill>
                  <a:schemeClr val="tx1"/>
                </a:solidFill>
                <a:latin typeface="Noto Sans TC" panose="020B0200000000000000" pitchFamily="34" charset="-120"/>
                <a:ea typeface="Noto Sans TC" panose="020B0200000000000000" pitchFamily="34" charset="-120"/>
              </a:rPr>
              <a:t>自動分割</a:t>
            </a:r>
          </a:p>
        </p:txBody>
      </p:sp>
      <p:pic>
        <p:nvPicPr>
          <p:cNvPr id="51" name="圖片 50">
            <a:extLst>
              <a:ext uri="{FF2B5EF4-FFF2-40B4-BE49-F238E27FC236}">
                <a16:creationId xmlns:a16="http://schemas.microsoft.com/office/drawing/2014/main" id="{FB72885C-A800-B2AD-13F4-52F75122B9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6146" y="1943165"/>
            <a:ext cx="3345531" cy="1940408"/>
          </a:xfrm>
          <a:prstGeom prst="rect">
            <a:avLst/>
          </a:prstGeom>
        </p:spPr>
      </p:pic>
      <p:sp>
        <p:nvSpPr>
          <p:cNvPr id="52" name="內容版面配置區 1">
            <a:extLst>
              <a:ext uri="{FF2B5EF4-FFF2-40B4-BE49-F238E27FC236}">
                <a16:creationId xmlns:a16="http://schemas.microsoft.com/office/drawing/2014/main" id="{A9049836-1260-BC6C-6E6D-250938BA1924}"/>
              </a:ext>
            </a:extLst>
          </p:cNvPr>
          <p:cNvSpPr txBox="1">
            <a:spLocks/>
          </p:cNvSpPr>
          <p:nvPr/>
        </p:nvSpPr>
        <p:spPr>
          <a:xfrm>
            <a:off x="5754458" y="1725658"/>
            <a:ext cx="2137676" cy="4706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4"/>
              </a:buBlip>
              <a:defRPr lang="zh-TW" altLang="en-US" sz="2400" b="0" kern="1200" baseline="0" dirty="0">
                <a:solidFill>
                  <a:schemeClr val="tx1"/>
                </a:solidFill>
                <a:latin typeface="Noto Sans TC" panose="020B0500000000000000"/>
                <a:ea typeface="標楷體" panose="03000509000000000000" pitchFamily="65" charset="-120"/>
                <a:cs typeface="+mn-cs"/>
              </a:defRPr>
            </a:lvl1pPr>
            <a:lvl2pPr marL="685800" indent="-228600" algn="l" defTabSz="914400" rtl="0" eaLnBrk="1" latinLnBrk="0" hangingPunct="1">
              <a:lnSpc>
                <a:spcPct val="90000"/>
              </a:lnSpc>
              <a:spcBef>
                <a:spcPts val="500"/>
              </a:spcBef>
              <a:buFontTx/>
              <a:buBlip>
                <a:blip r:embed="rId5"/>
              </a:buBlip>
              <a:defRPr lang="zh-TW" altLang="en-US" sz="2000" b="0" kern="1200" baseline="0" dirty="0">
                <a:solidFill>
                  <a:schemeClr val="tx1"/>
                </a:solidFill>
                <a:latin typeface="Noto Sans TC" panose="020B0500000000000000"/>
                <a:ea typeface="標楷體" panose="03000509000000000000" pitchFamily="65" charset="-120"/>
                <a:cs typeface="+mn-cs"/>
              </a:defRPr>
            </a:lvl2pPr>
            <a:lvl3pPr marL="1143000" indent="-228600" algn="l" defTabSz="914400" rtl="0" eaLnBrk="1" latinLnBrk="0" hangingPunct="1">
              <a:lnSpc>
                <a:spcPct val="90000"/>
              </a:lnSpc>
              <a:spcBef>
                <a:spcPts val="500"/>
              </a:spcBef>
              <a:buFontTx/>
              <a:buBlip>
                <a:blip r:embed="rId6"/>
              </a:buBlip>
              <a:defRPr lang="zh-TW" altLang="en-US" sz="1800" b="0" kern="1200" baseline="0" dirty="0">
                <a:solidFill>
                  <a:schemeClr val="tx1"/>
                </a:solidFill>
                <a:latin typeface="Noto Sans TC" panose="020B0500000000000000"/>
                <a:ea typeface="標楷體" panose="03000509000000000000" pitchFamily="65" charset="-120"/>
                <a:cs typeface="+mn-cs"/>
              </a:defRPr>
            </a:lvl3pPr>
            <a:lvl4pPr marL="1600200" indent="-228600" algn="l" defTabSz="914400" rtl="0" eaLnBrk="1" latinLnBrk="0" hangingPunct="1">
              <a:lnSpc>
                <a:spcPct val="90000"/>
              </a:lnSpc>
              <a:spcBef>
                <a:spcPts val="500"/>
              </a:spcBef>
              <a:buFontTx/>
              <a:buBlip>
                <a:blip r:embed="rId7"/>
              </a:buBlip>
              <a:defRPr lang="zh-TW" altLang="en-US" sz="1800" b="0" kern="1200" baseline="0" dirty="0">
                <a:solidFill>
                  <a:schemeClr val="tx1"/>
                </a:solidFill>
                <a:latin typeface="Noto Sans TC" panose="020B0500000000000000"/>
                <a:ea typeface="標楷體" panose="03000509000000000000" pitchFamily="65" charset="-120"/>
                <a:cs typeface="+mn-cs"/>
              </a:defRPr>
            </a:lvl4pPr>
            <a:lvl5pPr marL="2057400" indent="-228600" algn="l" defTabSz="914400" rtl="0" eaLnBrk="1" latinLnBrk="0" hangingPunct="1">
              <a:lnSpc>
                <a:spcPct val="90000"/>
              </a:lnSpc>
              <a:spcBef>
                <a:spcPts val="500"/>
              </a:spcBef>
              <a:buFontTx/>
              <a:buBlip>
                <a:blip r:embed="rId8"/>
              </a:buBlip>
              <a:defRPr lang="zh-TW" altLang="en-US" sz="1800" b="0" kern="1200" baseline="0" dirty="0">
                <a:solidFill>
                  <a:schemeClr val="tx1"/>
                </a:solidFill>
                <a:latin typeface="Noto Sans TC" panose="020B0500000000000000"/>
                <a:ea typeface="標楷體" panose="03000509000000000000" pitchFamily="65"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TW" sz="1800" dirty="0">
                <a:latin typeface="Noto Sans TC" panose="020B0200000000000000" pitchFamily="34" charset="-120"/>
                <a:ea typeface="Noto Sans TC" panose="020B0200000000000000" pitchFamily="34" charset="-120"/>
              </a:rPr>
              <a:t>nnU-Net </a:t>
            </a:r>
            <a:r>
              <a:rPr lang="zh-TW" altLang="en-US" sz="1800" dirty="0">
                <a:latin typeface="Noto Sans TC" panose="020B0200000000000000" pitchFamily="34" charset="-120"/>
                <a:ea typeface="Noto Sans TC" panose="020B0200000000000000" pitchFamily="34" charset="-120"/>
              </a:rPr>
              <a:t>模型訓練</a:t>
            </a:r>
            <a:endParaRPr lang="en-US" altLang="zh-TW" sz="1800" dirty="0">
              <a:latin typeface="Noto Sans TC" panose="020B0200000000000000" pitchFamily="34" charset="-120"/>
              <a:ea typeface="Noto Sans TC" panose="020B0200000000000000" pitchFamily="34" charset="-120"/>
            </a:endParaRPr>
          </a:p>
        </p:txBody>
      </p:sp>
      <p:cxnSp>
        <p:nvCxnSpPr>
          <p:cNvPr id="54" name="直線單箭頭接點 53">
            <a:extLst>
              <a:ext uri="{FF2B5EF4-FFF2-40B4-BE49-F238E27FC236}">
                <a16:creationId xmlns:a16="http://schemas.microsoft.com/office/drawing/2014/main" id="{48692C01-3F6D-165B-B75C-95D001C94D56}"/>
              </a:ext>
            </a:extLst>
          </p:cNvPr>
          <p:cNvCxnSpPr>
            <a:cxnSpLocks/>
            <a:stCxn id="11" idx="3"/>
          </p:cNvCxnSpPr>
          <p:nvPr/>
        </p:nvCxnSpPr>
        <p:spPr>
          <a:xfrm>
            <a:off x="4205515" y="2795668"/>
            <a:ext cx="1100631" cy="0"/>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sp>
        <p:nvSpPr>
          <p:cNvPr id="57" name="矩形: 圓角 56">
            <a:extLst>
              <a:ext uri="{FF2B5EF4-FFF2-40B4-BE49-F238E27FC236}">
                <a16:creationId xmlns:a16="http://schemas.microsoft.com/office/drawing/2014/main" id="{D196A530-FB4A-90B7-4146-F897CB9CF90C}"/>
              </a:ext>
            </a:extLst>
          </p:cNvPr>
          <p:cNvSpPr/>
          <p:nvPr/>
        </p:nvSpPr>
        <p:spPr>
          <a:xfrm>
            <a:off x="9709510" y="5086512"/>
            <a:ext cx="1927493" cy="705678"/>
          </a:xfrm>
          <a:prstGeom prst="roundRect">
            <a:avLst/>
          </a:prstGeom>
          <a:noFill/>
          <a:ln w="38100">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手動擷腫瘤影像</a:t>
            </a:r>
            <a:endParaRPr lang="en-US" altLang="zh-TW" dirty="0">
              <a:solidFill>
                <a:schemeClr val="tx1"/>
              </a:solidFill>
              <a:latin typeface="Noto Sans TC" panose="020B0200000000000000" pitchFamily="34" charset="-120"/>
              <a:ea typeface="Noto Sans TC" panose="020B0200000000000000" pitchFamily="34" charset="-120"/>
            </a:endParaRPr>
          </a:p>
          <a:p>
            <a:pPr algn="ctr"/>
            <a:r>
              <a:rPr lang="zh-TW" altLang="en-US" dirty="0">
                <a:solidFill>
                  <a:schemeClr val="tx1"/>
                </a:solidFill>
                <a:latin typeface="Noto Sans TC" panose="020B0200000000000000" pitchFamily="34" charset="-120"/>
                <a:ea typeface="Noto Sans TC" panose="020B0200000000000000" pitchFamily="34" charset="-120"/>
              </a:rPr>
              <a:t>感興趣的部分</a:t>
            </a:r>
            <a:endParaRPr lang="en-US" altLang="zh-TW" dirty="0">
              <a:solidFill>
                <a:schemeClr val="tx1"/>
              </a:solidFill>
              <a:latin typeface="Noto Sans TC" panose="020B0200000000000000" pitchFamily="34" charset="-120"/>
              <a:ea typeface="Noto Sans TC" panose="020B0200000000000000" pitchFamily="34" charset="-120"/>
            </a:endParaRPr>
          </a:p>
        </p:txBody>
      </p:sp>
      <p:cxnSp>
        <p:nvCxnSpPr>
          <p:cNvPr id="58" name="直線單箭頭接點 57">
            <a:extLst>
              <a:ext uri="{FF2B5EF4-FFF2-40B4-BE49-F238E27FC236}">
                <a16:creationId xmlns:a16="http://schemas.microsoft.com/office/drawing/2014/main" id="{1B0A2137-AFCB-787C-9142-D8ECCC0265FB}"/>
              </a:ext>
            </a:extLst>
          </p:cNvPr>
          <p:cNvCxnSpPr>
            <a:cxnSpLocks/>
            <a:endCxn id="49" idx="1"/>
          </p:cNvCxnSpPr>
          <p:nvPr/>
        </p:nvCxnSpPr>
        <p:spPr>
          <a:xfrm>
            <a:off x="8768669" y="2800518"/>
            <a:ext cx="1144245" cy="0"/>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63" name="接點: 肘形 62">
            <a:extLst>
              <a:ext uri="{FF2B5EF4-FFF2-40B4-BE49-F238E27FC236}">
                <a16:creationId xmlns:a16="http://schemas.microsoft.com/office/drawing/2014/main" id="{5D022384-AE6A-CD89-FF88-0EC58CC2BACD}"/>
              </a:ext>
            </a:extLst>
          </p:cNvPr>
          <p:cNvCxnSpPr>
            <a:cxnSpLocks/>
            <a:stCxn id="49" idx="3"/>
            <a:endCxn id="57" idx="3"/>
          </p:cNvCxnSpPr>
          <p:nvPr/>
        </p:nvCxnSpPr>
        <p:spPr>
          <a:xfrm>
            <a:off x="11433601" y="2800518"/>
            <a:ext cx="203402" cy="2638833"/>
          </a:xfrm>
          <a:prstGeom prst="bentConnector3">
            <a:avLst>
              <a:gd name="adj1" fmla="val 212388"/>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sp>
        <p:nvSpPr>
          <p:cNvPr id="66" name="矩形: 圓角 65">
            <a:extLst>
              <a:ext uri="{FF2B5EF4-FFF2-40B4-BE49-F238E27FC236}">
                <a16:creationId xmlns:a16="http://schemas.microsoft.com/office/drawing/2014/main" id="{6A2A5A8C-3E63-B16D-7DB4-781435134F9E}"/>
              </a:ext>
            </a:extLst>
          </p:cNvPr>
          <p:cNvSpPr/>
          <p:nvPr/>
        </p:nvSpPr>
        <p:spPr>
          <a:xfrm>
            <a:off x="7057973" y="4236412"/>
            <a:ext cx="2307512" cy="2405877"/>
          </a:xfrm>
          <a:prstGeom prst="roundRect">
            <a:avLst/>
          </a:prstGeom>
          <a:noFill/>
          <a:ln w="38100">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放射組學特徵提取</a:t>
            </a: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zh-TW" altLang="en-US" dirty="0">
              <a:solidFill>
                <a:schemeClr val="tx1"/>
              </a:solidFill>
              <a:latin typeface="Noto Sans TC" panose="020B0200000000000000" pitchFamily="34" charset="-120"/>
              <a:ea typeface="Noto Sans TC" panose="020B0200000000000000" pitchFamily="34" charset="-120"/>
            </a:endParaRPr>
          </a:p>
        </p:txBody>
      </p:sp>
      <p:sp>
        <p:nvSpPr>
          <p:cNvPr id="67" name="矩形: 圓角 66">
            <a:extLst>
              <a:ext uri="{FF2B5EF4-FFF2-40B4-BE49-F238E27FC236}">
                <a16:creationId xmlns:a16="http://schemas.microsoft.com/office/drawing/2014/main" id="{C7E118B6-0CBD-10EF-8D26-A35066BA0B4F}"/>
              </a:ext>
            </a:extLst>
          </p:cNvPr>
          <p:cNvSpPr/>
          <p:nvPr/>
        </p:nvSpPr>
        <p:spPr>
          <a:xfrm>
            <a:off x="7610335" y="4834996"/>
            <a:ext cx="1202788" cy="411358"/>
          </a:xfrm>
          <a:prstGeom prst="roundRect">
            <a:avLst/>
          </a:prstGeom>
          <a:solidFill>
            <a:schemeClr val="bg1">
              <a:lumMod val="85000"/>
            </a:schemeClr>
          </a:solidFill>
          <a:ln w="381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特徵提取</a:t>
            </a:r>
          </a:p>
        </p:txBody>
      </p:sp>
      <p:sp>
        <p:nvSpPr>
          <p:cNvPr id="68" name="矩形: 圓角 67">
            <a:extLst>
              <a:ext uri="{FF2B5EF4-FFF2-40B4-BE49-F238E27FC236}">
                <a16:creationId xmlns:a16="http://schemas.microsoft.com/office/drawing/2014/main" id="{1BD12E0F-8228-F9D6-6325-AF585040520A}"/>
              </a:ext>
            </a:extLst>
          </p:cNvPr>
          <p:cNvSpPr/>
          <p:nvPr/>
        </p:nvSpPr>
        <p:spPr>
          <a:xfrm>
            <a:off x="7610335" y="5439351"/>
            <a:ext cx="1202788" cy="411358"/>
          </a:xfrm>
          <a:prstGeom prst="roundRect">
            <a:avLst/>
          </a:prstGeom>
          <a:solidFill>
            <a:schemeClr val="bg1">
              <a:lumMod val="85000"/>
            </a:schemeClr>
          </a:solidFill>
          <a:ln w="381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特徵過濾</a:t>
            </a:r>
          </a:p>
        </p:txBody>
      </p:sp>
      <p:sp>
        <p:nvSpPr>
          <p:cNvPr id="69" name="矩形: 圓角 68">
            <a:extLst>
              <a:ext uri="{FF2B5EF4-FFF2-40B4-BE49-F238E27FC236}">
                <a16:creationId xmlns:a16="http://schemas.microsoft.com/office/drawing/2014/main" id="{33E89A62-7815-BDC5-8080-3948323871C8}"/>
              </a:ext>
            </a:extLst>
          </p:cNvPr>
          <p:cNvSpPr/>
          <p:nvPr/>
        </p:nvSpPr>
        <p:spPr>
          <a:xfrm>
            <a:off x="7198364" y="6037934"/>
            <a:ext cx="2026733" cy="411358"/>
          </a:xfrm>
          <a:prstGeom prst="roundRect">
            <a:avLst/>
          </a:prstGeom>
          <a:solidFill>
            <a:schemeClr val="bg1">
              <a:lumMod val="85000"/>
            </a:schemeClr>
          </a:solidFill>
          <a:ln w="381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Noto Sans TC" panose="020B0200000000000000" pitchFamily="34" charset="-120"/>
                <a:ea typeface="Noto Sans TC" panose="020B0200000000000000" pitchFamily="34" charset="-120"/>
              </a:rPr>
              <a:t>LASSO</a:t>
            </a:r>
            <a:r>
              <a:rPr lang="zh-TW" altLang="en-US" dirty="0">
                <a:solidFill>
                  <a:schemeClr val="tx1"/>
                </a:solidFill>
                <a:latin typeface="Noto Sans TC" panose="020B0200000000000000" pitchFamily="34" charset="-120"/>
                <a:ea typeface="Noto Sans TC" panose="020B0200000000000000" pitchFamily="34" charset="-120"/>
              </a:rPr>
              <a:t> </a:t>
            </a:r>
            <a:r>
              <a:rPr lang="en-US" altLang="zh-TW" dirty="0">
                <a:solidFill>
                  <a:schemeClr val="tx1"/>
                </a:solidFill>
                <a:latin typeface="Noto Sans TC" panose="020B0200000000000000" pitchFamily="34" charset="-120"/>
                <a:ea typeface="Noto Sans TC" panose="020B0200000000000000" pitchFamily="34" charset="-120"/>
              </a:rPr>
              <a:t>selection</a:t>
            </a:r>
            <a:endParaRPr lang="zh-TW" altLang="en-US" dirty="0">
              <a:solidFill>
                <a:schemeClr val="tx1"/>
              </a:solidFill>
              <a:latin typeface="Noto Sans TC" panose="020B0200000000000000" pitchFamily="34" charset="-120"/>
              <a:ea typeface="Noto Sans TC" panose="020B0200000000000000" pitchFamily="34" charset="-120"/>
            </a:endParaRPr>
          </a:p>
        </p:txBody>
      </p:sp>
      <p:cxnSp>
        <p:nvCxnSpPr>
          <p:cNvPr id="70" name="直線單箭頭接點 69">
            <a:extLst>
              <a:ext uri="{FF2B5EF4-FFF2-40B4-BE49-F238E27FC236}">
                <a16:creationId xmlns:a16="http://schemas.microsoft.com/office/drawing/2014/main" id="{7892A086-7371-D3C4-6F40-CD981FC15CF5}"/>
              </a:ext>
            </a:extLst>
          </p:cNvPr>
          <p:cNvCxnSpPr>
            <a:cxnSpLocks/>
            <a:stCxn id="67" idx="2"/>
            <a:endCxn id="68" idx="0"/>
          </p:cNvCxnSpPr>
          <p:nvPr/>
        </p:nvCxnSpPr>
        <p:spPr>
          <a:xfrm>
            <a:off x="8211729" y="5246354"/>
            <a:ext cx="0" cy="192997"/>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90128E9C-EFC3-FCE8-8E5C-366FCC94D064}"/>
              </a:ext>
            </a:extLst>
          </p:cNvPr>
          <p:cNvCxnSpPr>
            <a:cxnSpLocks/>
            <a:stCxn id="68" idx="2"/>
            <a:endCxn id="69" idx="0"/>
          </p:cNvCxnSpPr>
          <p:nvPr/>
        </p:nvCxnSpPr>
        <p:spPr>
          <a:xfrm>
            <a:off x="8211729" y="5850709"/>
            <a:ext cx="2" cy="187225"/>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sp>
        <p:nvSpPr>
          <p:cNvPr id="77" name="矩形: 圓角 76">
            <a:extLst>
              <a:ext uri="{FF2B5EF4-FFF2-40B4-BE49-F238E27FC236}">
                <a16:creationId xmlns:a16="http://schemas.microsoft.com/office/drawing/2014/main" id="{E693F971-7658-423F-0864-7B2DF4CA8139}"/>
              </a:ext>
            </a:extLst>
          </p:cNvPr>
          <p:cNvSpPr/>
          <p:nvPr/>
        </p:nvSpPr>
        <p:spPr>
          <a:xfrm>
            <a:off x="3370578" y="4236412"/>
            <a:ext cx="2307512" cy="2405877"/>
          </a:xfrm>
          <a:prstGeom prst="roundRect">
            <a:avLst/>
          </a:prstGeom>
          <a:noFill/>
          <a:ln w="38100">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機器學習模型訓練</a:t>
            </a: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zh-TW" altLang="en-US" dirty="0">
              <a:solidFill>
                <a:schemeClr val="tx1"/>
              </a:solidFill>
              <a:latin typeface="Noto Sans TC" panose="020B0200000000000000" pitchFamily="34" charset="-120"/>
              <a:ea typeface="Noto Sans TC" panose="020B0200000000000000" pitchFamily="34" charset="-120"/>
            </a:endParaRPr>
          </a:p>
        </p:txBody>
      </p:sp>
      <p:sp>
        <p:nvSpPr>
          <p:cNvPr id="78" name="矩形: 圓角 77">
            <a:extLst>
              <a:ext uri="{FF2B5EF4-FFF2-40B4-BE49-F238E27FC236}">
                <a16:creationId xmlns:a16="http://schemas.microsoft.com/office/drawing/2014/main" id="{7F78EB88-55CD-555E-78D5-AD180F3A2A1E}"/>
              </a:ext>
            </a:extLst>
          </p:cNvPr>
          <p:cNvSpPr/>
          <p:nvPr/>
        </p:nvSpPr>
        <p:spPr>
          <a:xfrm>
            <a:off x="3922940" y="4726733"/>
            <a:ext cx="1202788" cy="411358"/>
          </a:xfrm>
          <a:prstGeom prst="roundRect">
            <a:avLst/>
          </a:prstGeom>
          <a:solidFill>
            <a:schemeClr val="bg1">
              <a:lumMod val="85000"/>
            </a:schemeClr>
          </a:solidFill>
          <a:ln w="381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隨機森林</a:t>
            </a:r>
          </a:p>
        </p:txBody>
      </p:sp>
      <p:sp>
        <p:nvSpPr>
          <p:cNvPr id="79" name="矩形: 圓角 78">
            <a:extLst>
              <a:ext uri="{FF2B5EF4-FFF2-40B4-BE49-F238E27FC236}">
                <a16:creationId xmlns:a16="http://schemas.microsoft.com/office/drawing/2014/main" id="{B38C1253-B97E-8981-D49C-CCC70CA77D05}"/>
              </a:ext>
            </a:extLst>
          </p:cNvPr>
          <p:cNvSpPr/>
          <p:nvPr/>
        </p:nvSpPr>
        <p:spPr>
          <a:xfrm>
            <a:off x="3922940" y="5198891"/>
            <a:ext cx="1202788" cy="411358"/>
          </a:xfrm>
          <a:prstGeom prst="roundRect">
            <a:avLst/>
          </a:prstGeom>
          <a:solidFill>
            <a:schemeClr val="bg1">
              <a:lumMod val="85000"/>
            </a:schemeClr>
          </a:solidFill>
          <a:ln w="381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邏輯回歸</a:t>
            </a:r>
          </a:p>
        </p:txBody>
      </p:sp>
      <p:sp>
        <p:nvSpPr>
          <p:cNvPr id="80" name="矩形: 圓角 79">
            <a:extLst>
              <a:ext uri="{FF2B5EF4-FFF2-40B4-BE49-F238E27FC236}">
                <a16:creationId xmlns:a16="http://schemas.microsoft.com/office/drawing/2014/main" id="{BE392955-70F3-2A85-7A6C-C7D2BEC98570}"/>
              </a:ext>
            </a:extLst>
          </p:cNvPr>
          <p:cNvSpPr/>
          <p:nvPr/>
        </p:nvSpPr>
        <p:spPr>
          <a:xfrm>
            <a:off x="3937876" y="5684707"/>
            <a:ext cx="1187851" cy="411358"/>
          </a:xfrm>
          <a:prstGeom prst="roundRect">
            <a:avLst/>
          </a:prstGeom>
          <a:solidFill>
            <a:schemeClr val="bg1">
              <a:lumMod val="85000"/>
            </a:schemeClr>
          </a:solidFill>
          <a:ln w="381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Noto Sans TC" panose="020B0200000000000000" pitchFamily="34" charset="-120"/>
                <a:ea typeface="Noto Sans TC" panose="020B0200000000000000" pitchFamily="34" charset="-120"/>
              </a:rPr>
              <a:t>SVM</a:t>
            </a:r>
            <a:endParaRPr lang="zh-TW" altLang="en-US" dirty="0">
              <a:solidFill>
                <a:schemeClr val="tx1"/>
              </a:solidFill>
              <a:latin typeface="Noto Sans TC" panose="020B0200000000000000" pitchFamily="34" charset="-120"/>
              <a:ea typeface="Noto Sans TC" panose="020B0200000000000000" pitchFamily="34" charset="-120"/>
            </a:endParaRPr>
          </a:p>
        </p:txBody>
      </p:sp>
      <p:sp>
        <p:nvSpPr>
          <p:cNvPr id="83" name="內容版面配置區 1">
            <a:extLst>
              <a:ext uri="{FF2B5EF4-FFF2-40B4-BE49-F238E27FC236}">
                <a16:creationId xmlns:a16="http://schemas.microsoft.com/office/drawing/2014/main" id="{4B10D3C8-28EB-1A3F-EF66-7FDC51D67334}"/>
              </a:ext>
            </a:extLst>
          </p:cNvPr>
          <p:cNvSpPr txBox="1">
            <a:spLocks/>
          </p:cNvSpPr>
          <p:nvPr/>
        </p:nvSpPr>
        <p:spPr>
          <a:xfrm>
            <a:off x="5290049" y="5040675"/>
            <a:ext cx="2137676" cy="4706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4"/>
              </a:buBlip>
              <a:defRPr lang="zh-TW" altLang="en-US" sz="2400" b="0" kern="1200" baseline="0" dirty="0">
                <a:solidFill>
                  <a:schemeClr val="tx1"/>
                </a:solidFill>
                <a:latin typeface="Noto Sans TC" panose="020B0500000000000000"/>
                <a:ea typeface="標楷體" panose="03000509000000000000" pitchFamily="65" charset="-120"/>
                <a:cs typeface="+mn-cs"/>
              </a:defRPr>
            </a:lvl1pPr>
            <a:lvl2pPr marL="685800" indent="-228600" algn="l" defTabSz="914400" rtl="0" eaLnBrk="1" latinLnBrk="0" hangingPunct="1">
              <a:lnSpc>
                <a:spcPct val="90000"/>
              </a:lnSpc>
              <a:spcBef>
                <a:spcPts val="500"/>
              </a:spcBef>
              <a:buFontTx/>
              <a:buBlip>
                <a:blip r:embed="rId5"/>
              </a:buBlip>
              <a:defRPr lang="zh-TW" altLang="en-US" sz="2000" b="0" kern="1200" baseline="0" dirty="0">
                <a:solidFill>
                  <a:schemeClr val="tx1"/>
                </a:solidFill>
                <a:latin typeface="Noto Sans TC" panose="020B0500000000000000"/>
                <a:ea typeface="標楷體" panose="03000509000000000000" pitchFamily="65" charset="-120"/>
                <a:cs typeface="+mn-cs"/>
              </a:defRPr>
            </a:lvl2pPr>
            <a:lvl3pPr marL="1143000" indent="-228600" algn="l" defTabSz="914400" rtl="0" eaLnBrk="1" latinLnBrk="0" hangingPunct="1">
              <a:lnSpc>
                <a:spcPct val="90000"/>
              </a:lnSpc>
              <a:spcBef>
                <a:spcPts val="500"/>
              </a:spcBef>
              <a:buFontTx/>
              <a:buBlip>
                <a:blip r:embed="rId6"/>
              </a:buBlip>
              <a:defRPr lang="zh-TW" altLang="en-US" sz="1800" b="0" kern="1200" baseline="0" dirty="0">
                <a:solidFill>
                  <a:schemeClr val="tx1"/>
                </a:solidFill>
                <a:latin typeface="Noto Sans TC" panose="020B0500000000000000"/>
                <a:ea typeface="標楷體" panose="03000509000000000000" pitchFamily="65" charset="-120"/>
                <a:cs typeface="+mn-cs"/>
              </a:defRPr>
            </a:lvl3pPr>
            <a:lvl4pPr marL="1600200" indent="-228600" algn="l" defTabSz="914400" rtl="0" eaLnBrk="1" latinLnBrk="0" hangingPunct="1">
              <a:lnSpc>
                <a:spcPct val="90000"/>
              </a:lnSpc>
              <a:spcBef>
                <a:spcPts val="500"/>
              </a:spcBef>
              <a:buFontTx/>
              <a:buBlip>
                <a:blip r:embed="rId7"/>
              </a:buBlip>
              <a:defRPr lang="zh-TW" altLang="en-US" sz="1800" b="0" kern="1200" baseline="0" dirty="0">
                <a:solidFill>
                  <a:schemeClr val="tx1"/>
                </a:solidFill>
                <a:latin typeface="Noto Sans TC" panose="020B0500000000000000"/>
                <a:ea typeface="標楷體" panose="03000509000000000000" pitchFamily="65" charset="-120"/>
                <a:cs typeface="+mn-cs"/>
              </a:defRPr>
            </a:lvl4pPr>
            <a:lvl5pPr marL="2057400" indent="-228600" algn="l" defTabSz="914400" rtl="0" eaLnBrk="1" latinLnBrk="0" hangingPunct="1">
              <a:lnSpc>
                <a:spcPct val="90000"/>
              </a:lnSpc>
              <a:spcBef>
                <a:spcPts val="500"/>
              </a:spcBef>
              <a:buFontTx/>
              <a:buBlip>
                <a:blip r:embed="rId8"/>
              </a:buBlip>
              <a:defRPr lang="zh-TW" altLang="en-US" sz="1800" b="0" kern="1200" baseline="0" dirty="0">
                <a:solidFill>
                  <a:schemeClr val="tx1"/>
                </a:solidFill>
                <a:latin typeface="Noto Sans TC" panose="020B0500000000000000"/>
                <a:ea typeface="標楷體" panose="03000509000000000000" pitchFamily="65"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TW" sz="1800" dirty="0">
                <a:latin typeface="Noto Sans TC" panose="020B0200000000000000" pitchFamily="34" charset="-120"/>
                <a:ea typeface="Noto Sans TC" panose="020B0200000000000000" pitchFamily="34" charset="-120"/>
              </a:rPr>
              <a:t>5</a:t>
            </a:r>
            <a:r>
              <a:rPr lang="zh-TW" altLang="en-US" sz="1800" dirty="0">
                <a:latin typeface="Noto Sans TC" panose="020B0200000000000000" pitchFamily="34" charset="-120"/>
                <a:ea typeface="Noto Sans TC" panose="020B0200000000000000" pitchFamily="34" charset="-120"/>
              </a:rPr>
              <a:t>折交叉驗證</a:t>
            </a:r>
            <a:endParaRPr lang="en-US" altLang="zh-TW" sz="1800" dirty="0">
              <a:latin typeface="Noto Sans TC" panose="020B0200000000000000" pitchFamily="34" charset="-120"/>
              <a:ea typeface="Noto Sans TC" panose="020B0200000000000000" pitchFamily="34" charset="-120"/>
            </a:endParaRPr>
          </a:p>
        </p:txBody>
      </p:sp>
      <p:cxnSp>
        <p:nvCxnSpPr>
          <p:cNvPr id="86" name="直線單箭頭接點 85">
            <a:extLst>
              <a:ext uri="{FF2B5EF4-FFF2-40B4-BE49-F238E27FC236}">
                <a16:creationId xmlns:a16="http://schemas.microsoft.com/office/drawing/2014/main" id="{A7A6A113-F8F4-D539-DBF9-687D6522D4C1}"/>
              </a:ext>
            </a:extLst>
          </p:cNvPr>
          <p:cNvCxnSpPr>
            <a:cxnSpLocks/>
            <a:stCxn id="57" idx="1"/>
            <a:endCxn id="66" idx="3"/>
          </p:cNvCxnSpPr>
          <p:nvPr/>
        </p:nvCxnSpPr>
        <p:spPr>
          <a:xfrm flipH="1">
            <a:off x="9365485" y="5439351"/>
            <a:ext cx="344025" cy="0"/>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a:extLst>
              <a:ext uri="{FF2B5EF4-FFF2-40B4-BE49-F238E27FC236}">
                <a16:creationId xmlns:a16="http://schemas.microsoft.com/office/drawing/2014/main" id="{74332911-41DB-8CAD-F698-B2B2C1C23A52}"/>
              </a:ext>
            </a:extLst>
          </p:cNvPr>
          <p:cNvCxnSpPr>
            <a:cxnSpLocks/>
            <a:stCxn id="66" idx="1"/>
            <a:endCxn id="77" idx="3"/>
          </p:cNvCxnSpPr>
          <p:nvPr/>
        </p:nvCxnSpPr>
        <p:spPr>
          <a:xfrm flipH="1">
            <a:off x="5678090" y="5439351"/>
            <a:ext cx="1379883" cy="0"/>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sp>
        <p:nvSpPr>
          <p:cNvPr id="94" name="矩形: 圓角 93">
            <a:extLst>
              <a:ext uri="{FF2B5EF4-FFF2-40B4-BE49-F238E27FC236}">
                <a16:creationId xmlns:a16="http://schemas.microsoft.com/office/drawing/2014/main" id="{C59C97AE-3A7B-8033-EA17-0AB1BF2D2080}"/>
              </a:ext>
            </a:extLst>
          </p:cNvPr>
          <p:cNvSpPr/>
          <p:nvPr/>
        </p:nvSpPr>
        <p:spPr>
          <a:xfrm>
            <a:off x="3922940" y="6150210"/>
            <a:ext cx="1202788" cy="411358"/>
          </a:xfrm>
          <a:prstGeom prst="roundRect">
            <a:avLst/>
          </a:prstGeom>
          <a:solidFill>
            <a:schemeClr val="bg1">
              <a:lumMod val="85000"/>
            </a:schemeClr>
          </a:solidFill>
          <a:ln w="381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Noto Sans TC" panose="020B0200000000000000" pitchFamily="34" charset="-120"/>
                <a:ea typeface="Noto Sans TC" panose="020B0200000000000000" pitchFamily="34" charset="-120"/>
              </a:rPr>
              <a:t>…</a:t>
            </a:r>
            <a:endParaRPr lang="zh-TW" altLang="en-US" dirty="0">
              <a:solidFill>
                <a:schemeClr val="tx1"/>
              </a:solidFill>
              <a:latin typeface="Noto Sans TC" panose="020B0200000000000000" pitchFamily="34" charset="-120"/>
              <a:ea typeface="Noto Sans TC" panose="020B0200000000000000" pitchFamily="34" charset="-120"/>
            </a:endParaRPr>
          </a:p>
        </p:txBody>
      </p:sp>
      <p:sp>
        <p:nvSpPr>
          <p:cNvPr id="101" name="矩形 100">
            <a:extLst>
              <a:ext uri="{FF2B5EF4-FFF2-40B4-BE49-F238E27FC236}">
                <a16:creationId xmlns:a16="http://schemas.microsoft.com/office/drawing/2014/main" id="{D0AA8A24-52F9-9BE6-E5E2-0CE94E6B0F48}"/>
              </a:ext>
            </a:extLst>
          </p:cNvPr>
          <p:cNvSpPr/>
          <p:nvPr/>
        </p:nvSpPr>
        <p:spPr>
          <a:xfrm>
            <a:off x="109805" y="4187167"/>
            <a:ext cx="2916748" cy="2405877"/>
          </a:xfrm>
          <a:prstGeom prst="rect">
            <a:avLst/>
          </a:prstGeom>
          <a:noFill/>
          <a:ln w="38100">
            <a:solidFill>
              <a:srgbClr val="0C0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治療反應預測</a:t>
            </a: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zh-TW" altLang="en-US" dirty="0">
              <a:solidFill>
                <a:schemeClr val="tx1"/>
              </a:solidFill>
              <a:latin typeface="Noto Sans TC" panose="020B0200000000000000" pitchFamily="34" charset="-120"/>
              <a:ea typeface="Noto Sans TC" panose="020B0200000000000000" pitchFamily="34" charset="-120"/>
            </a:endParaRPr>
          </a:p>
        </p:txBody>
      </p:sp>
      <p:sp>
        <p:nvSpPr>
          <p:cNvPr id="110" name="矩形: 圓角 109">
            <a:extLst>
              <a:ext uri="{FF2B5EF4-FFF2-40B4-BE49-F238E27FC236}">
                <a16:creationId xmlns:a16="http://schemas.microsoft.com/office/drawing/2014/main" id="{0CFA3CAB-832E-76B9-0249-7DEAB7039186}"/>
              </a:ext>
            </a:extLst>
          </p:cNvPr>
          <p:cNvSpPr/>
          <p:nvPr/>
        </p:nvSpPr>
        <p:spPr>
          <a:xfrm>
            <a:off x="1632812" y="4834534"/>
            <a:ext cx="1334091" cy="1521355"/>
          </a:xfrm>
          <a:prstGeom prst="roundRect">
            <a:avLst/>
          </a:prstGeom>
          <a:noFill/>
          <a:ln w="38100">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第一階段</a:t>
            </a: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zh-TW" altLang="en-US" dirty="0">
              <a:solidFill>
                <a:schemeClr val="tx1"/>
              </a:solidFill>
              <a:latin typeface="Noto Sans TC" panose="020B0200000000000000" pitchFamily="34" charset="-120"/>
              <a:ea typeface="Noto Sans TC" panose="020B0200000000000000" pitchFamily="34" charset="-120"/>
            </a:endParaRPr>
          </a:p>
        </p:txBody>
      </p:sp>
      <p:sp>
        <p:nvSpPr>
          <p:cNvPr id="111" name="矩形: 圓角 110">
            <a:extLst>
              <a:ext uri="{FF2B5EF4-FFF2-40B4-BE49-F238E27FC236}">
                <a16:creationId xmlns:a16="http://schemas.microsoft.com/office/drawing/2014/main" id="{21026D74-AED2-42BE-0B63-154E465D8CDC}"/>
              </a:ext>
            </a:extLst>
          </p:cNvPr>
          <p:cNvSpPr/>
          <p:nvPr/>
        </p:nvSpPr>
        <p:spPr>
          <a:xfrm>
            <a:off x="1841344" y="5297686"/>
            <a:ext cx="913390" cy="411358"/>
          </a:xfrm>
          <a:prstGeom prst="roundRect">
            <a:avLst/>
          </a:prstGeom>
          <a:solidFill>
            <a:schemeClr val="bg1">
              <a:lumMod val="85000"/>
            </a:schemeClr>
          </a:solidFill>
          <a:ln w="381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回歸</a:t>
            </a:r>
          </a:p>
        </p:txBody>
      </p:sp>
      <p:sp>
        <p:nvSpPr>
          <p:cNvPr id="112" name="矩形: 圓角 111">
            <a:extLst>
              <a:ext uri="{FF2B5EF4-FFF2-40B4-BE49-F238E27FC236}">
                <a16:creationId xmlns:a16="http://schemas.microsoft.com/office/drawing/2014/main" id="{1556E206-03BC-03E3-6087-6694F41E44B8}"/>
              </a:ext>
            </a:extLst>
          </p:cNvPr>
          <p:cNvSpPr/>
          <p:nvPr/>
        </p:nvSpPr>
        <p:spPr>
          <a:xfrm>
            <a:off x="1849170" y="5773058"/>
            <a:ext cx="913390" cy="411358"/>
          </a:xfrm>
          <a:prstGeom prst="roundRect">
            <a:avLst/>
          </a:prstGeom>
          <a:solidFill>
            <a:schemeClr val="bg1">
              <a:lumMod val="85000"/>
            </a:schemeClr>
          </a:solidFill>
          <a:ln w="381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不回歸</a:t>
            </a:r>
          </a:p>
        </p:txBody>
      </p:sp>
      <p:sp>
        <p:nvSpPr>
          <p:cNvPr id="113" name="矩形: 圓角 112">
            <a:extLst>
              <a:ext uri="{FF2B5EF4-FFF2-40B4-BE49-F238E27FC236}">
                <a16:creationId xmlns:a16="http://schemas.microsoft.com/office/drawing/2014/main" id="{49DA6C1E-B6DC-8DCE-9554-72788DA8B91B}"/>
              </a:ext>
            </a:extLst>
          </p:cNvPr>
          <p:cNvSpPr/>
          <p:nvPr/>
        </p:nvSpPr>
        <p:spPr>
          <a:xfrm>
            <a:off x="199180" y="4834995"/>
            <a:ext cx="1272711" cy="1521355"/>
          </a:xfrm>
          <a:prstGeom prst="roundRect">
            <a:avLst/>
          </a:prstGeom>
          <a:noFill/>
          <a:ln w="38100">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第二階段</a:t>
            </a: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en-US" altLang="zh-TW" dirty="0">
              <a:solidFill>
                <a:schemeClr val="tx1"/>
              </a:solidFill>
              <a:latin typeface="Noto Sans TC" panose="020B0200000000000000" pitchFamily="34" charset="-120"/>
              <a:ea typeface="Noto Sans TC" panose="020B0200000000000000" pitchFamily="34" charset="-120"/>
            </a:endParaRPr>
          </a:p>
          <a:p>
            <a:pPr algn="ctr"/>
            <a:endParaRPr lang="zh-TW" altLang="en-US" dirty="0">
              <a:solidFill>
                <a:schemeClr val="tx1"/>
              </a:solidFill>
              <a:latin typeface="Noto Sans TC" panose="020B0200000000000000" pitchFamily="34" charset="-120"/>
              <a:ea typeface="Noto Sans TC" panose="020B0200000000000000" pitchFamily="34" charset="-120"/>
            </a:endParaRPr>
          </a:p>
        </p:txBody>
      </p:sp>
      <p:sp>
        <p:nvSpPr>
          <p:cNvPr id="114" name="矩形: 圓角 113">
            <a:extLst>
              <a:ext uri="{FF2B5EF4-FFF2-40B4-BE49-F238E27FC236}">
                <a16:creationId xmlns:a16="http://schemas.microsoft.com/office/drawing/2014/main" id="{614C150F-D374-9BA4-455B-E2431DE3C25F}"/>
              </a:ext>
            </a:extLst>
          </p:cNvPr>
          <p:cNvSpPr/>
          <p:nvPr/>
        </p:nvSpPr>
        <p:spPr>
          <a:xfrm>
            <a:off x="264832" y="5304027"/>
            <a:ext cx="1141408" cy="411358"/>
          </a:xfrm>
          <a:prstGeom prst="roundRect">
            <a:avLst/>
          </a:prstGeom>
          <a:solidFill>
            <a:schemeClr val="bg1">
              <a:lumMod val="85000"/>
            </a:schemeClr>
          </a:solidFill>
          <a:ln w="381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直接回歸</a:t>
            </a:r>
          </a:p>
        </p:txBody>
      </p:sp>
      <p:sp>
        <p:nvSpPr>
          <p:cNvPr id="115" name="矩形: 圓角 114">
            <a:extLst>
              <a:ext uri="{FF2B5EF4-FFF2-40B4-BE49-F238E27FC236}">
                <a16:creationId xmlns:a16="http://schemas.microsoft.com/office/drawing/2014/main" id="{B8A991A4-0660-72DE-59D6-EBB99D94A0E4}"/>
              </a:ext>
            </a:extLst>
          </p:cNvPr>
          <p:cNvSpPr/>
          <p:nvPr/>
        </p:nvSpPr>
        <p:spPr>
          <a:xfrm>
            <a:off x="264832" y="5776185"/>
            <a:ext cx="1141681" cy="411358"/>
          </a:xfrm>
          <a:prstGeom prst="roundRect">
            <a:avLst/>
          </a:prstGeom>
          <a:solidFill>
            <a:schemeClr val="bg1">
              <a:lumMod val="85000"/>
            </a:schemeClr>
          </a:solidFill>
          <a:ln w="381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Noto Sans TC" panose="020B0200000000000000" pitchFamily="34" charset="-120"/>
                <a:ea typeface="Noto Sans TC" panose="020B0200000000000000" pitchFamily="34" charset="-120"/>
              </a:rPr>
              <a:t>延遲回歸</a:t>
            </a:r>
          </a:p>
        </p:txBody>
      </p:sp>
      <p:cxnSp>
        <p:nvCxnSpPr>
          <p:cNvPr id="116" name="接點: 肘形 115">
            <a:extLst>
              <a:ext uri="{FF2B5EF4-FFF2-40B4-BE49-F238E27FC236}">
                <a16:creationId xmlns:a16="http://schemas.microsoft.com/office/drawing/2014/main" id="{1F2138B7-A4EE-FD5D-817B-987E249FD98D}"/>
              </a:ext>
            </a:extLst>
          </p:cNvPr>
          <p:cNvCxnSpPr>
            <a:cxnSpLocks/>
            <a:stCxn id="77" idx="1"/>
            <a:endCxn id="111" idx="3"/>
          </p:cNvCxnSpPr>
          <p:nvPr/>
        </p:nvCxnSpPr>
        <p:spPr>
          <a:xfrm rot="10800000" flipV="1">
            <a:off x="2754734" y="5439351"/>
            <a:ext cx="615844" cy="64014"/>
          </a:xfrm>
          <a:prstGeom prst="bentConnector3">
            <a:avLst>
              <a:gd name="adj1" fmla="val 27405"/>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接點: 肘形 119">
            <a:extLst>
              <a:ext uri="{FF2B5EF4-FFF2-40B4-BE49-F238E27FC236}">
                <a16:creationId xmlns:a16="http://schemas.microsoft.com/office/drawing/2014/main" id="{19289372-E819-792E-1F79-6E513AE18CE7}"/>
              </a:ext>
            </a:extLst>
          </p:cNvPr>
          <p:cNvCxnSpPr>
            <a:cxnSpLocks/>
            <a:stCxn id="77" idx="1"/>
            <a:endCxn id="112" idx="3"/>
          </p:cNvCxnSpPr>
          <p:nvPr/>
        </p:nvCxnSpPr>
        <p:spPr>
          <a:xfrm rot="10800000" flipV="1">
            <a:off x="2762560" y="5439351"/>
            <a:ext cx="608018" cy="539386"/>
          </a:xfrm>
          <a:prstGeom prst="bentConnector3">
            <a:avLst>
              <a:gd name="adj1" fmla="val 28749"/>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接點: 肘形 123">
            <a:extLst>
              <a:ext uri="{FF2B5EF4-FFF2-40B4-BE49-F238E27FC236}">
                <a16:creationId xmlns:a16="http://schemas.microsoft.com/office/drawing/2014/main" id="{69F77A47-2A2E-D7A0-FD98-E09B5F31AAEE}"/>
              </a:ext>
            </a:extLst>
          </p:cNvPr>
          <p:cNvCxnSpPr>
            <a:cxnSpLocks/>
            <a:stCxn id="111" idx="1"/>
            <a:endCxn id="115" idx="3"/>
          </p:cNvCxnSpPr>
          <p:nvPr/>
        </p:nvCxnSpPr>
        <p:spPr>
          <a:xfrm rot="10800000" flipV="1">
            <a:off x="1406514" y="5503364"/>
            <a:ext cx="434831" cy="478499"/>
          </a:xfrm>
          <a:prstGeom prst="bentConnector3">
            <a:avLst>
              <a:gd name="adj1" fmla="val 24857"/>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直線單箭頭接點 134">
            <a:extLst>
              <a:ext uri="{FF2B5EF4-FFF2-40B4-BE49-F238E27FC236}">
                <a16:creationId xmlns:a16="http://schemas.microsoft.com/office/drawing/2014/main" id="{D7DBA237-9F84-9065-19A6-2231EC20D41F}"/>
              </a:ext>
            </a:extLst>
          </p:cNvPr>
          <p:cNvCxnSpPr>
            <a:cxnSpLocks/>
            <a:stCxn id="111" idx="1"/>
            <a:endCxn id="114" idx="3"/>
          </p:cNvCxnSpPr>
          <p:nvPr/>
        </p:nvCxnSpPr>
        <p:spPr>
          <a:xfrm flipH="1">
            <a:off x="1406240" y="5503365"/>
            <a:ext cx="435104" cy="6341"/>
          </a:xfrm>
          <a:prstGeom prst="straightConnector1">
            <a:avLst/>
          </a:prstGeom>
          <a:ln w="38100">
            <a:solidFill>
              <a:srgbClr val="0C0C0C"/>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4032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5D435-8AC9-3187-4A45-9C7CB85F85B2}"/>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89D8C715-EE65-FCC3-B8CA-C8CE446896B3}"/>
              </a:ext>
            </a:extLst>
          </p:cNvPr>
          <p:cNvSpPr>
            <a:spLocks noGrp="1"/>
          </p:cNvSpPr>
          <p:nvPr>
            <p:ph type="sldNum" sz="quarter" idx="12"/>
          </p:nvPr>
        </p:nvSpPr>
        <p:spPr/>
        <p:txBody>
          <a:bodyPr/>
          <a:lstStyle/>
          <a:p>
            <a:fld id="{A6C4F607-EBAE-4F4B-BF62-778A00D92850}" type="slidenum">
              <a:rPr lang="en-US" altLang="zh-TW" smtClean="0"/>
              <a:pPr/>
              <a:t>14</a:t>
            </a:fld>
            <a:endParaRPr lang="en-US" dirty="0"/>
          </a:p>
        </p:txBody>
      </p:sp>
      <p:sp>
        <p:nvSpPr>
          <p:cNvPr id="4" name="文字版面配置區 3">
            <a:extLst>
              <a:ext uri="{FF2B5EF4-FFF2-40B4-BE49-F238E27FC236}">
                <a16:creationId xmlns:a16="http://schemas.microsoft.com/office/drawing/2014/main" id="{534E02E2-40DD-A974-38D9-D847DB51A28A}"/>
              </a:ext>
            </a:extLst>
          </p:cNvPr>
          <p:cNvSpPr>
            <a:spLocks noGrp="1"/>
          </p:cNvSpPr>
          <p:nvPr>
            <p:ph type="body" sz="quarter" idx="13"/>
          </p:nvPr>
        </p:nvSpPr>
        <p:spPr/>
        <p:txBody>
          <a:bodyPr>
            <a:normAutofit/>
          </a:bodyPr>
          <a:lstStyle/>
          <a:p>
            <a:r>
              <a:rPr lang="en-US" altLang="zh-TW" dirty="0"/>
              <a:t>04</a:t>
            </a:r>
            <a:endParaRPr lang="zh-TW" altLang="en-US" dirty="0"/>
          </a:p>
        </p:txBody>
      </p:sp>
      <p:sp>
        <p:nvSpPr>
          <p:cNvPr id="5" name="內容版面配置區 4">
            <a:extLst>
              <a:ext uri="{FF2B5EF4-FFF2-40B4-BE49-F238E27FC236}">
                <a16:creationId xmlns:a16="http://schemas.microsoft.com/office/drawing/2014/main" id="{5BD2B93D-43B9-9609-4A44-2257884F396D}"/>
              </a:ext>
            </a:extLst>
          </p:cNvPr>
          <p:cNvSpPr>
            <a:spLocks noGrp="1"/>
          </p:cNvSpPr>
          <p:nvPr>
            <p:ph sz="quarter" idx="14"/>
          </p:nvPr>
        </p:nvSpPr>
        <p:spPr>
          <a:xfrm>
            <a:off x="1443358" y="460690"/>
            <a:ext cx="9910442" cy="911886"/>
          </a:xfrm>
        </p:spPr>
        <p:txBody>
          <a:bodyPr>
            <a:normAutofit fontScale="92500" lnSpcReduction="10000"/>
          </a:bodyPr>
          <a:lstStyle/>
          <a:p>
            <a:r>
              <a:rPr lang="zh-TW" altLang="en-US" dirty="0"/>
              <a:t>基於 </a:t>
            </a:r>
            <a:r>
              <a:rPr lang="en-US" altLang="zh-TW" dirty="0" err="1"/>
              <a:t>nnU</a:t>
            </a:r>
            <a:r>
              <a:rPr lang="en-US" altLang="zh-TW" dirty="0"/>
              <a:t>-Net </a:t>
            </a:r>
            <a:r>
              <a:rPr lang="zh-TW" altLang="en-US" dirty="0"/>
              <a:t>與 </a:t>
            </a:r>
            <a:r>
              <a:rPr lang="en-US" altLang="zh-TW" dirty="0"/>
              <a:t>MRI</a:t>
            </a:r>
            <a:r>
              <a:rPr lang="zh-TW" altLang="en-US" dirty="0"/>
              <a:t> 放射組學之聽神經瘤立體定位放射手術後</a:t>
            </a:r>
            <a:endParaRPr lang="en-US" altLang="zh-TW" dirty="0"/>
          </a:p>
          <a:p>
            <a:r>
              <a:rPr lang="zh-TW" altLang="en-US" dirty="0"/>
              <a:t>長期治療反應預測</a:t>
            </a:r>
          </a:p>
        </p:txBody>
      </p:sp>
      <p:sp>
        <p:nvSpPr>
          <p:cNvPr id="2" name="內容版面配置區 1">
            <a:extLst>
              <a:ext uri="{FF2B5EF4-FFF2-40B4-BE49-F238E27FC236}">
                <a16:creationId xmlns:a16="http://schemas.microsoft.com/office/drawing/2014/main" id="{B2DF648E-7A14-551E-4A9A-7537027394D8}"/>
              </a:ext>
            </a:extLst>
          </p:cNvPr>
          <p:cNvSpPr>
            <a:spLocks noGrp="1"/>
          </p:cNvSpPr>
          <p:nvPr>
            <p:ph idx="1"/>
          </p:nvPr>
        </p:nvSpPr>
        <p:spPr>
          <a:xfrm>
            <a:off x="838200" y="1551963"/>
            <a:ext cx="10515600" cy="4625000"/>
          </a:xfrm>
        </p:spPr>
        <p:txBody>
          <a:bodyPr>
            <a:normAutofit/>
          </a:bodyPr>
          <a:lstStyle/>
          <a:p>
            <a:r>
              <a:rPr lang="zh-TW" altLang="en-US" dirty="0"/>
              <a:t>基於 </a:t>
            </a:r>
            <a:r>
              <a:rPr lang="en-US" altLang="zh-TW" dirty="0"/>
              <a:t>nnU-Net </a:t>
            </a:r>
            <a:r>
              <a:rPr lang="zh-TW" altLang="en-US" dirty="0"/>
              <a:t>的聽神經瘤自動化分割流程，再多來源 </a:t>
            </a:r>
            <a:r>
              <a:rPr lang="en-US" altLang="zh-TW" dirty="0"/>
              <a:t>TIC </a:t>
            </a:r>
            <a:r>
              <a:rPr lang="zh-TW" altLang="en-US" dirty="0"/>
              <a:t>影像上皆能維持高準確度，具良好穩定性及臨床可用性。</a:t>
            </a:r>
            <a:endParaRPr lang="en-US" altLang="zh-TW" dirty="0"/>
          </a:p>
          <a:p>
            <a:pPr lvl="1"/>
            <a:r>
              <a:rPr lang="zh-TW" altLang="en-US" dirty="0"/>
              <a:t>第一階段 是否對治療有反應：</a:t>
            </a:r>
            <a:br>
              <a:rPr lang="zh-TW" altLang="en-US" dirty="0"/>
            </a:br>
            <a:r>
              <a:rPr lang="en-US" altLang="zh-TW" dirty="0"/>
              <a:t>Accuracy</a:t>
            </a:r>
            <a:r>
              <a:rPr lang="zh-TW" altLang="en-US" dirty="0"/>
              <a:t>：</a:t>
            </a:r>
            <a:r>
              <a:rPr lang="en-US" altLang="zh-TW" dirty="0"/>
              <a:t>82.58 ± 5.40%</a:t>
            </a:r>
            <a:r>
              <a:rPr lang="zh-TW" altLang="en-US" dirty="0"/>
              <a:t>、</a:t>
            </a:r>
            <a:r>
              <a:rPr lang="en-US" altLang="zh-TW" dirty="0"/>
              <a:t>Precision</a:t>
            </a:r>
            <a:r>
              <a:rPr lang="zh-TW" altLang="en-US" dirty="0"/>
              <a:t>：</a:t>
            </a:r>
            <a:r>
              <a:rPr lang="en-US" altLang="zh-TW" dirty="0"/>
              <a:t>83.37 ± 5.36%</a:t>
            </a:r>
            <a:r>
              <a:rPr lang="zh-TW" altLang="en-US" dirty="0"/>
              <a:t>、</a:t>
            </a:r>
            <a:r>
              <a:rPr lang="en-US" altLang="zh-TW" dirty="0"/>
              <a:t>Recall</a:t>
            </a:r>
            <a:r>
              <a:rPr lang="zh-TW" altLang="en-US" dirty="0"/>
              <a:t>：</a:t>
            </a:r>
            <a:r>
              <a:rPr lang="en-US" altLang="zh-TW" dirty="0"/>
              <a:t>82.58 ± 5.40%</a:t>
            </a:r>
            <a:r>
              <a:rPr lang="zh-TW" altLang="en-US" dirty="0"/>
              <a:t>、</a:t>
            </a:r>
            <a:br>
              <a:rPr lang="en-US" altLang="zh-TW" dirty="0"/>
            </a:br>
            <a:r>
              <a:rPr lang="en-US" altLang="zh-TW" dirty="0"/>
              <a:t>F1-score</a:t>
            </a:r>
            <a:r>
              <a:rPr lang="zh-TW" altLang="en-US" dirty="0"/>
              <a:t>：</a:t>
            </a:r>
            <a:r>
              <a:rPr lang="en-US" altLang="zh-TW" dirty="0"/>
              <a:t>82.34 ± 4.33%</a:t>
            </a:r>
            <a:r>
              <a:rPr lang="zh-TW" altLang="en-US" dirty="0"/>
              <a:t>、</a:t>
            </a:r>
            <a:r>
              <a:rPr lang="en-US" altLang="zh-TW" dirty="0"/>
              <a:t>AUC</a:t>
            </a:r>
            <a:r>
              <a:rPr lang="zh-TW" altLang="en-US" dirty="0"/>
              <a:t>：</a:t>
            </a:r>
            <a:r>
              <a:rPr lang="en-US" altLang="zh-TW" dirty="0"/>
              <a:t>71.43 ± 7.74%</a:t>
            </a:r>
          </a:p>
          <a:p>
            <a:pPr lvl="1"/>
            <a:r>
              <a:rPr lang="zh-TW" altLang="en-US" dirty="0"/>
              <a:t>第二階段 偽進展 </a:t>
            </a:r>
            <a:r>
              <a:rPr lang="en-US" altLang="zh-TW" dirty="0"/>
              <a:t>vs </a:t>
            </a:r>
            <a:r>
              <a:rPr lang="zh-TW" altLang="en-US" dirty="0"/>
              <a:t>真實縮小：</a:t>
            </a:r>
            <a:br>
              <a:rPr lang="zh-TW" altLang="en-US" dirty="0"/>
            </a:br>
            <a:r>
              <a:rPr lang="en-US" altLang="zh-TW" dirty="0"/>
              <a:t>Accuracy</a:t>
            </a:r>
            <a:r>
              <a:rPr lang="zh-TW" altLang="en-US" dirty="0"/>
              <a:t>：</a:t>
            </a:r>
            <a:r>
              <a:rPr lang="en-US" altLang="zh-TW" dirty="0"/>
              <a:t>63.31 ± 9.90%</a:t>
            </a:r>
            <a:r>
              <a:rPr lang="zh-TW" altLang="en-US" dirty="0"/>
              <a:t>、</a:t>
            </a:r>
            <a:r>
              <a:rPr lang="en-US" altLang="zh-TW" dirty="0"/>
              <a:t>Precision</a:t>
            </a:r>
            <a:r>
              <a:rPr lang="zh-TW" altLang="en-US" dirty="0"/>
              <a:t>：</a:t>
            </a:r>
            <a:r>
              <a:rPr lang="en-US" altLang="zh-TW" dirty="0"/>
              <a:t>64.52 ± 9.57%</a:t>
            </a:r>
            <a:r>
              <a:rPr lang="zh-TW" altLang="en-US" dirty="0"/>
              <a:t>、</a:t>
            </a:r>
            <a:r>
              <a:rPr lang="en-US" altLang="zh-TW" dirty="0"/>
              <a:t>Recall</a:t>
            </a:r>
            <a:r>
              <a:rPr lang="zh-TW" altLang="en-US" dirty="0"/>
              <a:t>：</a:t>
            </a:r>
            <a:r>
              <a:rPr lang="en-US" altLang="zh-TW" dirty="0"/>
              <a:t>63.31 ± 9.90%</a:t>
            </a:r>
            <a:r>
              <a:rPr lang="zh-TW" altLang="en-US" dirty="0"/>
              <a:t>、</a:t>
            </a:r>
            <a:br>
              <a:rPr lang="en-US" altLang="zh-TW" dirty="0"/>
            </a:br>
            <a:r>
              <a:rPr lang="en-US" altLang="zh-TW" dirty="0"/>
              <a:t>F1-score</a:t>
            </a:r>
            <a:r>
              <a:rPr lang="zh-TW" altLang="en-US" dirty="0"/>
              <a:t>：</a:t>
            </a:r>
            <a:r>
              <a:rPr lang="en-US" altLang="zh-TW" dirty="0"/>
              <a:t>63.31 ± 9.90%</a:t>
            </a:r>
            <a:r>
              <a:rPr lang="zh-TW" altLang="en-US" dirty="0"/>
              <a:t>、</a:t>
            </a:r>
            <a:r>
              <a:rPr lang="en-US" altLang="zh-TW" dirty="0"/>
              <a:t>AUC</a:t>
            </a:r>
            <a:r>
              <a:rPr lang="zh-TW" altLang="en-US" dirty="0"/>
              <a:t>：</a:t>
            </a:r>
            <a:r>
              <a:rPr lang="en-US" altLang="zh-TW" dirty="0"/>
              <a:t>68.17 ± 12.48%</a:t>
            </a:r>
          </a:p>
          <a:p>
            <a:pPr marL="0" indent="0">
              <a:buNone/>
            </a:pPr>
            <a:endParaRPr lang="en-US" altLang="zh-TW" dirty="0"/>
          </a:p>
          <a:p>
            <a:r>
              <a:rPr lang="zh-TW" altLang="en-US" dirty="0"/>
              <a:t>重要特徵多來自影像紋理與強度變化，小波轉換特徵佔多數，平均放射治療劑量亦為重要預測特徵之一。</a:t>
            </a:r>
            <a:endParaRPr lang="en-US" altLang="zh-TW" dirty="0"/>
          </a:p>
          <a:p>
            <a:pPr marL="0" indent="0">
              <a:buNone/>
            </a:pPr>
            <a:endParaRPr lang="en-US" altLang="zh-TW" dirty="0"/>
          </a:p>
          <a:p>
            <a:pPr marL="0" indent="0">
              <a:buNone/>
            </a:pPr>
            <a:endParaRPr lang="en-US" altLang="zh-TW" dirty="0"/>
          </a:p>
          <a:p>
            <a:endParaRPr lang="en-US" altLang="zh-TW" dirty="0"/>
          </a:p>
        </p:txBody>
      </p:sp>
    </p:spTree>
    <p:extLst>
      <p:ext uri="{BB962C8B-B14F-4D97-AF65-F5344CB8AC3E}">
        <p14:creationId xmlns:p14="http://schemas.microsoft.com/office/powerpoint/2010/main" val="3808181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图文框 6"/>
          <p:cNvSpPr/>
          <p:nvPr/>
        </p:nvSpPr>
        <p:spPr>
          <a:xfrm>
            <a:off x="3768011" y="1181869"/>
            <a:ext cx="4650475" cy="4650475"/>
          </a:xfrm>
          <a:prstGeom prst="frame">
            <a:avLst>
              <a:gd name="adj1" fmla="val 240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5" name="图片 4"/>
          <p:cNvPicPr>
            <a:picLocks noChangeAspect="1"/>
          </p:cNvPicPr>
          <p:nvPr/>
        </p:nvPicPr>
        <p:blipFill rotWithShape="1">
          <a:blip r:embed="rId3" cstate="print">
            <a:extLst>
              <a:ext uri="{28A0092B-C50C-407E-A947-70E740481C1C}">
                <a14:useLocalDpi xmlns:a14="http://schemas.microsoft.com/office/drawing/2010/main" val="0"/>
              </a:ext>
            </a:extLst>
          </a:blip>
          <a:srcRect l="28398"/>
          <a:stretch>
            <a:fillRect/>
          </a:stretch>
        </p:blipFill>
        <p:spPr>
          <a:xfrm rot="5400000">
            <a:off x="1624347" y="-1129249"/>
            <a:ext cx="6791780" cy="8494029"/>
          </a:xfrm>
          <a:prstGeom prst="rect">
            <a:avLst/>
          </a:prstGeom>
        </p:spPr>
      </p:pic>
      <p:sp>
        <p:nvSpPr>
          <p:cNvPr id="9" name="文本框 8"/>
          <p:cNvSpPr txBox="1"/>
          <p:nvPr/>
        </p:nvSpPr>
        <p:spPr>
          <a:xfrm>
            <a:off x="3914356" y="2613313"/>
            <a:ext cx="4357784" cy="1569660"/>
          </a:xfrm>
          <a:prstGeom prst="rect">
            <a:avLst/>
          </a:prstGeom>
          <a:noFill/>
        </p:spPr>
        <p:txBody>
          <a:bodyPr wrap="square" rtlCol="0">
            <a:spAutoFit/>
          </a:bodyPr>
          <a:lstStyle/>
          <a:p>
            <a:pPr algn="ctr"/>
            <a:r>
              <a:rPr lang="en-US" altLang="zh-TW" sz="9600">
                <a:latin typeface="Impact" panose="020B0806030902050204" pitchFamily="34" charset="0"/>
              </a:rPr>
              <a:t>THANKS</a:t>
            </a:r>
            <a:endParaRPr lang="zh-CN" altLang="en-US" sz="9600" dirty="0">
              <a:latin typeface="Impact" panose="020B0806030902050204" pitchFamily="34" charset="0"/>
            </a:endParaRPr>
          </a:p>
        </p:txBody>
      </p: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8804069">
            <a:off x="9232802" y="4104149"/>
            <a:ext cx="1950088" cy="1899828"/>
          </a:xfrm>
          <a:prstGeom prst="rect">
            <a:avLst/>
          </a:prstGeom>
        </p:spPr>
      </p:pic>
      <p:pic>
        <p:nvPicPr>
          <p:cNvPr id="4" name="图片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0901041">
            <a:off x="7530864" y="3142331"/>
            <a:ext cx="3123449" cy="2771127"/>
          </a:xfrm>
          <a:prstGeom prst="rect">
            <a:avLst/>
          </a:prstGeom>
        </p:spPr>
      </p:pic>
      <p:sp>
        <p:nvSpPr>
          <p:cNvPr id="11" name="文本框 10"/>
          <p:cNvSpPr txBox="1"/>
          <p:nvPr/>
        </p:nvSpPr>
        <p:spPr>
          <a:xfrm>
            <a:off x="5237916" y="4020237"/>
            <a:ext cx="1716168" cy="460375"/>
          </a:xfrm>
          <a:prstGeom prst="rect">
            <a:avLst/>
          </a:prstGeom>
          <a:noFill/>
        </p:spPr>
        <p:txBody>
          <a:bodyPr wrap="square" rtlCol="0">
            <a:spAutoFit/>
          </a:bodyPr>
          <a:lstStyle/>
          <a:p>
            <a:pPr algn="dist"/>
            <a:endParaRPr lang="zh-CN" altLang="en-US" sz="2400" dirty="0">
              <a:latin typeface="Impact" panose="020B0806030902050204" pitchFamily="34" charset="0"/>
              <a:ea typeface="方正兰亭粗黑简体" panose="02000000000000000000" pitchFamily="2" charset="-122"/>
            </a:endParaRPr>
          </a:p>
        </p:txBody>
      </p:sp>
      <p:sp>
        <p:nvSpPr>
          <p:cNvPr id="8" name="矩形 7"/>
          <p:cNvSpPr>
            <a:spLocks noChangeArrowheads="1"/>
          </p:cNvSpPr>
          <p:nvPr/>
        </p:nvSpPr>
        <p:spPr bwMode="auto">
          <a:xfrm>
            <a:off x="4494752" y="4972973"/>
            <a:ext cx="309880" cy="373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000">
                <a:solidFill>
                  <a:schemeClr val="tx1"/>
                </a:solidFill>
                <a:latin typeface="Arial" panose="020B0604020202020204" pitchFamily="34" charset="0"/>
                <a:ea typeface="微软雅黑" panose="020B0503020204020204" charset="-122"/>
              </a:defRPr>
            </a:lvl1pPr>
            <a:lvl2pPr indent="-285750">
              <a:spcBef>
                <a:spcPct val="20000"/>
              </a:spcBef>
              <a:buChar char="–"/>
              <a:defRPr sz="2000">
                <a:solidFill>
                  <a:schemeClr val="tx1"/>
                </a:solidFill>
                <a:latin typeface="Arial" panose="020B0604020202020204" pitchFamily="34" charset="0"/>
                <a:ea typeface="仿宋_GB2312" panose="02010609030101010101" pitchFamily="1" charset="-122"/>
              </a:defRPr>
            </a:lvl2pPr>
            <a:lvl3pPr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方正正黑简体" panose="02000000000000000000" pitchFamily="2" charset="-122"/>
              <a:ea typeface="方正正黑简体" panose="02000000000000000000" pitchFamily="2" charset="-122"/>
            </a:endParaRPr>
          </a:p>
        </p:txBody>
      </p:sp>
      <p:sp>
        <p:nvSpPr>
          <p:cNvPr id="6" name="投影片編號版面配置區 5">
            <a:extLst>
              <a:ext uri="{FF2B5EF4-FFF2-40B4-BE49-F238E27FC236}">
                <a16:creationId xmlns:a16="http://schemas.microsoft.com/office/drawing/2014/main" id="{71E581CB-71FB-0E4B-1417-610DE1DB9292}"/>
              </a:ext>
            </a:extLst>
          </p:cNvPr>
          <p:cNvSpPr>
            <a:spLocks noGrp="1"/>
          </p:cNvSpPr>
          <p:nvPr>
            <p:ph type="sldNum" sz="quarter" idx="12"/>
          </p:nvPr>
        </p:nvSpPr>
        <p:spPr/>
        <p:txBody>
          <a:bodyPr/>
          <a:lstStyle/>
          <a:p>
            <a:fld id="{726FD8BB-E3C9-46DF-9B94-1AF8F33E9E37}" type="slidenum">
              <a:rPr lang="zh-CN" altLang="en-US" smtClean="0"/>
              <a:pPr/>
              <a:t>15</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22262</TotalTime>
  <Words>1060</Words>
  <Application>Microsoft Office PowerPoint</Application>
  <PresentationFormat>寬螢幕</PresentationFormat>
  <Paragraphs>212</Paragraphs>
  <Slides>16</Slides>
  <Notes>12</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16</vt:i4>
      </vt:variant>
    </vt:vector>
  </HeadingPairs>
  <TitlesOfParts>
    <vt:vector size="27" baseType="lpstr">
      <vt:lpstr>Noto Sans TC</vt:lpstr>
      <vt:lpstr>Yu Gothic UI Semibold</vt:lpstr>
      <vt:lpstr>方正兰亭粗黑简体</vt:lpstr>
      <vt:lpstr>方正正黑简体</vt:lpstr>
      <vt:lpstr>迷你简汉真广标</vt:lpstr>
      <vt:lpstr>造字工房悦黑体验版纤细体</vt:lpstr>
      <vt:lpstr>Arial</vt:lpstr>
      <vt:lpstr>Calibri</vt:lpstr>
      <vt:lpstr>Calibri Light</vt:lpstr>
      <vt:lpstr>Impact</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彥均 賴</dc:creator>
  <cp:lastModifiedBy>user</cp:lastModifiedBy>
  <cp:revision>764</cp:revision>
  <dcterms:created xsi:type="dcterms:W3CDTF">2022-05-28T08:29:41Z</dcterms:created>
  <dcterms:modified xsi:type="dcterms:W3CDTF">2026-09-22T11:46:22Z</dcterms:modified>
</cp:coreProperties>
</file>